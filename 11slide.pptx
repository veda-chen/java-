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handoutMasterIdLst>
    <p:handoutMasterId r:id="rId62"/>
  </p:handoutMasterIdLst>
  <p:sldIdLst>
    <p:sldId id="514" r:id="rId3"/>
    <p:sldId id="595" r:id="rId4"/>
    <p:sldId id="555" r:id="rId5"/>
    <p:sldId id="515" r:id="rId6"/>
    <p:sldId id="594" r:id="rId7"/>
    <p:sldId id="556" r:id="rId8"/>
    <p:sldId id="589" r:id="rId9"/>
    <p:sldId id="519" r:id="rId10"/>
    <p:sldId id="521" r:id="rId11"/>
    <p:sldId id="570" r:id="rId12"/>
    <p:sldId id="592" r:id="rId13"/>
    <p:sldId id="582" r:id="rId14"/>
    <p:sldId id="583" r:id="rId15"/>
    <p:sldId id="584" r:id="rId16"/>
    <p:sldId id="585" r:id="rId17"/>
    <p:sldId id="586" r:id="rId18"/>
    <p:sldId id="587" r:id="rId19"/>
    <p:sldId id="588" r:id="rId20"/>
    <p:sldId id="523" r:id="rId21"/>
    <p:sldId id="516" r:id="rId22"/>
    <p:sldId id="524" r:id="rId23"/>
    <p:sldId id="590" r:id="rId24"/>
    <p:sldId id="525" r:id="rId25"/>
    <p:sldId id="526" r:id="rId26"/>
    <p:sldId id="527" r:id="rId27"/>
    <p:sldId id="569" r:id="rId28"/>
    <p:sldId id="562" r:id="rId29"/>
    <p:sldId id="597" r:id="rId30"/>
    <p:sldId id="532" r:id="rId32"/>
    <p:sldId id="535" r:id="rId33"/>
    <p:sldId id="560" r:id="rId34"/>
    <p:sldId id="557" r:id="rId35"/>
    <p:sldId id="538" r:id="rId36"/>
    <p:sldId id="558" r:id="rId37"/>
    <p:sldId id="539" r:id="rId38"/>
    <p:sldId id="540" r:id="rId39"/>
    <p:sldId id="559" r:id="rId40"/>
    <p:sldId id="541" r:id="rId41"/>
    <p:sldId id="528" r:id="rId42"/>
    <p:sldId id="529" r:id="rId43"/>
    <p:sldId id="551" r:id="rId44"/>
    <p:sldId id="567" r:id="rId45"/>
    <p:sldId id="593" r:id="rId46"/>
    <p:sldId id="598" r:id="rId47"/>
    <p:sldId id="600" r:id="rId48"/>
    <p:sldId id="599" r:id="rId49"/>
    <p:sldId id="596" r:id="rId50"/>
    <p:sldId id="566" r:id="rId51"/>
    <p:sldId id="563" r:id="rId52"/>
    <p:sldId id="543" r:id="rId53"/>
    <p:sldId id="544" r:id="rId54"/>
    <p:sldId id="545" r:id="rId55"/>
    <p:sldId id="546" r:id="rId56"/>
    <p:sldId id="601" r:id="rId57"/>
    <p:sldId id="602" r:id="rId58"/>
    <p:sldId id="603" r:id="rId59"/>
    <p:sldId id="604" r:id="rId60"/>
    <p:sldId id="605" r:id="rId61"/>
  </p:sldIdLst>
  <p:sldSz cx="12192000" cy="6858000"/>
  <p:notesSz cx="6858000" cy="9144000"/>
  <p:custDataLst>
    <p:tags r:id="rId66"/>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576" userDrawn="1">
          <p15:clr>
            <a:srgbClr val="A4A3A4"/>
          </p15:clr>
        </p15:guide>
        <p15:guide id="2" pos="7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905"/>
    <p:restoredTop sz="94618"/>
  </p:normalViewPr>
  <p:slideViewPr>
    <p:cSldViewPr showGuides="1">
      <p:cViewPr varScale="1">
        <p:scale>
          <a:sx n="65" d="100"/>
          <a:sy n="65" d="100"/>
        </p:scale>
        <p:origin x="-1142" y="-67"/>
      </p:cViewPr>
      <p:guideLst>
        <p:guide orient="horz" pos="576"/>
        <p:guide pos="76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355"/>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6" Type="http://schemas.openxmlformats.org/officeDocument/2006/relationships/tags" Target="tags/tag1.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handoutMaster" Target="handoutMasters/handoutMaster1.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notesMaster" Target="notesMasters/notesMaster1.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19050" tIns="0" rIns="19050" bIns="0" numCol="1" anchor="t" anchorCtr="0" compatLnSpc="1"/>
          <a:lstStyle>
            <a:lvl1pPr>
              <a:defRPr sz="1000" i="1"/>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0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19050" tIns="0" rIns="19050" bIns="0" numCol="1" anchor="t" anchorCtr="0" compatLnSpc="1"/>
          <a:lstStyle>
            <a:lvl1pPr algn="r">
              <a:defRPr sz="1000" i="1"/>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0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2468" name="Rectangle 4"/>
          <p:cNvSpPr>
            <a:spLocks noTextEdit="1"/>
          </p:cNvSpPr>
          <p:nvPr>
            <p:ph type="sldImg" idx="2"/>
          </p:nvPr>
        </p:nvSpPr>
        <p:spPr>
          <a:xfrm>
            <a:off x="392289" y="692150"/>
            <a:ext cx="6073422" cy="3416300"/>
          </a:xfrm>
          <a:prstGeom prst="rect">
            <a:avLst/>
          </a:prstGeom>
          <a:noFill/>
          <a:ln w="12700" cap="flat" cmpd="sng">
            <a:solidFill>
              <a:schemeClr val="tx1"/>
            </a:solidFill>
            <a:prstDash val="solid"/>
            <a:miter/>
            <a:headEnd type="none" w="med" len="med"/>
            <a:tailEnd type="none" w="med" len="me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2075" tIns="46038" rIns="92075" bIns="46038"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endParaRP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19050" tIns="0" rIns="19050" bIns="0" numCol="1" anchor="b" anchorCtr="0" compatLnSpc="1"/>
          <a:lstStyle>
            <a:lvl1pPr>
              <a:defRPr sz="1000" i="1"/>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000" b="0" i="1"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19050" tIns="0" rIns="19050" bIns="0" numCol="1" anchor="b" anchorCtr="0" compatLnSpc="1"/>
          <a:p>
            <a:pPr lvl="0" algn="r">
              <a:buNone/>
            </a:pPr>
            <a:fld id="{9A0DB2DC-4C9A-4742-B13C-FB6460FD3503}" type="slidenum">
              <a:rPr lang="en-US" altLang="zh-CN" sz="1000" i="1" dirty="0">
                <a:ea typeface="宋体" panose="02010600030101010101" pitchFamily="2" charset="-122"/>
              </a:rPr>
            </a:fld>
            <a:endParaRPr lang="en-US" altLang="zh-CN" sz="1000" i="1"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ln/>
        </p:spPr>
        <p:txBody>
          <a:bodyPr wrap="square" lIns="92075" tIns="46038" rIns="92075" bIns="46038" anchor="t" anchorCtr="0"/>
          <a:p>
            <a:pPr lvl="0"/>
            <a:endParaRPr lang="en-US" altLang="en-US" dirty="0"/>
          </a:p>
        </p:txBody>
      </p:sp>
      <p:sp>
        <p:nvSpPr>
          <p:cNvPr id="63492" name="Slide Number Placeholder 3"/>
          <p:cNvSpPr txBox="1">
            <a:spLocks noGrp="1"/>
          </p:cNvSpPr>
          <p:nvPr>
            <p:ph type="sldNum" sz="quarter"/>
          </p:nvPr>
        </p:nvSpPr>
        <p:spPr>
          <a:xfrm>
            <a:off x="3886200" y="8686800"/>
            <a:ext cx="2971800" cy="457200"/>
          </a:xfrm>
          <a:prstGeom prst="rect">
            <a:avLst/>
          </a:prstGeom>
          <a:noFill/>
          <a:ln w="9525">
            <a:noFill/>
          </a:ln>
        </p:spPr>
        <p:txBody>
          <a:bodyPr lIns="19050" tIns="0" rIns="19050" bIns="0" anchor="b" anchorCtr="0"/>
          <a:p>
            <a:pPr lvl="0" algn="r"/>
            <a:fld id="{9A0DB2DC-4C9A-4742-B13C-FB6460FD3503}" type="slidenum">
              <a:rPr lang="en-US" altLang="en-US" sz="1000" i="1" dirty="0"/>
            </a:fld>
            <a:endParaRPr lang="en-US" altLang="en-US" sz="1000" i="1"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grpSp>
        <p:nvGrpSpPr>
          <p:cNvPr id="13314" name="Group 31"/>
          <p:cNvGrpSpPr/>
          <p:nvPr/>
        </p:nvGrpSpPr>
        <p:grpSpPr>
          <a:xfrm>
            <a:off x="0" y="114300"/>
            <a:ext cx="12189884" cy="6742113"/>
            <a:chOff x="0" y="72"/>
            <a:chExt cx="5759" cy="4247"/>
          </a:xfrm>
        </p:grpSpPr>
        <p:sp>
          <p:nvSpPr>
            <p:cNvPr id="36" name="Rectangle 2"/>
            <p:cNvSpPr>
              <a:spLocks noChangeArrowheads="1"/>
            </p:cNvSpPr>
            <p:nvPr/>
          </p:nvSpPr>
          <p:spPr bwMode="hidden">
            <a:xfrm>
              <a:off x="0" y="2112"/>
              <a:ext cx="5759" cy="2207"/>
            </a:xfrm>
            <a:prstGeom prst="rect">
              <a:avLst/>
            </a:prstGeom>
            <a:solidFill>
              <a:schemeClr val="bg1"/>
            </a:solidFill>
            <a:ln>
              <a:noFill/>
            </a:ln>
            <a:effectLst/>
          </p:spPr>
          <p:txBody>
            <a:bodyPr wrap="none" anchor="ctr"/>
            <a:p>
              <a:pPr lvl="0"/>
              <a:endParaRPr lang="en-US" altLang="en-US" dirty="0">
                <a:latin typeface="Times New Roman" panose="02020603050405020304" pitchFamily="18" charset="0"/>
              </a:endParaRPr>
            </a:p>
          </p:txBody>
        </p:sp>
        <p:grpSp>
          <p:nvGrpSpPr>
            <p:cNvPr id="13321" name="Group 30"/>
            <p:cNvGrpSpPr/>
            <p:nvPr/>
          </p:nvGrpSpPr>
          <p:grpSpPr>
            <a:xfrm>
              <a:off x="0" y="72"/>
              <a:ext cx="5759" cy="2040"/>
              <a:chOff x="0" y="72"/>
              <a:chExt cx="5759" cy="2040"/>
            </a:xfrm>
          </p:grpSpPr>
          <p:sp>
            <p:nvSpPr>
              <p:cNvPr id="38" name="Rectangle 3"/>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p:spPr>
            <p:txBody>
              <a:bodyPr wrap="none" anchor="ctr"/>
              <a:p>
                <a:pPr lvl="0"/>
                <a:endParaRPr lang="en-US" altLang="en-US" dirty="0">
                  <a:latin typeface="Times New Roman" panose="02020603050405020304" pitchFamily="18" charset="0"/>
                </a:endParaRPr>
              </a:p>
            </p:txBody>
          </p:sp>
          <p:grpSp>
            <p:nvGrpSpPr>
              <p:cNvPr id="13323" name="Group 9"/>
              <p:cNvGrpSpPr/>
              <p:nvPr/>
            </p:nvGrpSpPr>
            <p:grpSpPr>
              <a:xfrm>
                <a:off x="2289" y="72"/>
                <a:ext cx="1440" cy="1984"/>
                <a:chOff x="2289" y="72"/>
                <a:chExt cx="1440" cy="1984"/>
              </a:xfrm>
            </p:grpSpPr>
            <p:sp>
              <p:nvSpPr>
                <p:cNvPr id="60" name="Freeform 4"/>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1" name="Line 5"/>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2" name="Line 6"/>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3" name="Line 7"/>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4" name="Freeform 8"/>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grpSp>
          <p:sp>
            <p:nvSpPr>
              <p:cNvPr id="40" name="Oval 10"/>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p:spPr>
            <p:txBody>
              <a:bodyPr wrap="none" anchor="ctr"/>
              <a:p>
                <a:pPr lvl="0"/>
                <a:endParaRPr lang="en-US" altLang="en-US" dirty="0">
                  <a:latin typeface="Times New Roman" panose="02020603050405020304" pitchFamily="18" charset="0"/>
                </a:endParaRPr>
              </a:p>
            </p:txBody>
          </p:sp>
          <p:grpSp>
            <p:nvGrpSpPr>
              <p:cNvPr id="13325" name="Group 29"/>
              <p:cNvGrpSpPr/>
              <p:nvPr/>
            </p:nvGrpSpPr>
            <p:grpSpPr>
              <a:xfrm>
                <a:off x="2071" y="406"/>
                <a:ext cx="1392" cy="1109"/>
                <a:chOff x="2071" y="406"/>
                <a:chExt cx="1392" cy="1109"/>
              </a:xfrm>
            </p:grpSpPr>
            <p:sp>
              <p:nvSpPr>
                <p:cNvPr id="42" name="Freeform 11"/>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3" name="Freeform 12"/>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4" name="Freeform 13"/>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5" name="Freeform 14"/>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6" name="Freeform 15"/>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7" name="Freeform 16"/>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8" name="Freeform 17"/>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9" name="Freeform 18"/>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0" name="Freeform 19"/>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1" name="Freeform 20"/>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2" name="Freeform 21"/>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3" name="Freeform 22"/>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4" name="Freeform 23"/>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5" name="Freeform 24"/>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6" name="Freeform 25"/>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7" name="Freeform 26"/>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8" name="Freeform 27"/>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9" name="Freeform 28"/>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grpSp>
        </p:grpSp>
      </p:grpSp>
      <p:sp>
        <p:nvSpPr>
          <p:cNvPr id="3104" name="Rectangle 32"/>
          <p:cNvSpPr>
            <a:spLocks noGrp="1" noChangeArrowheads="1"/>
          </p:cNvSpPr>
          <p:nvPr>
            <p:ph type="ctrTitle" sz="quarter"/>
          </p:nvPr>
        </p:nvSpPr>
        <p:spPr>
          <a:xfrm>
            <a:off x="914400" y="3429000"/>
            <a:ext cx="10363200" cy="1143000"/>
          </a:xfrm>
        </p:spPr>
        <p:txBody>
          <a:bodyPr/>
          <a:lstStyle>
            <a:lvl1pPr>
              <a:defRPr/>
            </a:lvl1pPr>
          </a:lstStyle>
          <a:p>
            <a:pPr lvl="0"/>
            <a:r>
              <a:rPr lang="en-US" noProof="0" smtClean="0"/>
              <a:t>Click to edit Master title style</a:t>
            </a:r>
            <a:endParaRPr lang="en-US" noProof="0" smtClean="0"/>
          </a:p>
        </p:txBody>
      </p:sp>
      <p:sp>
        <p:nvSpPr>
          <p:cNvPr id="3105" name="Rectangle 33"/>
          <p:cNvSpPr>
            <a:spLocks noGrp="1" noChangeArrowheads="1"/>
          </p:cNvSpPr>
          <p:nvPr>
            <p:ph type="subTitle" sz="quarter" idx="1"/>
          </p:nvPr>
        </p:nvSpPr>
        <p:spPr>
          <a:xfrm>
            <a:off x="1828800" y="4648200"/>
            <a:ext cx="8534400" cy="1752600"/>
          </a:xfrm>
        </p:spPr>
        <p:txBody>
          <a:bodyPr anchor="ctr"/>
          <a:lstStyle>
            <a:lvl1pPr marL="0" indent="0" algn="ctr">
              <a:buFont typeface="Monotype Sorts" pitchFamily="2" charset="2"/>
              <a:buNone/>
              <a:defRPr/>
            </a:lvl1pPr>
          </a:lstStyle>
          <a:p>
            <a:pPr lvl="0"/>
            <a:r>
              <a:rPr lang="en-US" noProof="0" smtClean="0"/>
              <a:t>Click to edit Master subtitle style</a:t>
            </a:r>
            <a:endParaRPr lang="en-US" noProof="0" smtClean="0"/>
          </a:p>
        </p:txBody>
      </p:sp>
      <p:sp>
        <p:nvSpPr>
          <p:cNvPr id="65" name="Rectangle 34"/>
          <p:cNvSpPr>
            <a:spLocks noGrp="1" noChangeArrowheads="1"/>
          </p:cNvSpPr>
          <p:nvPr>
            <p:ph type="dt" sz="quarter" idx="2"/>
          </p:nvPr>
        </p:nvSpPr>
        <p:spPr bwMode="auto">
          <a:xfrm>
            <a:off x="914400" y="6400800"/>
            <a:ext cx="2540000" cy="457200"/>
          </a:xfrm>
          <a:prstGeom prst="rect">
            <a:avLst/>
          </a:prstGeom>
        </p:spPr>
        <p:txBody>
          <a:bodyPr vert="horz" wrap="none" lIns="92075" tIns="46038" rIns="92075" bIns="46038" numCol="1" anchor="ctr" anchorCtr="0" compatLnSpc="1"/>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6" name="Rectangle 35"/>
          <p:cNvSpPr>
            <a:spLocks noGrp="1" noChangeArrowheads="1"/>
          </p:cNvSpPr>
          <p:nvPr>
            <p:ph type="ftr" sz="quarter" idx="3"/>
          </p:nvPr>
        </p:nvSpPr>
        <p:spPr bwMode="auto">
          <a:xfrm>
            <a:off x="4165600" y="6400800"/>
            <a:ext cx="3860800" cy="457200"/>
          </a:xfrm>
          <a:prstGeom prst="rect">
            <a:avLst/>
          </a:prstGeom>
        </p:spPr>
        <p:txBody>
          <a:bodyPr vert="horz" wrap="none" lIns="92075" tIns="46038" rIns="92075" bIns="46038" numCol="1" anchor="ctr" anchorCtr="0" compatLnSpc="1"/>
          <a:lstStyle>
            <a:lvl1pPr algn="ctr">
              <a:defRPr sz="1400"/>
            </a:lvl1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Liang, Introduction to Java Programming, </a:t>
            </a:r>
            <a:r>
              <a:rPr kumimoji="0" 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mn-cs"/>
              </a:rPr>
              <a:t>Tenth </a:t>
            </a:r>
            <a:r>
              <a:rPr kumimoji="0" 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Edition, (c) 2013 Pearson Education, Inc. All rights reserved. </a:t>
            </a:r>
            <a:endParaRPr kumimoji="0" 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7" name="Rectangle 36"/>
          <p:cNvSpPr>
            <a:spLocks noGrp="1" noChangeArrowheads="1"/>
          </p:cNvSpPr>
          <p:nvPr>
            <p:ph type="sldNum" sz="quarter" idx="4"/>
          </p:nvPr>
        </p:nvSpPr>
        <p:spPr bwMode="auto">
          <a:xfrm>
            <a:off x="8737600" y="6400800"/>
            <a:ext cx="2540000" cy="457200"/>
          </a:xfrm>
          <a:prstGeom prst="rect">
            <a:avLst/>
          </a:prstGeom>
        </p:spPr>
        <p:txBody>
          <a:bodyPr vert="horz" wrap="none" lIns="92075" tIns="46038" rIns="92075" bIns="46038" numCol="1" anchor="ctr" anchorCtr="0" compatLnSpc="1"/>
          <a:p>
            <a:pPr algn="r">
              <a:buNone/>
            </a:pPr>
            <a:fld id="{9A0DB2DC-4C9A-4742-B13C-FB6460FD3503}" type="slidenum">
              <a:rPr lang="en-US" altLang="zh-CN" dirty="0">
                <a:ea typeface="宋体" panose="02010600030101010101" pitchFamily="2" charset="-122"/>
              </a:rPr>
            </a:fld>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657350"/>
            <a:ext cx="5080000" cy="41148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57350"/>
            <a:ext cx="5080000" cy="41148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285750"/>
            <a:ext cx="25908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285750"/>
            <a:ext cx="7569200"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2290" name="Group 29"/>
          <p:cNvGrpSpPr/>
          <p:nvPr/>
        </p:nvGrpSpPr>
        <p:grpSpPr>
          <a:xfrm>
            <a:off x="0" y="4367213"/>
            <a:ext cx="12175067" cy="2478087"/>
            <a:chOff x="0" y="2751"/>
            <a:chExt cx="5752" cy="1561"/>
          </a:xfrm>
        </p:grpSpPr>
        <p:sp>
          <p:nvSpPr>
            <p:cNvPr id="1032" name="Rectangle 2"/>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p:spPr>
          <p:txBody>
            <a:bodyPr wrap="none" anchor="ctr"/>
            <a:p>
              <a:pPr lvl="0"/>
              <a:endParaRPr lang="en-US" altLang="en-US" dirty="0">
                <a:latin typeface="Times New Roman" panose="02020603050405020304" pitchFamily="18" charset="0"/>
              </a:endParaRPr>
            </a:p>
          </p:txBody>
        </p:sp>
        <p:grpSp>
          <p:nvGrpSpPr>
            <p:cNvPr id="12297" name="Group 28"/>
            <p:cNvGrpSpPr/>
            <p:nvPr/>
          </p:nvGrpSpPr>
          <p:grpSpPr>
            <a:xfrm>
              <a:off x="4458" y="2751"/>
              <a:ext cx="1190" cy="1426"/>
              <a:chOff x="4458" y="2751"/>
              <a:chExt cx="1190" cy="1426"/>
            </a:xfrm>
          </p:grpSpPr>
          <p:sp>
            <p:nvSpPr>
              <p:cNvPr id="1034" name="Freeform 3"/>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35" name="Line 4"/>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36" name="Line 5"/>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37" name="Line 6"/>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38" name="Freeform 7"/>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39" name="Oval 8"/>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p:spPr>
            <p:txBody>
              <a:bodyPr wrap="none" anchor="ctr"/>
              <a:p>
                <a:pPr lvl="0"/>
                <a:endParaRPr lang="en-US" altLang="en-US" dirty="0">
                  <a:latin typeface="Times New Roman" panose="02020603050405020304" pitchFamily="18" charset="0"/>
                </a:endParaRPr>
              </a:p>
            </p:txBody>
          </p:sp>
          <p:grpSp>
            <p:nvGrpSpPr>
              <p:cNvPr id="12304" name="Group 27"/>
              <p:cNvGrpSpPr/>
              <p:nvPr/>
            </p:nvGrpSpPr>
            <p:grpSpPr>
              <a:xfrm>
                <a:off x="4458" y="2991"/>
                <a:ext cx="999" cy="797"/>
                <a:chOff x="4458" y="2991"/>
                <a:chExt cx="999" cy="797"/>
              </a:xfrm>
            </p:grpSpPr>
            <p:sp>
              <p:nvSpPr>
                <p:cNvPr id="1041" name="Freeform 9"/>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42" name="Freeform 10"/>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43" name="Freeform 11"/>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44" name="Freeform 12"/>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45" name="Freeform 13"/>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46" name="Freeform 14"/>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47" name="Freeform 15"/>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48" name="Freeform 16"/>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49" name="Freeform 17"/>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50" name="Freeform 18"/>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51" name="Freeform 19"/>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52" name="Freeform 20"/>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53" name="Freeform 21"/>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54" name="Freeform 22"/>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55" name="Freeform 23"/>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2" name="Freeform 24"/>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57" name="Freeform 25"/>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 name="Freeform 26"/>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w="9525" cap="rnd">
                  <a:noFill/>
                  <a:round/>
                </a:ln>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grpSp>
        </p:grpSp>
      </p:grpSp>
      <p:sp>
        <p:nvSpPr>
          <p:cNvPr id="12291" name="Rectangle 30"/>
          <p:cNvSpPr>
            <a:spLocks noGrp="1"/>
          </p:cNvSpPr>
          <p:nvPr>
            <p:ph type="title"/>
          </p:nvPr>
        </p:nvSpPr>
        <p:spPr>
          <a:xfrm>
            <a:off x="914400" y="285750"/>
            <a:ext cx="10363200" cy="1143000"/>
          </a:xfrm>
          <a:prstGeom prst="rect">
            <a:avLst/>
          </a:prstGeom>
          <a:noFill/>
          <a:ln w="9525">
            <a:noFill/>
          </a:ln>
        </p:spPr>
        <p:txBody>
          <a:bodyPr lIns="92075" tIns="46038" rIns="92075" bIns="46038" anchor="ctr" anchorCtr="0"/>
          <a:p>
            <a:pPr lvl="0"/>
            <a:r>
              <a:rPr lang="en-US" altLang="en-US" dirty="0"/>
              <a:t>Click to edit Master title style</a:t>
            </a:r>
            <a:endParaRPr lang="en-US" altLang="en-US" dirty="0"/>
          </a:p>
        </p:txBody>
      </p:sp>
      <p:sp>
        <p:nvSpPr>
          <p:cNvPr id="12292" name="Rectangle 31"/>
          <p:cNvSpPr>
            <a:spLocks noGrp="1"/>
          </p:cNvSpPr>
          <p:nvPr>
            <p:ph type="body" idx="1"/>
          </p:nvPr>
        </p:nvSpPr>
        <p:spPr>
          <a:xfrm>
            <a:off x="914400" y="1657350"/>
            <a:ext cx="10363200" cy="4114800"/>
          </a:xfrm>
          <a:prstGeom prst="rect">
            <a:avLst/>
          </a:prstGeom>
          <a:noFill/>
          <a:ln w="9525">
            <a:noFill/>
          </a:ln>
        </p:spPr>
        <p:txBody>
          <a:bodyPr lIns="92075" tIns="46038" rIns="92075" bIns="46038"/>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56" name="Rectangle 32"/>
          <p:cNvSpPr>
            <a:spLocks noGrp="1" noChangeArrowheads="1"/>
          </p:cNvSpPr>
          <p:nvPr>
            <p:ph type="dt" sz="half" idx="2"/>
          </p:nvPr>
        </p:nvSpPr>
        <p:spPr bwMode="auto">
          <a:xfrm>
            <a:off x="914400" y="6400800"/>
            <a:ext cx="2540000" cy="457200"/>
          </a:xfrm>
          <a:prstGeom prst="rect">
            <a:avLst/>
          </a:prstGeom>
          <a:noFill/>
          <a:ln>
            <a:noFill/>
          </a:ln>
          <a:effectLst/>
        </p:spPr>
        <p:txBody>
          <a:bodyPr vert="horz" wrap="none" lIns="92075" tIns="46038" rIns="92075" bIns="46038" numCol="1" anchor="ctr" anchorCtr="0" compatLnSpc="1"/>
          <a:lstStyle>
            <a:lvl1pPr>
              <a:defRPr sz="140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58" name="Rectangle 34"/>
          <p:cNvSpPr>
            <a:spLocks noGrp="1" noChangeArrowheads="1"/>
          </p:cNvSpPr>
          <p:nvPr>
            <p:ph type="sldNum" sz="quarter" idx="4"/>
          </p:nvPr>
        </p:nvSpPr>
        <p:spPr bwMode="auto">
          <a:xfrm>
            <a:off x="8737600" y="6399213"/>
            <a:ext cx="2540000" cy="457200"/>
          </a:xfrm>
          <a:prstGeom prst="rect">
            <a:avLst/>
          </a:prstGeom>
          <a:noFill/>
          <a:ln>
            <a:noFill/>
          </a:ln>
          <a:effectLst/>
        </p:spPr>
        <p:txBody>
          <a:bodyPr vert="horz" wrap="none" lIns="92075" tIns="46038" rIns="92075" bIns="46038" numCol="1" anchor="ctr" anchorCtr="0" compatLnSpc="1"/>
          <a:lstStyle>
            <a:lvl1pPr algn="r">
              <a:defRPr sz="1400">
                <a:ea typeface="宋体" panose="02010600030101010101" pitchFamily="2" charset="-122"/>
              </a:defRPr>
            </a:lvl1pPr>
          </a:lstStyle>
          <a:p>
            <a:pPr lvl="0">
              <a:buNone/>
            </a:pPr>
            <a:fld id="{9A0DB2DC-4C9A-4742-B13C-FB6460FD3503}" type="slidenum">
              <a:rPr lang="en-US" altLang="zh-CN" dirty="0">
                <a:latin typeface="Times New Roman" panose="02020603050405020304" pitchFamily="18" charset="0"/>
              </a:rPr>
            </a:fld>
            <a:endParaRPr lang="en-US" altLang="zh-CN" dirty="0">
              <a:latin typeface="Times New Roman" panose="02020603050405020304" pitchFamily="18" charset="0"/>
            </a:endParaRPr>
          </a:p>
        </p:txBody>
      </p:sp>
      <p:sp>
        <p:nvSpPr>
          <p:cNvPr id="1031" name="Rectangle 35"/>
          <p:cNvSpPr>
            <a:spLocks noChangeArrowheads="1"/>
          </p:cNvSpPr>
          <p:nvPr/>
        </p:nvSpPr>
        <p:spPr bwMode="auto">
          <a:xfrm>
            <a:off x="2235200" y="6438900"/>
            <a:ext cx="7442200" cy="419100"/>
          </a:xfrm>
          <a:prstGeom prst="rect">
            <a:avLst/>
          </a:prstGeom>
          <a:noFill/>
          <a:ln>
            <a:noFill/>
          </a:ln>
          <a:effec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en-US" sz="10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Liang, Introduction to Java Programming, Tenth Edition, (c) 2013 Pearson Education, Inc. All rights reserved. </a:t>
            </a:r>
            <a:endParaRPr kumimoji="0" lang="en-US" altLang="en-US" sz="10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hyperlink" Target="http://www.cs.armstrong.edu/liang/intro10e/html/CircleFromSimpleGeometricObject.html" TargetMode="External"/><Relationship Id="rId8" Type="http://schemas.openxmlformats.org/officeDocument/2006/relationships/hyperlink" Target="http://www.cs.armstrong.edu/liang/intro10e/html/RectangleFromSimpleGeometricObject.html" TargetMode="External"/><Relationship Id="rId7" Type="http://schemas.openxmlformats.org/officeDocument/2006/relationships/hyperlink" Target="html/RectangleFromSimpleGeometricObject.html" TargetMode="External"/><Relationship Id="rId6" Type="http://schemas.openxmlformats.org/officeDocument/2006/relationships/hyperlink" Target="html/CircleFromSimpleGeometricObject.html" TargetMode="External"/><Relationship Id="rId5" Type="http://schemas.openxmlformats.org/officeDocument/2006/relationships/image" Target="../media/image1.wmf"/><Relationship Id="rId4" Type="http://schemas.openxmlformats.org/officeDocument/2006/relationships/oleObject" Target="../embeddings/oleObject1.bin"/><Relationship Id="rId3" Type="http://schemas.openxmlformats.org/officeDocument/2006/relationships/hyperlink" Target="html/TestCircleRectangle.bat" TargetMode="External"/><Relationship Id="rId2" Type="http://schemas.openxmlformats.org/officeDocument/2006/relationships/hyperlink" Target="html/TestCircleRectangle.html" TargetMode="External"/><Relationship Id="rId13" Type="http://schemas.openxmlformats.org/officeDocument/2006/relationships/vmlDrawing" Target="../drawings/vmlDrawing1.vml"/><Relationship Id="rId12" Type="http://schemas.openxmlformats.org/officeDocument/2006/relationships/slideLayout" Target="../slideLayouts/slideLayout2.xml"/><Relationship Id="rId11" Type="http://schemas.openxmlformats.org/officeDocument/2006/relationships/hyperlink" Target="http://www.cs.armstrong.edu/liang/intro10e/html/TestCircleRectangle.html" TargetMode="External"/><Relationship Id="rId10" Type="http://schemas.openxmlformats.org/officeDocument/2006/relationships/hyperlink" Target="http://www.cs.armstrong.edu/liang/intro10e/html/SimpleGeometricObject.html" TargetMode="External"/><Relationship Id="rId1" Type="http://schemas.openxmlformats.org/officeDocument/2006/relationships/hyperlink" Target="html/SimpleGeometricObject.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3.wmf"/><Relationship Id="rId3" Type="http://schemas.openxmlformats.org/officeDocument/2006/relationships/oleObject" Target="../embeddings/oleObject3.bin"/><Relationship Id="rId2" Type="http://schemas.openxmlformats.org/officeDocument/2006/relationships/image" Target="../media/image2.w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5.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hyperlink" Target="http://www.cs.armstrong.edu/liang/intro10e/html/PolymorphismDemo.html" TargetMode="External"/><Relationship Id="rId2" Type="http://schemas.openxmlformats.org/officeDocument/2006/relationships/hyperlink" Target="html/PolymorphismDemo.bat" TargetMode="External"/><Relationship Id="rId1" Type="http://schemas.openxmlformats.org/officeDocument/2006/relationships/hyperlink" Target="html/PolymorphismDemo.html" TargetMode="Externa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www.cs.armstrong.edu/liang/animation/web/Listing11_6.html" TargetMode="External"/><Relationship Id="rId3" Type="http://schemas.openxmlformats.org/officeDocument/2006/relationships/hyperlink" Target="http://www.cs.armstrong.edu/liang/intro10e/html/DynamicBindingDemo.html" TargetMode="External"/><Relationship Id="rId2" Type="http://schemas.openxmlformats.org/officeDocument/2006/relationships/hyperlink" Target="html/DynamicBindingDemo.bat" TargetMode="External"/><Relationship Id="rId1" Type="http://schemas.openxmlformats.org/officeDocument/2006/relationships/hyperlink" Target="html/DynamicBindingDemo.html" TargetMode="External"/></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6.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www.cs.armstrong.edu/liang/intro10e/html/CastingDemo.html" TargetMode="External"/><Relationship Id="rId2" Type="http://schemas.openxmlformats.org/officeDocument/2006/relationships/hyperlink" Target="html/CastingDemo.bat" TargetMode="External"/><Relationship Id="rId1" Type="http://schemas.openxmlformats.org/officeDocument/2006/relationships/hyperlink" Target="html/CastingDemo.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7.bin"/></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www.cs.armstrong.edu/liang/intro10e/html/TestArrayList.html" TargetMode="External"/><Relationship Id="rId2" Type="http://schemas.openxmlformats.org/officeDocument/2006/relationships/hyperlink" Target="html/TestArrayList.bat" TargetMode="External"/><Relationship Id="rId1" Type="http://schemas.openxmlformats.org/officeDocument/2006/relationships/hyperlink" Target="html/TestArrayList.html" TargetMode="External"/></Relationships>
</file>

<file path=ppt/slides/_rels/slide43.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hyperlink" Target="http://www.cs.armstrong.edu/liang/intro10e/html/DistinctNumbers.html" TargetMode="External"/><Relationship Id="rId4" Type="http://schemas.openxmlformats.org/officeDocument/2006/relationships/hyperlink" Target="html/DistinctNumbers.bat" TargetMode="External"/><Relationship Id="rId3" Type="http://schemas.openxmlformats.org/officeDocument/2006/relationships/hyperlink" Target="html/DistinctNumbers.html" TargetMode="External"/><Relationship Id="rId2" Type="http://schemas.openxmlformats.org/officeDocument/2006/relationships/image" Target="../media/image8.wmf"/><Relationship Id="rId1" Type="http://schemas.openxmlformats.org/officeDocument/2006/relationships/oleObject" Target="../embeddings/oleObject8.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hyperlink" Target="http://www.cs.armstrong.edu/liang/intro10e/html/MyStack.html" TargetMode="External"/><Relationship Id="rId3" Type="http://schemas.openxmlformats.org/officeDocument/2006/relationships/image" Target="../media/image9.wmf"/><Relationship Id="rId2" Type="http://schemas.openxmlformats.org/officeDocument/2006/relationships/oleObject" Target="../embeddings/oleObject9.bin"/><Relationship Id="rId1" Type="http://schemas.openxmlformats.org/officeDocument/2006/relationships/hyperlink" Target="html/MyStack.html" TargetMode="External"/></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0.wmf"/><Relationship Id="rId1" Type="http://schemas.openxmlformats.org/officeDocument/2006/relationships/oleObject" Target="../embeddings/oleObject10.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11.bin"/></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2.wmf"/><Relationship Id="rId1" Type="http://schemas.openxmlformats.org/officeDocument/2006/relationships/oleObject" Target="../embeddings/oleObject12.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emf"/></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14339" name="Rectangle 2"/>
          <p:cNvSpPr>
            <a:spLocks noGrp="1"/>
          </p:cNvSpPr>
          <p:nvPr>
            <p:ph type="title"/>
          </p:nvPr>
        </p:nvSpPr>
        <p:spPr>
          <a:xfrm>
            <a:off x="2209800" y="1143000"/>
            <a:ext cx="7772400" cy="1066800"/>
          </a:xfrm>
          <a:ln/>
        </p:spPr>
        <p:txBody>
          <a:bodyPr vert="horz" wrap="square" lIns="92075" tIns="46038" rIns="92075" bIns="46038" anchor="ctr" anchorCtr="0"/>
          <a:p>
            <a:r>
              <a:rPr lang="en-US" altLang="en-US" sz="3600" dirty="0"/>
              <a:t>Chapter 11 Inheritance and Polymorphism</a:t>
            </a:r>
            <a:endParaRPr lang="en-US" altLang="en-US" sz="3600" dirty="0"/>
          </a:p>
        </p:txBody>
      </p:sp>
      <p:sp>
        <p:nvSpPr>
          <p:cNvPr id="14340" name="Rectangle 15"/>
          <p:cNvSpPr/>
          <p:nvPr/>
        </p:nvSpPr>
        <p:spPr>
          <a:xfrm>
            <a:off x="0" y="-230187"/>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15363" name="Rectangle 2"/>
          <p:cNvSpPr>
            <a:spLocks noGrp="1"/>
          </p:cNvSpPr>
          <p:nvPr>
            <p:ph type="title"/>
          </p:nvPr>
        </p:nvSpPr>
        <p:spPr>
          <a:xfrm>
            <a:off x="1676400" y="228600"/>
            <a:ext cx="8763000" cy="1066800"/>
          </a:xfrm>
          <a:ln/>
        </p:spPr>
        <p:txBody>
          <a:bodyPr vert="horz" wrap="square" lIns="92075" tIns="46038" rIns="92075" bIns="46038" anchor="ctr" anchorCtr="0"/>
          <a:p>
            <a:r>
              <a:rPr lang="en-US" altLang="en-US" dirty="0"/>
              <a:t>Motivations</a:t>
            </a:r>
            <a:endParaRPr lang="en-US" altLang="en-US" dirty="0"/>
          </a:p>
        </p:txBody>
      </p:sp>
      <p:sp>
        <p:nvSpPr>
          <p:cNvPr id="15364" name="Rectangle 3"/>
          <p:cNvSpPr>
            <a:spLocks noGrp="1"/>
          </p:cNvSpPr>
          <p:nvPr>
            <p:ph idx="1"/>
          </p:nvPr>
        </p:nvSpPr>
        <p:spPr>
          <a:xfrm>
            <a:off x="1828800" y="1371600"/>
            <a:ext cx="8610600" cy="4114800"/>
          </a:xfrm>
          <a:ln/>
        </p:spPr>
        <p:txBody>
          <a:bodyPr vert="horz" wrap="square" lIns="92075" tIns="46038" rIns="92075" bIns="46038" anchor="t" anchorCtr="0"/>
          <a:p>
            <a:pPr marL="0" indent="0">
              <a:buNone/>
            </a:pPr>
            <a:r>
              <a:rPr lang="en-US" altLang="en-US" dirty="0"/>
              <a:t>Suppose you will define classes to model circles, rectangles, and triangles. These classes have many common features. What is the best way to design these classes so to avoid redundancy? The answer is to use inheritance. </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386"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16387" name="Rectangle 2"/>
          <p:cNvSpPr>
            <a:spLocks noGrp="1"/>
          </p:cNvSpPr>
          <p:nvPr>
            <p:ph type="title"/>
          </p:nvPr>
        </p:nvSpPr>
        <p:spPr>
          <a:xfrm>
            <a:off x="1524000" y="0"/>
            <a:ext cx="9144000" cy="685800"/>
          </a:xfrm>
          <a:ln/>
        </p:spPr>
        <p:txBody>
          <a:bodyPr vert="horz" wrap="square" lIns="92075" tIns="46038" rIns="92075" bIns="46038" anchor="ctr" anchorCtr="0"/>
          <a:p>
            <a:r>
              <a:rPr lang="en-US" altLang="en-US" sz="4000" dirty="0"/>
              <a:t>Objectives</a:t>
            </a:r>
            <a:endParaRPr lang="en-US" altLang="en-US" sz="4000" dirty="0"/>
          </a:p>
        </p:txBody>
      </p:sp>
      <p:sp>
        <p:nvSpPr>
          <p:cNvPr id="16388" name="Rectangle 3"/>
          <p:cNvSpPr>
            <a:spLocks noGrp="1"/>
          </p:cNvSpPr>
          <p:nvPr>
            <p:ph idx="1"/>
          </p:nvPr>
        </p:nvSpPr>
        <p:spPr>
          <a:xfrm>
            <a:off x="1676400" y="762000"/>
            <a:ext cx="8839200" cy="5562600"/>
          </a:xfrm>
          <a:ln/>
        </p:spPr>
        <p:txBody>
          <a:bodyPr vert="horz" wrap="square" lIns="92075" tIns="46038" rIns="92075" bIns="46038" anchor="t" anchorCtr="0"/>
          <a:p>
            <a:pPr marL="358775" lvl="2" indent="-355600"/>
            <a:r>
              <a:rPr lang="en-US" altLang="en-US" sz="2000" dirty="0"/>
              <a:t>To define a subclass from a superclass through inheritance (§11.2).</a:t>
            </a:r>
            <a:endParaRPr lang="en-US" altLang="en-US" sz="2000" dirty="0"/>
          </a:p>
          <a:p>
            <a:pPr marL="358775" lvl="2" indent="-355600"/>
            <a:r>
              <a:rPr lang="en-US" altLang="en-US" sz="2000" dirty="0"/>
              <a:t>To invoke the superclass’s constructors and methods using the </a:t>
            </a:r>
            <a:r>
              <a:rPr lang="en-US" altLang="en-US" sz="2000" b="1" dirty="0"/>
              <a:t>super</a:t>
            </a:r>
            <a:r>
              <a:rPr lang="en-US" altLang="en-US" sz="2000" dirty="0"/>
              <a:t> keyword (§11.3).</a:t>
            </a:r>
            <a:endParaRPr lang="en-US" altLang="en-US" sz="2000" dirty="0"/>
          </a:p>
          <a:p>
            <a:pPr marL="358775" lvl="2" indent="-355600"/>
            <a:r>
              <a:rPr lang="en-US" altLang="en-US" sz="2000" dirty="0"/>
              <a:t>To override instance methods in the subclass (§11.4).</a:t>
            </a:r>
            <a:endParaRPr lang="en-US" altLang="en-US" sz="2000" dirty="0"/>
          </a:p>
          <a:p>
            <a:pPr marL="358775" lvl="2" indent="-355600"/>
            <a:r>
              <a:rPr lang="en-US" altLang="en-US" sz="2000" dirty="0"/>
              <a:t>To distinguish differences between overriding and overloading (§11.5).</a:t>
            </a:r>
            <a:endParaRPr lang="en-US" altLang="en-US" sz="2000" dirty="0"/>
          </a:p>
          <a:p>
            <a:pPr marL="358775" lvl="2" indent="-355600"/>
            <a:r>
              <a:rPr lang="en-US" altLang="en-US" sz="2000" dirty="0"/>
              <a:t>To explore the </a:t>
            </a:r>
            <a:r>
              <a:rPr lang="en-US" altLang="en-US" sz="2000" b="1" dirty="0"/>
              <a:t>toString()</a:t>
            </a:r>
            <a:r>
              <a:rPr lang="en-US" altLang="en-US" sz="2000" dirty="0"/>
              <a:t> method in the </a:t>
            </a:r>
            <a:r>
              <a:rPr lang="en-US" altLang="en-US" sz="2000" b="1" dirty="0"/>
              <a:t>Object</a:t>
            </a:r>
            <a:r>
              <a:rPr lang="en-US" altLang="en-US" sz="2000" dirty="0"/>
              <a:t> class (§11.6).</a:t>
            </a:r>
            <a:endParaRPr lang="en-US" altLang="en-US" sz="2000" dirty="0"/>
          </a:p>
          <a:p>
            <a:pPr marL="358775" lvl="2" indent="-355600"/>
            <a:r>
              <a:rPr lang="en-US" altLang="en-US" sz="2000" dirty="0"/>
              <a:t>To discover polymorphism and dynamic binding (§§11.7–11.8).</a:t>
            </a:r>
            <a:endParaRPr lang="en-US" altLang="en-US" sz="2000" dirty="0"/>
          </a:p>
          <a:p>
            <a:pPr marL="358775" lvl="2" indent="-355600"/>
            <a:r>
              <a:rPr lang="en-US" altLang="en-US" sz="2000" dirty="0"/>
              <a:t>To describe casting and explain why explicit downcasting is necessary (§11.9).</a:t>
            </a:r>
            <a:endParaRPr lang="en-US" altLang="en-US" sz="2000" dirty="0"/>
          </a:p>
          <a:p>
            <a:pPr marL="358775" lvl="2" indent="-355600"/>
            <a:r>
              <a:rPr lang="en-US" altLang="en-US" sz="2000" dirty="0"/>
              <a:t>To explore the </a:t>
            </a:r>
            <a:r>
              <a:rPr lang="en-US" altLang="en-US" sz="2000" b="1" dirty="0"/>
              <a:t>equals</a:t>
            </a:r>
            <a:r>
              <a:rPr lang="en-US" altLang="en-US" sz="2000" dirty="0"/>
              <a:t> method in the </a:t>
            </a:r>
            <a:r>
              <a:rPr lang="en-US" altLang="en-US" sz="2000" b="1" dirty="0"/>
              <a:t>Object</a:t>
            </a:r>
            <a:r>
              <a:rPr lang="en-US" altLang="en-US" sz="2000" dirty="0"/>
              <a:t> class (§11.10).</a:t>
            </a:r>
            <a:endParaRPr lang="en-US" altLang="en-US" sz="2000" dirty="0"/>
          </a:p>
          <a:p>
            <a:pPr marL="358775" lvl="2" indent="-355600"/>
            <a:r>
              <a:rPr lang="en-US" altLang="en-US" sz="2000" dirty="0"/>
              <a:t>To store, retrieve, and manipulate objects in an </a:t>
            </a:r>
            <a:r>
              <a:rPr lang="en-US" altLang="en-US" sz="2000" b="1" dirty="0"/>
              <a:t>ArrayList</a:t>
            </a:r>
            <a:r>
              <a:rPr lang="en-US" altLang="en-US" sz="2000" dirty="0"/>
              <a:t> (§11.11).</a:t>
            </a:r>
            <a:endParaRPr lang="en-US" altLang="en-US" sz="2000" dirty="0"/>
          </a:p>
          <a:p>
            <a:pPr marL="358775" lvl="2" indent="-355600"/>
            <a:r>
              <a:rPr lang="en-US" altLang="en-US" sz="2000" dirty="0"/>
              <a:t>To implement a </a:t>
            </a:r>
            <a:r>
              <a:rPr lang="en-US" altLang="en-US" sz="2000" b="1" dirty="0"/>
              <a:t>Stack</a:t>
            </a:r>
            <a:r>
              <a:rPr lang="en-US" altLang="en-US" sz="2000" dirty="0"/>
              <a:t> class using </a:t>
            </a:r>
            <a:r>
              <a:rPr lang="en-US" altLang="en-US" sz="2000" b="1" dirty="0"/>
              <a:t>ArrayList</a:t>
            </a:r>
            <a:r>
              <a:rPr lang="en-US" altLang="en-US" sz="2000" dirty="0"/>
              <a:t> (§11.12).</a:t>
            </a:r>
            <a:endParaRPr lang="en-US" altLang="en-US" sz="2000" dirty="0"/>
          </a:p>
          <a:p>
            <a:pPr marL="358775" lvl="2" indent="-355600"/>
            <a:r>
              <a:rPr lang="en-US" altLang="en-US" sz="2000" dirty="0"/>
              <a:t>To enable data and methods in a superclass accessible from subclasses using the </a:t>
            </a:r>
            <a:r>
              <a:rPr lang="en-US" altLang="en-US" sz="2000" b="1" dirty="0"/>
              <a:t>protected</a:t>
            </a:r>
            <a:r>
              <a:rPr lang="en-US" altLang="en-US" sz="2000" dirty="0"/>
              <a:t> visibility modifier (§11.13).</a:t>
            </a:r>
            <a:endParaRPr lang="en-US" altLang="en-US" sz="2000" dirty="0"/>
          </a:p>
          <a:p>
            <a:pPr marL="358775" lvl="2" indent="-355600"/>
            <a:r>
              <a:rPr lang="en-US" altLang="en-US" sz="2000" dirty="0"/>
              <a:t>To prevent class extending and method overriding using the </a:t>
            </a:r>
            <a:r>
              <a:rPr lang="en-US" altLang="en-US" sz="2000" b="1" dirty="0"/>
              <a:t>final</a:t>
            </a:r>
            <a:r>
              <a:rPr lang="en-US" altLang="en-US" sz="2000" dirty="0"/>
              <a:t> modifier (§11.14).</a:t>
            </a:r>
            <a:endParaRPr lang="en-US" altLang="en-US" sz="20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1028" name="Rectangle 2"/>
          <p:cNvSpPr>
            <a:spLocks noGrp="1"/>
          </p:cNvSpPr>
          <p:nvPr>
            <p:ph type="title"/>
          </p:nvPr>
        </p:nvSpPr>
        <p:spPr>
          <a:xfrm>
            <a:off x="1981200" y="228600"/>
            <a:ext cx="7772400" cy="457200"/>
          </a:xfrm>
          <a:ln/>
        </p:spPr>
        <p:txBody>
          <a:bodyPr vert="horz" wrap="square" lIns="92075" tIns="46038" rIns="92075" bIns="46038" anchor="ctr" anchorCtr="0"/>
          <a:p>
            <a:r>
              <a:rPr lang="en-US" altLang="en-US" sz="4000" dirty="0"/>
              <a:t>1</a:t>
            </a:r>
            <a:r>
              <a:rPr lang="en-US" altLang="zh-CN" sz="4000" dirty="0">
                <a:ea typeface="宋体" panose="02010600030101010101" pitchFamily="2" charset="-122"/>
              </a:rPr>
              <a:t>. </a:t>
            </a:r>
            <a:r>
              <a:rPr lang="en-US" altLang="en-US" sz="4000" dirty="0"/>
              <a:t>Superclasses and Subclasses</a:t>
            </a:r>
            <a:endParaRPr lang="en-US" altLang="en-US" sz="4000" dirty="0"/>
          </a:p>
        </p:txBody>
      </p:sp>
      <p:sp>
        <p:nvSpPr>
          <p:cNvPr id="1029" name="Rectangle 7"/>
          <p:cNvSpPr/>
          <p:nvPr/>
        </p:nvSpPr>
        <p:spPr>
          <a:xfrm>
            <a:off x="1524000" y="1233488"/>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307208" name="AutoShape 8">
            <a:hlinkClick r:id="" action="ppaction://noaction" highlightClick="1"/>
          </p:cNvPr>
          <p:cNvSpPr>
            <a:spLocks noChangeArrowheads="1"/>
          </p:cNvSpPr>
          <p:nvPr/>
        </p:nvSpPr>
        <p:spPr bwMode="auto">
          <a:xfrm>
            <a:off x="7315200" y="2209800"/>
            <a:ext cx="3124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1" action="ppaction://program"/>
              </a:rPr>
              <a:t>GeometricObject</a:t>
            </a:r>
            <a:endParaRPr kumimoji="0" lang="en-US" altLang="zh-CN" sz="24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307211" name="AutoShape 11">
            <a:hlinkClick r:id="" action="ppaction://noaction" highlightClick="1"/>
          </p:cNvPr>
          <p:cNvSpPr>
            <a:spLocks noChangeArrowheads="1"/>
          </p:cNvSpPr>
          <p:nvPr/>
        </p:nvSpPr>
        <p:spPr bwMode="auto">
          <a:xfrm>
            <a:off x="7772400" y="4876800"/>
            <a:ext cx="2743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2" action="ppaction://program"/>
              </a:rPr>
              <a:t>TestCircleRectangle</a:t>
            </a:r>
            <a:endParaRPr kumimoji="0" lang="en-US" altLang="zh-CN" sz="24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1032" name="AutoShape 12">
            <a:hlinkClick r:id="rId3" action="ppaction://program"/>
          </p:cNvPr>
          <p:cNvSpPr/>
          <p:nvPr/>
        </p:nvSpPr>
        <p:spPr>
          <a:xfrm>
            <a:off x="8305800" y="5638800"/>
            <a:ext cx="1828800" cy="533400"/>
          </a:xfrm>
          <a:prstGeom prst="actionButtonBlank">
            <a:avLst/>
          </a:prstGeom>
          <a:solidFill>
            <a:srgbClr val="38A1BA"/>
          </a:solidFill>
          <a:ln w="19050">
            <a:noFill/>
          </a:ln>
          <a:effectLst>
            <a:prstShdw prst="shdw17" dist="17961" dir="2699999">
              <a:srgbClr val="226170"/>
            </a:prstShdw>
          </a:effectLst>
        </p:spPr>
        <p:txBody>
          <a:bodyPr wrap="none" anchor="ctr" anchorCtr="0"/>
          <a:p>
            <a:pPr algn="ctr"/>
            <a:r>
              <a:rPr lang="en-US" altLang="en-US" dirty="0">
                <a:latin typeface="Book Antiqua" panose="02040602050305030304" pitchFamily="18" charset="0"/>
              </a:rPr>
              <a:t>Run</a:t>
            </a:r>
            <a:endParaRPr lang="en-US" altLang="en-US" dirty="0">
              <a:latin typeface="Times New Roman" panose="02020603050405020304" pitchFamily="18" charset="0"/>
            </a:endParaRPr>
          </a:p>
        </p:txBody>
      </p:sp>
      <p:sp>
        <p:nvSpPr>
          <p:cNvPr id="1033" name="Rectangle 14"/>
          <p:cNvSpPr/>
          <p:nvPr/>
        </p:nvSpPr>
        <p:spPr>
          <a:xfrm>
            <a:off x="1524000" y="893763"/>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graphicFrame>
        <p:nvGraphicFramePr>
          <p:cNvPr id="1026" name="Object 13"/>
          <p:cNvGraphicFramePr>
            <a:graphicFrameLocks noChangeAspect="1"/>
          </p:cNvGraphicFramePr>
          <p:nvPr/>
        </p:nvGraphicFramePr>
        <p:xfrm>
          <a:off x="1752600" y="838200"/>
          <a:ext cx="5446713" cy="5562600"/>
        </p:xfrm>
        <a:graphic>
          <a:graphicData uri="http://schemas.openxmlformats.org/presentationml/2006/ole">
            <mc:AlternateContent xmlns:mc="http://schemas.openxmlformats.org/markup-compatibility/2006">
              <mc:Choice xmlns:v="urn:schemas-microsoft-com:vml" Requires="v">
                <p:oleObj spid="_x0000_s3078" name="" r:id="rId4" imgW="4526280" imgH="4608830" progId="Word.Picture.8">
                  <p:embed/>
                </p:oleObj>
              </mc:Choice>
              <mc:Fallback>
                <p:oleObj name="" r:id="rId4" imgW="4526280" imgH="4608830" progId="Word.Picture.8">
                  <p:embed/>
                  <p:pic>
                    <p:nvPicPr>
                      <p:cNvPr id="0" name="图片 3077"/>
                      <p:cNvPicPr/>
                      <p:nvPr/>
                    </p:nvPicPr>
                    <p:blipFill>
                      <a:blip r:embed="rId5"/>
                      <a:stretch>
                        <a:fillRect/>
                      </a:stretch>
                    </p:blipFill>
                    <p:spPr>
                      <a:xfrm>
                        <a:off x="1752600" y="838200"/>
                        <a:ext cx="5446713" cy="5562600"/>
                      </a:xfrm>
                      <a:prstGeom prst="rect">
                        <a:avLst/>
                      </a:prstGeom>
                      <a:noFill/>
                      <a:ln w="38100">
                        <a:noFill/>
                        <a:miter/>
                      </a:ln>
                    </p:spPr>
                  </p:pic>
                </p:oleObj>
              </mc:Fallback>
            </mc:AlternateContent>
          </a:graphicData>
        </a:graphic>
      </p:graphicFrame>
      <p:sp>
        <p:nvSpPr>
          <p:cNvPr id="307209" name="AutoShape 9">
            <a:hlinkClick r:id="" action="ppaction://noaction" highlightClick="1"/>
          </p:cNvPr>
          <p:cNvSpPr>
            <a:spLocks noChangeArrowheads="1"/>
          </p:cNvSpPr>
          <p:nvPr/>
        </p:nvSpPr>
        <p:spPr bwMode="auto">
          <a:xfrm>
            <a:off x="6400800" y="2895600"/>
            <a:ext cx="4114800" cy="4572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6" action="ppaction://program"/>
              </a:rPr>
              <a:t>CircleFromSimpleGeometricObject</a:t>
            </a:r>
            <a:endParaRPr kumimoji="0" lang="en-US" altLang="zh-CN" sz="20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307210" name="AutoShape 10">
            <a:hlinkClick r:id="" action="ppaction://noaction" highlightClick="1"/>
          </p:cNvPr>
          <p:cNvSpPr>
            <a:spLocks noChangeArrowheads="1"/>
          </p:cNvSpPr>
          <p:nvPr/>
        </p:nvSpPr>
        <p:spPr bwMode="auto">
          <a:xfrm>
            <a:off x="6400800" y="3505200"/>
            <a:ext cx="4114800" cy="4572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7" action="ppaction://program"/>
              </a:rPr>
              <a:t>RectangleFromSimpleGeometricObject</a:t>
            </a:r>
            <a:endParaRPr kumimoji="0" lang="en-US" altLang="zh-CN" sz="18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1036" name="AutoShape 15">
            <a:hlinkClick r:id="rId8"/>
          </p:cNvPr>
          <p:cNvSpPr/>
          <p:nvPr/>
        </p:nvSpPr>
        <p:spPr>
          <a:xfrm>
            <a:off x="6019800" y="33528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
        <p:nvSpPr>
          <p:cNvPr id="1037" name="AutoShape 16">
            <a:hlinkClick r:id="rId9"/>
          </p:cNvPr>
          <p:cNvSpPr/>
          <p:nvPr/>
        </p:nvSpPr>
        <p:spPr>
          <a:xfrm>
            <a:off x="6096000" y="25146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
        <p:nvSpPr>
          <p:cNvPr id="1038" name="AutoShape 17">
            <a:hlinkClick r:id="rId10"/>
          </p:cNvPr>
          <p:cNvSpPr/>
          <p:nvPr/>
        </p:nvSpPr>
        <p:spPr>
          <a:xfrm>
            <a:off x="7162800" y="19812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
        <p:nvSpPr>
          <p:cNvPr id="1039" name="AutoShape 18">
            <a:hlinkClick r:id="rId11"/>
          </p:cNvPr>
          <p:cNvSpPr/>
          <p:nvPr/>
        </p:nvSpPr>
        <p:spPr>
          <a:xfrm>
            <a:off x="7162800" y="48768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17411" name="Rectangle 2"/>
          <p:cNvSpPr>
            <a:spLocks noGrp="1"/>
          </p:cNvSpPr>
          <p:nvPr>
            <p:ph type="title"/>
          </p:nvPr>
        </p:nvSpPr>
        <p:spPr>
          <a:xfrm>
            <a:off x="2209800" y="457200"/>
            <a:ext cx="7772400" cy="685800"/>
          </a:xfrm>
          <a:ln/>
        </p:spPr>
        <p:txBody>
          <a:bodyPr vert="horz" wrap="square" lIns="92075" tIns="46038" rIns="92075" bIns="46038" anchor="ctr" anchorCtr="0"/>
          <a:p>
            <a:r>
              <a:rPr lang="en-US" altLang="en-US" sz="4000" dirty="0"/>
              <a:t>1</a:t>
            </a:r>
            <a:r>
              <a:rPr lang="zh-CN" altLang="en-US" sz="4000" dirty="0">
                <a:ea typeface="宋体" panose="02010600030101010101" pitchFamily="2" charset="-122"/>
              </a:rPr>
              <a:t>）</a:t>
            </a:r>
            <a:r>
              <a:rPr lang="en-US" altLang="en-US" sz="4000" dirty="0"/>
              <a:t>Are superclass’s Constructor Inherited?</a:t>
            </a:r>
            <a:endParaRPr lang="en-US" altLang="en-US" sz="4000" dirty="0"/>
          </a:p>
        </p:txBody>
      </p:sp>
      <p:sp>
        <p:nvSpPr>
          <p:cNvPr id="17412" name="Text Box 3"/>
          <p:cNvSpPr txBox="1"/>
          <p:nvPr/>
        </p:nvSpPr>
        <p:spPr>
          <a:xfrm>
            <a:off x="1752600" y="1524000"/>
            <a:ext cx="8686800" cy="1691640"/>
          </a:xfrm>
          <a:prstGeom prst="rect">
            <a:avLst/>
          </a:prstGeom>
          <a:noFill/>
          <a:ln w="12700">
            <a:noFill/>
          </a:ln>
        </p:spPr>
        <p:txBody>
          <a:bodyPr>
            <a:spAutoFit/>
          </a:bodyPr>
          <a:p>
            <a:pPr>
              <a:spcBef>
                <a:spcPct val="50000"/>
              </a:spcBef>
            </a:pPr>
            <a:r>
              <a:rPr lang="en-US" altLang="en-US" sz="2600" dirty="0">
                <a:latin typeface="Times New Roman" panose="02020603050405020304" pitchFamily="18" charset="0"/>
              </a:rPr>
              <a:t>No. They are not inherited.</a:t>
            </a:r>
            <a:endParaRPr lang="en-US" altLang="en-US" sz="2600" dirty="0">
              <a:latin typeface="Times New Roman" panose="02020603050405020304" pitchFamily="18" charset="0"/>
            </a:endParaRPr>
          </a:p>
          <a:p>
            <a:pPr>
              <a:spcBef>
                <a:spcPct val="50000"/>
              </a:spcBef>
            </a:pPr>
            <a:r>
              <a:rPr lang="en-US" altLang="en-US" sz="2600" dirty="0">
                <a:latin typeface="Times New Roman" panose="02020603050405020304" pitchFamily="18" charset="0"/>
              </a:rPr>
              <a:t>They are invoked explicitly or implicitly. </a:t>
            </a:r>
            <a:endParaRPr lang="en-US" altLang="en-US" sz="2600" dirty="0">
              <a:latin typeface="Times New Roman" panose="02020603050405020304" pitchFamily="18" charset="0"/>
            </a:endParaRPr>
          </a:p>
          <a:p>
            <a:pPr>
              <a:spcBef>
                <a:spcPct val="50000"/>
              </a:spcBef>
            </a:pPr>
            <a:r>
              <a:rPr lang="en-US" altLang="en-US" sz="2600" dirty="0">
                <a:latin typeface="Times New Roman" panose="02020603050405020304" pitchFamily="18" charset="0"/>
              </a:rPr>
              <a:t>Explicitly using the </a:t>
            </a:r>
            <a:r>
              <a:rPr lang="en-US" altLang="en-US" sz="2600" dirty="0">
                <a:solidFill>
                  <a:srgbClr val="C00000"/>
                </a:solidFill>
                <a:latin typeface="Times New Roman" panose="02020603050405020304" pitchFamily="18" charset="0"/>
              </a:rPr>
              <a:t>super</a:t>
            </a:r>
            <a:r>
              <a:rPr lang="en-US" altLang="en-US" sz="2600" dirty="0">
                <a:latin typeface="Times New Roman" panose="02020603050405020304" pitchFamily="18" charset="0"/>
              </a:rPr>
              <a:t> keyword.</a:t>
            </a:r>
            <a:endParaRPr lang="en-US" altLang="en-US" sz="2600" dirty="0">
              <a:latin typeface="Times New Roman" panose="02020603050405020304" pitchFamily="18" charset="0"/>
            </a:endParaRPr>
          </a:p>
        </p:txBody>
      </p:sp>
      <p:sp>
        <p:nvSpPr>
          <p:cNvPr id="17413" name="Text Box 4"/>
          <p:cNvSpPr txBox="1"/>
          <p:nvPr/>
        </p:nvSpPr>
        <p:spPr>
          <a:xfrm>
            <a:off x="1905000" y="3276600"/>
            <a:ext cx="8229600" cy="3107690"/>
          </a:xfrm>
          <a:prstGeom prst="rect">
            <a:avLst/>
          </a:prstGeom>
          <a:noFill/>
          <a:ln w="12700">
            <a:noFill/>
          </a:ln>
        </p:spPr>
        <p:txBody>
          <a:bodyPr>
            <a:spAutoFit/>
          </a:bodyPr>
          <a:p>
            <a:pPr>
              <a:spcBef>
                <a:spcPct val="50000"/>
              </a:spcBef>
            </a:pPr>
            <a:r>
              <a:rPr lang="en-US" altLang="en-US" sz="2800" dirty="0">
                <a:latin typeface="Times New Roman" panose="02020603050405020304" pitchFamily="18" charset="0"/>
                <a:cs typeface="Times New Roman" panose="02020603050405020304" pitchFamily="18" charset="0"/>
              </a:rPr>
              <a:t>A constructor is used to construct an instance of a class. Unlike properties and methods, </a:t>
            </a:r>
            <a:r>
              <a:rPr lang="en-US" altLang="en-US" sz="2800" dirty="0">
                <a:solidFill>
                  <a:srgbClr val="C00000"/>
                </a:solidFill>
                <a:latin typeface="Times New Roman" panose="02020603050405020304" pitchFamily="18" charset="0"/>
                <a:cs typeface="Times New Roman" panose="02020603050405020304" pitchFamily="18" charset="0"/>
              </a:rPr>
              <a:t>a superclass's constructors are not inherited in the subclass</a:t>
            </a:r>
            <a:r>
              <a:rPr lang="en-US" altLang="en-US" sz="2800" dirty="0">
                <a:latin typeface="Times New Roman" panose="02020603050405020304" pitchFamily="18" charset="0"/>
                <a:cs typeface="Times New Roman" panose="02020603050405020304" pitchFamily="18" charset="0"/>
              </a:rPr>
              <a:t>. They can only be invoked from the subclasses' constructors, using the keyword </a:t>
            </a:r>
            <a:r>
              <a:rPr lang="en-US" altLang="en-US" sz="2800" u="sng" dirty="0">
                <a:latin typeface="Times New Roman" panose="02020603050405020304" pitchFamily="18" charset="0"/>
                <a:cs typeface="Times New Roman" panose="02020603050405020304" pitchFamily="18" charset="0"/>
              </a:rPr>
              <a:t>super</a:t>
            </a:r>
            <a:r>
              <a:rPr lang="en-US" altLang="en-US" sz="2800" dirty="0">
                <a:latin typeface="Times New Roman" panose="02020603050405020304" pitchFamily="18" charset="0"/>
                <a:cs typeface="Times New Roman" panose="02020603050405020304" pitchFamily="18" charset="0"/>
              </a:rPr>
              <a:t>. </a:t>
            </a:r>
            <a:r>
              <a:rPr lang="en-US" altLang="en-US" sz="2800" i="1" dirty="0">
                <a:solidFill>
                  <a:srgbClr val="C00000"/>
                </a:solidFill>
                <a:latin typeface="Times New Roman" panose="02020603050405020304" pitchFamily="18" charset="0"/>
                <a:cs typeface="Times New Roman" panose="02020603050405020304" pitchFamily="18" charset="0"/>
              </a:rPr>
              <a:t>If the keyword </a:t>
            </a:r>
            <a:r>
              <a:rPr lang="en-US" altLang="en-US" sz="2800" i="1" u="sng" dirty="0">
                <a:solidFill>
                  <a:srgbClr val="C00000"/>
                </a:solidFill>
                <a:latin typeface="Times New Roman" panose="02020603050405020304" pitchFamily="18" charset="0"/>
                <a:cs typeface="Times New Roman" panose="02020603050405020304" pitchFamily="18" charset="0"/>
              </a:rPr>
              <a:t>super</a:t>
            </a:r>
            <a:r>
              <a:rPr lang="en-US" altLang="en-US" sz="2800" i="1" dirty="0">
                <a:solidFill>
                  <a:srgbClr val="C00000"/>
                </a:solidFill>
                <a:latin typeface="Times New Roman" panose="02020603050405020304" pitchFamily="18" charset="0"/>
                <a:cs typeface="Times New Roman" panose="02020603050405020304" pitchFamily="18" charset="0"/>
              </a:rPr>
              <a:t> is not explicitly used, the superclass's no-arg constructor is automatically invoked.</a:t>
            </a:r>
            <a:endParaRPr lang="en-US" altLang="en-US" sz="2800" i="1" dirty="0">
              <a:solidFill>
                <a:srgbClr val="C0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053" name="Rectangle 2"/>
          <p:cNvSpPr>
            <a:spLocks noGrp="1"/>
          </p:cNvSpPr>
          <p:nvPr>
            <p:ph type="title"/>
          </p:nvPr>
        </p:nvSpPr>
        <p:spPr>
          <a:xfrm>
            <a:off x="1676400" y="152400"/>
            <a:ext cx="8839200" cy="666750"/>
          </a:xfrm>
          <a:ln/>
        </p:spPr>
        <p:txBody>
          <a:bodyPr vert="horz" wrap="square" lIns="92075" tIns="46038" rIns="92075" bIns="46038" anchor="ctr" anchorCtr="0"/>
          <a:p>
            <a:r>
              <a:rPr lang="en-US" altLang="en-US" sz="3600" dirty="0"/>
              <a:t>Superclass’s Constructor Is Always Invoked</a:t>
            </a:r>
            <a:endParaRPr lang="en-US" altLang="en-US" sz="3600" dirty="0"/>
          </a:p>
        </p:txBody>
      </p:sp>
      <p:sp>
        <p:nvSpPr>
          <p:cNvPr id="2054" name="Text Box 3"/>
          <p:cNvSpPr txBox="1"/>
          <p:nvPr/>
        </p:nvSpPr>
        <p:spPr>
          <a:xfrm>
            <a:off x="1828800" y="990600"/>
            <a:ext cx="8534400" cy="1814830"/>
          </a:xfrm>
          <a:prstGeom prst="rect">
            <a:avLst/>
          </a:prstGeom>
          <a:noFill/>
          <a:ln w="12700">
            <a:noFill/>
          </a:ln>
        </p:spPr>
        <p:txBody>
          <a:bodyPr>
            <a:spAutoFit/>
          </a:bodyPr>
          <a:p>
            <a:pPr>
              <a:spcBef>
                <a:spcPct val="50000"/>
              </a:spcBef>
            </a:pPr>
            <a:r>
              <a:rPr lang="en-US" altLang="en-US" sz="2800" dirty="0">
                <a:solidFill>
                  <a:srgbClr val="C00000"/>
                </a:solidFill>
                <a:latin typeface="Times New Roman" panose="02020603050405020304" pitchFamily="18" charset="0"/>
                <a:cs typeface="Times New Roman" panose="02020603050405020304" pitchFamily="18" charset="0"/>
              </a:rPr>
              <a:t>A constructor may invoke an overloaded constructor or its superclass’s constructor. </a:t>
            </a:r>
            <a:r>
              <a:rPr lang="en-US" altLang="en-US" sz="2800" dirty="0">
                <a:latin typeface="Times New Roman" panose="02020603050405020304" pitchFamily="18" charset="0"/>
                <a:cs typeface="Times New Roman" panose="02020603050405020304" pitchFamily="18" charset="0"/>
              </a:rPr>
              <a:t>If none of them is invoked explicitly, the compiler puts </a:t>
            </a:r>
            <a:r>
              <a:rPr lang="en-US" altLang="en-US" sz="2800" u="sng" dirty="0">
                <a:latin typeface="Times New Roman" panose="02020603050405020304" pitchFamily="18" charset="0"/>
                <a:cs typeface="Times New Roman" panose="02020603050405020304" pitchFamily="18" charset="0"/>
              </a:rPr>
              <a:t>super()</a:t>
            </a:r>
            <a:r>
              <a:rPr lang="en-US" altLang="en-US" sz="2800" dirty="0">
                <a:latin typeface="Times New Roman" panose="02020603050405020304" pitchFamily="18" charset="0"/>
                <a:cs typeface="Times New Roman" panose="02020603050405020304" pitchFamily="18" charset="0"/>
              </a:rPr>
              <a:t> as the first statement in the constructor. For example, </a:t>
            </a:r>
            <a:endParaRPr lang="en-US" altLang="en-US" dirty="0">
              <a:latin typeface="Times New Roman" panose="02020603050405020304" pitchFamily="18" charset="0"/>
              <a:ea typeface="Times New Roman" panose="02020603050405020304" pitchFamily="18" charset="0"/>
            </a:endParaRPr>
          </a:p>
        </p:txBody>
      </p:sp>
      <p:sp>
        <p:nvSpPr>
          <p:cNvPr id="2055" name="Rectangle 5"/>
          <p:cNvSpPr/>
          <p:nvPr/>
        </p:nvSpPr>
        <p:spPr>
          <a:xfrm>
            <a:off x="4038600" y="3128963"/>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2056" name="Rectangle 7"/>
          <p:cNvSpPr/>
          <p:nvPr/>
        </p:nvSpPr>
        <p:spPr>
          <a:xfrm>
            <a:off x="4038600" y="3052763"/>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graphicFrame>
        <p:nvGraphicFramePr>
          <p:cNvPr id="2050" name="Object 6"/>
          <p:cNvGraphicFramePr>
            <a:graphicFrameLocks noChangeAspect="1"/>
          </p:cNvGraphicFramePr>
          <p:nvPr/>
        </p:nvGraphicFramePr>
        <p:xfrm>
          <a:off x="1982788" y="4724400"/>
          <a:ext cx="8074025" cy="1476375"/>
        </p:xfrm>
        <a:graphic>
          <a:graphicData uri="http://schemas.openxmlformats.org/presentationml/2006/ole">
            <mc:AlternateContent xmlns:mc="http://schemas.openxmlformats.org/markup-compatibility/2006">
              <mc:Choice xmlns:v="urn:schemas-microsoft-com:vml" Requires="v">
                <p:oleObj spid="_x0000_s3076" name="" r:id="rId1" imgW="4122420" imgH="754380" progId="Word.Picture.8">
                  <p:embed/>
                </p:oleObj>
              </mc:Choice>
              <mc:Fallback>
                <p:oleObj name="" r:id="rId1" imgW="4122420" imgH="754380" progId="Word.Picture.8">
                  <p:embed/>
                  <p:pic>
                    <p:nvPicPr>
                      <p:cNvPr id="0" name="图片 3075"/>
                      <p:cNvPicPr/>
                      <p:nvPr/>
                    </p:nvPicPr>
                    <p:blipFill>
                      <a:blip r:embed="rId2"/>
                      <a:stretch>
                        <a:fillRect/>
                      </a:stretch>
                    </p:blipFill>
                    <p:spPr>
                      <a:xfrm>
                        <a:off x="1982788" y="4724400"/>
                        <a:ext cx="8074025" cy="1476375"/>
                      </a:xfrm>
                      <a:prstGeom prst="rect">
                        <a:avLst/>
                      </a:prstGeom>
                      <a:noFill/>
                      <a:ln w="38100">
                        <a:noFill/>
                        <a:miter/>
                      </a:ln>
                    </p:spPr>
                  </p:pic>
                </p:oleObj>
              </mc:Fallback>
            </mc:AlternateContent>
          </a:graphicData>
        </a:graphic>
      </p:graphicFrame>
      <p:sp>
        <p:nvSpPr>
          <p:cNvPr id="2057" name="Rectangle 9"/>
          <p:cNvSpPr/>
          <p:nvPr/>
        </p:nvSpPr>
        <p:spPr>
          <a:xfrm>
            <a:off x="1524000" y="2898776"/>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graphicFrame>
        <p:nvGraphicFramePr>
          <p:cNvPr id="2051" name="Object 8"/>
          <p:cNvGraphicFramePr>
            <a:graphicFrameLocks noChangeAspect="1"/>
          </p:cNvGraphicFramePr>
          <p:nvPr/>
        </p:nvGraphicFramePr>
        <p:xfrm>
          <a:off x="1909763" y="3048000"/>
          <a:ext cx="8448675" cy="1235075"/>
        </p:xfrm>
        <a:graphic>
          <a:graphicData uri="http://schemas.openxmlformats.org/presentationml/2006/ole">
            <mc:AlternateContent xmlns:mc="http://schemas.openxmlformats.org/markup-compatibility/2006">
              <mc:Choice xmlns:v="urn:schemas-microsoft-com:vml" Requires="v">
                <p:oleObj spid="_x0000_s3077" name="" r:id="rId3" imgW="4122420" imgH="603250" progId="Word.Picture.8">
                  <p:embed/>
                </p:oleObj>
              </mc:Choice>
              <mc:Fallback>
                <p:oleObj name="" r:id="rId3" imgW="4122420" imgH="603250" progId="Word.Picture.8">
                  <p:embed/>
                  <p:pic>
                    <p:nvPicPr>
                      <p:cNvPr id="0" name="图片 3076"/>
                      <p:cNvPicPr/>
                      <p:nvPr/>
                    </p:nvPicPr>
                    <p:blipFill>
                      <a:blip r:embed="rId4"/>
                      <a:stretch>
                        <a:fillRect/>
                      </a:stretch>
                    </p:blipFill>
                    <p:spPr>
                      <a:xfrm>
                        <a:off x="1909763" y="3048000"/>
                        <a:ext cx="8448675" cy="1235075"/>
                      </a:xfrm>
                      <a:prstGeom prst="rect">
                        <a:avLst/>
                      </a:prstGeom>
                      <a:noFill/>
                      <a:ln w="38100">
                        <a:noFill/>
                        <a:miter/>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18435" name="Rectangle 2"/>
          <p:cNvSpPr>
            <a:spLocks noGrp="1"/>
          </p:cNvSpPr>
          <p:nvPr>
            <p:ph type="title"/>
          </p:nvPr>
        </p:nvSpPr>
        <p:spPr>
          <a:xfrm>
            <a:off x="2209800" y="0"/>
            <a:ext cx="7772400" cy="1428750"/>
          </a:xfrm>
          <a:ln/>
        </p:spPr>
        <p:txBody>
          <a:bodyPr vert="horz" wrap="square" lIns="92075" tIns="46038" rIns="92075" bIns="46038" anchor="ctr" anchorCtr="0"/>
          <a:p>
            <a:r>
              <a:rPr lang="en-US" altLang="en-US" dirty="0"/>
              <a:t>Using the Keyword </a:t>
            </a:r>
            <a:r>
              <a:rPr lang="en-US" altLang="en-US" sz="4200" dirty="0">
                <a:latin typeface="Courier New" panose="02070309020205020404" pitchFamily="49" charset="0"/>
              </a:rPr>
              <a:t>super</a:t>
            </a:r>
            <a:endParaRPr lang="en-US" altLang="en-US" dirty="0"/>
          </a:p>
        </p:txBody>
      </p:sp>
      <p:sp>
        <p:nvSpPr>
          <p:cNvPr id="18436" name="Rectangle 3"/>
          <p:cNvSpPr>
            <a:spLocks noGrp="1"/>
          </p:cNvSpPr>
          <p:nvPr>
            <p:ph idx="1"/>
          </p:nvPr>
        </p:nvSpPr>
        <p:spPr>
          <a:xfrm>
            <a:off x="2438400" y="3048000"/>
            <a:ext cx="7772400" cy="1066800"/>
          </a:xfrm>
          <a:ln/>
        </p:spPr>
        <p:txBody>
          <a:bodyPr vert="horz" wrap="square" lIns="92075" tIns="46038" rIns="92075" bIns="46038" anchor="t" anchorCtr="0"/>
          <a:p>
            <a:pPr marL="358775" indent="-358775">
              <a:lnSpc>
                <a:spcPct val="90000"/>
              </a:lnSpc>
              <a:spcBef>
                <a:spcPct val="100000"/>
              </a:spcBef>
            </a:pPr>
            <a:r>
              <a:rPr lang="en-US" altLang="en-US" sz="2800" dirty="0">
                <a:solidFill>
                  <a:srgbClr val="C00000"/>
                </a:solidFill>
              </a:rPr>
              <a:t>To call a superclass constructor</a:t>
            </a:r>
            <a:endParaRPr lang="en-US" altLang="en-US" sz="2800" dirty="0">
              <a:solidFill>
                <a:srgbClr val="C00000"/>
              </a:solidFill>
            </a:endParaRPr>
          </a:p>
          <a:p>
            <a:pPr marL="358775" indent="-358775">
              <a:lnSpc>
                <a:spcPct val="90000"/>
              </a:lnSpc>
              <a:spcBef>
                <a:spcPct val="50000"/>
              </a:spcBef>
            </a:pPr>
            <a:r>
              <a:rPr lang="en-US" altLang="en-US" sz="2800" dirty="0">
                <a:solidFill>
                  <a:srgbClr val="C00000"/>
                </a:solidFill>
              </a:rPr>
              <a:t>To call a superclass method</a:t>
            </a:r>
            <a:endParaRPr lang="en-US" altLang="en-US" sz="2800" dirty="0">
              <a:solidFill>
                <a:srgbClr val="C00000"/>
              </a:solidFill>
            </a:endParaRPr>
          </a:p>
        </p:txBody>
      </p:sp>
      <p:sp>
        <p:nvSpPr>
          <p:cNvPr id="18437" name="Text Box 4"/>
          <p:cNvSpPr txBox="1"/>
          <p:nvPr/>
        </p:nvSpPr>
        <p:spPr>
          <a:xfrm>
            <a:off x="2438400" y="1371600"/>
            <a:ext cx="7162800" cy="1476375"/>
          </a:xfrm>
          <a:prstGeom prst="rect">
            <a:avLst/>
          </a:prstGeom>
          <a:noFill/>
          <a:ln w="12700">
            <a:noFill/>
          </a:ln>
        </p:spPr>
        <p:txBody>
          <a:bodyPr>
            <a:spAutoFit/>
          </a:bodyPr>
          <a:p>
            <a:pPr>
              <a:spcBef>
                <a:spcPct val="50000"/>
              </a:spcBef>
            </a:pPr>
            <a:r>
              <a:rPr lang="en-US" altLang="en-US" sz="3000" dirty="0">
                <a:latin typeface="Times New Roman" panose="02020603050405020304" pitchFamily="18" charset="0"/>
              </a:rPr>
              <a:t>The keyword </a:t>
            </a:r>
            <a:r>
              <a:rPr lang="en-US" altLang="en-US" sz="2800" dirty="0">
                <a:solidFill>
                  <a:srgbClr val="C00000"/>
                </a:solidFill>
                <a:latin typeface="Courier New" panose="02070309020205020404" pitchFamily="49" charset="0"/>
              </a:rPr>
              <a:t>super</a:t>
            </a:r>
            <a:r>
              <a:rPr lang="en-US" altLang="en-US" sz="3000" dirty="0">
                <a:latin typeface="Times New Roman" panose="02020603050405020304" pitchFamily="18" charset="0"/>
              </a:rPr>
              <a:t> refers to the superclass of the class in which </a:t>
            </a:r>
            <a:r>
              <a:rPr lang="en-US" altLang="en-US" sz="2800" dirty="0">
                <a:latin typeface="Courier New" panose="02070309020205020404" pitchFamily="49" charset="0"/>
              </a:rPr>
              <a:t>super</a:t>
            </a:r>
            <a:r>
              <a:rPr lang="en-US" altLang="en-US" sz="3000" dirty="0">
                <a:latin typeface="Times New Roman" panose="02020603050405020304" pitchFamily="18" charset="0"/>
              </a:rPr>
              <a:t> appears. This keyword can be used in two ways:</a:t>
            </a:r>
            <a:endParaRPr lang="en-US" altLang="en-US" sz="3000" dirty="0">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19459" name="Rectangle 2"/>
          <p:cNvSpPr>
            <a:spLocks noGrp="1"/>
          </p:cNvSpPr>
          <p:nvPr>
            <p:ph type="title"/>
          </p:nvPr>
        </p:nvSpPr>
        <p:spPr>
          <a:xfrm>
            <a:off x="2209800" y="0"/>
            <a:ext cx="7772400" cy="1428750"/>
          </a:xfrm>
          <a:ln/>
        </p:spPr>
        <p:txBody>
          <a:bodyPr vert="horz" wrap="square" lIns="92075" tIns="46038" rIns="92075" bIns="46038" anchor="ctr" anchorCtr="0"/>
          <a:p>
            <a:r>
              <a:rPr lang="en-US" altLang="en-US" dirty="0"/>
              <a:t>CAUTION</a:t>
            </a:r>
            <a:endParaRPr lang="en-US" altLang="en-US" dirty="0"/>
          </a:p>
        </p:txBody>
      </p:sp>
      <p:sp>
        <p:nvSpPr>
          <p:cNvPr id="19460" name="Text Box 3"/>
          <p:cNvSpPr txBox="1"/>
          <p:nvPr/>
        </p:nvSpPr>
        <p:spPr>
          <a:xfrm>
            <a:off x="2057400" y="1752600"/>
            <a:ext cx="8229600" cy="3415030"/>
          </a:xfrm>
          <a:prstGeom prst="rect">
            <a:avLst/>
          </a:prstGeom>
          <a:noFill/>
          <a:ln w="12700">
            <a:noFill/>
          </a:ln>
        </p:spPr>
        <p:txBody>
          <a:bodyPr>
            <a:spAutoFit/>
          </a:bodyPr>
          <a:p>
            <a:pPr>
              <a:spcBef>
                <a:spcPct val="50000"/>
              </a:spcBef>
            </a:pPr>
            <a:r>
              <a:rPr lang="en-US" altLang="en-US" sz="3600" dirty="0">
                <a:latin typeface="Times New Roman" panose="02020603050405020304" pitchFamily="18" charset="0"/>
                <a:cs typeface="Times New Roman" panose="02020603050405020304" pitchFamily="18" charset="0"/>
              </a:rPr>
              <a:t>You must use the keyword </a:t>
            </a:r>
            <a:r>
              <a:rPr lang="en-US" altLang="en-US" sz="3600" u="sng" dirty="0">
                <a:latin typeface="Times New Roman" panose="02020603050405020304" pitchFamily="18" charset="0"/>
                <a:cs typeface="Times New Roman" panose="02020603050405020304" pitchFamily="18" charset="0"/>
              </a:rPr>
              <a:t>super</a:t>
            </a:r>
            <a:r>
              <a:rPr lang="en-US" altLang="en-US" sz="3600" dirty="0">
                <a:latin typeface="Times New Roman" panose="02020603050405020304" pitchFamily="18" charset="0"/>
                <a:cs typeface="Times New Roman" panose="02020603050405020304" pitchFamily="18" charset="0"/>
              </a:rPr>
              <a:t> to call the superclass constructor. </a:t>
            </a:r>
            <a:r>
              <a:rPr lang="en-US" altLang="en-US" sz="3600" dirty="0">
                <a:solidFill>
                  <a:srgbClr val="C00000"/>
                </a:solidFill>
                <a:latin typeface="Times New Roman" panose="02020603050405020304" pitchFamily="18" charset="0"/>
                <a:cs typeface="Times New Roman" panose="02020603050405020304" pitchFamily="18" charset="0"/>
              </a:rPr>
              <a:t>Invoking a superclass constructor’s name in a subclass causes a syntax error. </a:t>
            </a:r>
            <a:r>
              <a:rPr lang="en-US" altLang="en-US" sz="3600" dirty="0">
                <a:latin typeface="Times New Roman" panose="02020603050405020304" pitchFamily="18" charset="0"/>
                <a:cs typeface="Times New Roman" panose="02020603050405020304" pitchFamily="18" charset="0"/>
              </a:rPr>
              <a:t>Java requires that the statement that uses the keyword </a:t>
            </a:r>
            <a:r>
              <a:rPr lang="en-US" altLang="en-US" sz="3600" u="sng" dirty="0">
                <a:latin typeface="Times New Roman" panose="02020603050405020304" pitchFamily="18" charset="0"/>
                <a:cs typeface="Times New Roman" panose="02020603050405020304" pitchFamily="18" charset="0"/>
              </a:rPr>
              <a:t>super</a:t>
            </a:r>
            <a:r>
              <a:rPr lang="en-US" altLang="en-US" sz="3600" dirty="0">
                <a:latin typeface="Times New Roman" panose="02020603050405020304" pitchFamily="18" charset="0"/>
                <a:cs typeface="Times New Roman" panose="02020603050405020304" pitchFamily="18" charset="0"/>
              </a:rPr>
              <a:t> appear first in the constructor.</a:t>
            </a:r>
            <a:endParaRPr lang="en-US" altLang="en-US" sz="36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0483" name="Rectangle 2"/>
          <p:cNvSpPr>
            <a:spLocks noGrp="1"/>
          </p:cNvSpPr>
          <p:nvPr>
            <p:ph type="title"/>
          </p:nvPr>
        </p:nvSpPr>
        <p:spPr>
          <a:xfrm>
            <a:off x="1295400" y="0"/>
            <a:ext cx="9829800" cy="381000"/>
          </a:xfrm>
          <a:ln/>
        </p:spPr>
        <p:txBody>
          <a:bodyPr vert="horz" wrap="square" lIns="92075" tIns="46038" rIns="92075" bIns="46038" anchor="ctr" anchorCtr="0"/>
          <a:p>
            <a:r>
              <a:rPr lang="en-US" altLang="en-US" sz="3600" dirty="0"/>
              <a:t>Constructor Chaining</a:t>
            </a:r>
            <a:endParaRPr lang="en-US" altLang="en-US" sz="3600" dirty="0"/>
          </a:p>
        </p:txBody>
      </p:sp>
      <p:sp>
        <p:nvSpPr>
          <p:cNvPr id="20484" name="Text Box 3"/>
          <p:cNvSpPr txBox="1"/>
          <p:nvPr/>
        </p:nvSpPr>
        <p:spPr>
          <a:xfrm>
            <a:off x="1752600" y="11430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0485" name="Text Box 5"/>
          <p:cNvSpPr txBox="1"/>
          <p:nvPr/>
        </p:nvSpPr>
        <p:spPr>
          <a:xfrm>
            <a:off x="1981200" y="457200"/>
            <a:ext cx="8534400" cy="706755"/>
          </a:xfrm>
          <a:prstGeom prst="rect">
            <a:avLst/>
          </a:prstGeom>
          <a:noFill/>
          <a:ln w="12700">
            <a:noFill/>
          </a:ln>
        </p:spPr>
        <p:txBody>
          <a:bodyPr>
            <a:spAutoFit/>
          </a:bodyPr>
          <a:p>
            <a:pPr>
              <a:spcBef>
                <a:spcPct val="50000"/>
              </a:spcBef>
            </a:pPr>
            <a:r>
              <a:rPr lang="en-US" altLang="en-US" sz="2000" dirty="0">
                <a:latin typeface="Times New Roman" panose="02020603050405020304" pitchFamily="18" charset="0"/>
                <a:cs typeface="Times New Roman" panose="02020603050405020304" pitchFamily="18" charset="0"/>
              </a:rPr>
              <a:t>Constructing an instance of a class invokes all the superclasses’ constructors along the inheritance chain. This is known as </a:t>
            </a:r>
            <a:r>
              <a:rPr lang="en-US" altLang="en-US" sz="2000" i="1" dirty="0">
                <a:solidFill>
                  <a:srgbClr val="C00000"/>
                </a:solidFill>
                <a:latin typeface="Times New Roman" panose="02020603050405020304" pitchFamily="18" charset="0"/>
                <a:cs typeface="Times New Roman" panose="02020603050405020304" pitchFamily="18" charset="0"/>
              </a:rPr>
              <a:t>constructor chaining</a:t>
            </a:r>
            <a:r>
              <a:rPr lang="en-US" altLang="en-US" sz="2000" dirty="0">
                <a:solidFill>
                  <a:srgbClr val="C00000"/>
                </a:solidFill>
                <a:latin typeface="Times New Roman" panose="02020603050405020304" pitchFamily="18" charset="0"/>
                <a:cs typeface="Times New Roman" panose="02020603050405020304" pitchFamily="18" charset="0"/>
              </a:rPr>
              <a:t>.</a:t>
            </a:r>
            <a:endParaRPr lang="en-US" altLang="en-US" dirty="0">
              <a:solidFill>
                <a:srgbClr val="C00000"/>
              </a:solidFill>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1507" name="Rectangle 2"/>
          <p:cNvSpPr>
            <a:spLocks noGrp="1"/>
          </p:cNvSpPr>
          <p:nvPr>
            <p:ph type="title"/>
          </p:nvPr>
        </p:nvSpPr>
        <p:spPr>
          <a:xfrm>
            <a:off x="3124200" y="228600"/>
            <a:ext cx="6248400" cy="457200"/>
          </a:xfrm>
          <a:ln/>
        </p:spPr>
        <p:txBody>
          <a:bodyPr vert="horz" wrap="square" lIns="92075" tIns="46038" rIns="92075" bIns="46038" anchor="ctr" anchorCtr="0"/>
          <a:p>
            <a:r>
              <a:rPr lang="en-US" altLang="en-US" sz="3600" dirty="0"/>
              <a:t>Trace Execution</a:t>
            </a:r>
            <a:endParaRPr lang="en-US" altLang="en-US" sz="3600" dirty="0"/>
          </a:p>
        </p:txBody>
      </p:sp>
      <p:sp>
        <p:nvSpPr>
          <p:cNvPr id="21508" name="Text Box 3"/>
          <p:cNvSpPr txBox="1"/>
          <p:nvPr/>
        </p:nvSpPr>
        <p:spPr>
          <a:xfrm>
            <a:off x="1752600" y="8382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1509" name="Rectangle 5"/>
          <p:cNvSpPr/>
          <p:nvPr/>
        </p:nvSpPr>
        <p:spPr>
          <a:xfrm>
            <a:off x="1981200" y="990600"/>
            <a:ext cx="4191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1510" name="AutoShape 6"/>
          <p:cNvSpPr/>
          <p:nvPr/>
        </p:nvSpPr>
        <p:spPr>
          <a:xfrm>
            <a:off x="7239000" y="990600"/>
            <a:ext cx="2362200" cy="685800"/>
          </a:xfrm>
          <a:prstGeom prst="wedgeRoundRectCallout">
            <a:avLst>
              <a:gd name="adj1" fmla="val -100671"/>
              <a:gd name="adj2" fmla="val -31481"/>
              <a:gd name="adj3" fmla="val 16667"/>
            </a:avLst>
          </a:prstGeom>
          <a:solidFill>
            <a:schemeClr val="accent1"/>
          </a:solidFill>
          <a:ln w="12700" cap="flat" cmpd="sng">
            <a:solidFill>
              <a:schemeClr val="tx1"/>
            </a:solidFill>
            <a:prstDash val="solid"/>
            <a:miter/>
            <a:headEnd type="none" w="sm" len="sm"/>
            <a:tailEnd type="none" w="sm" len="sm"/>
          </a:ln>
        </p:spPr>
        <p:txBody>
          <a:bodyPr/>
          <a:p>
            <a:pPr algn="ctr"/>
            <a:r>
              <a:rPr lang="en-US" altLang="en-US" sz="2000" dirty="0">
                <a:latin typeface="Times New Roman" panose="02020603050405020304" pitchFamily="18" charset="0"/>
              </a:rPr>
              <a:t>1. Start from the main method</a:t>
            </a:r>
            <a:endParaRPr lang="en-US" altLang="en-US" sz="2000" dirty="0">
              <a:latin typeface="Times New Roman" panose="02020603050405020304" pitchFamily="18" charset="0"/>
            </a:endParaRPr>
          </a:p>
        </p:txBody>
      </p:sp>
      <p:sp>
        <p:nvSpPr>
          <p:cNvPr id="21511" name="Rectangle 7"/>
          <p:cNvSpPr/>
          <p:nvPr/>
        </p:nvSpPr>
        <p:spPr>
          <a:xfrm>
            <a:off x="1524000" y="0"/>
            <a:ext cx="1524000" cy="381000"/>
          </a:xfrm>
          <a:prstGeom prst="rect">
            <a:avLst/>
          </a:prstGeom>
          <a:noFill/>
          <a:ln w="12700" cap="flat" cmpd="sng">
            <a:solidFill>
              <a:srgbClr val="FF0000"/>
            </a:solidFill>
            <a:prstDash val="solid"/>
            <a:miter/>
            <a:headEnd type="none" w="sm" len="sm"/>
            <a:tailEnd type="none" w="sm" len="sm"/>
          </a:ln>
        </p:spPr>
        <p:txBody>
          <a:bodyPr wrap="none" anchor="ctr" anchorCtr="0"/>
          <a:p>
            <a:pPr algn="ctr"/>
            <a:r>
              <a:rPr lang="en-US" altLang="en-US" sz="1800" dirty="0">
                <a:solidFill>
                  <a:schemeClr val="bg2"/>
                </a:solidFill>
                <a:latin typeface="Forte" panose="03060902040502070203" pitchFamily="66" charset="0"/>
              </a:rPr>
              <a:t>animation</a:t>
            </a:r>
            <a:endParaRPr lang="en-US" altLang="en-US" dirty="0">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2531" name="Rectangle 2"/>
          <p:cNvSpPr>
            <a:spLocks noGrp="1"/>
          </p:cNvSpPr>
          <p:nvPr>
            <p:ph type="title"/>
          </p:nvPr>
        </p:nvSpPr>
        <p:spPr>
          <a:xfrm>
            <a:off x="3124200" y="228600"/>
            <a:ext cx="6248400" cy="457200"/>
          </a:xfrm>
          <a:ln/>
        </p:spPr>
        <p:txBody>
          <a:bodyPr vert="horz" wrap="square" lIns="92075" tIns="46038" rIns="92075" bIns="46038" anchor="ctr" anchorCtr="0"/>
          <a:p>
            <a:r>
              <a:rPr lang="en-US" altLang="en-US" sz="3600" dirty="0"/>
              <a:t>Trace Execution</a:t>
            </a:r>
            <a:endParaRPr lang="en-US" altLang="en-US" sz="3600" dirty="0"/>
          </a:p>
        </p:txBody>
      </p:sp>
      <p:sp>
        <p:nvSpPr>
          <p:cNvPr id="22532" name="Text Box 3"/>
          <p:cNvSpPr txBox="1"/>
          <p:nvPr/>
        </p:nvSpPr>
        <p:spPr>
          <a:xfrm>
            <a:off x="1752600" y="8382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2533" name="Rectangle 4"/>
          <p:cNvSpPr/>
          <p:nvPr/>
        </p:nvSpPr>
        <p:spPr>
          <a:xfrm>
            <a:off x="2057400" y="1219200"/>
            <a:ext cx="4191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2534" name="AutoShape 5"/>
          <p:cNvSpPr/>
          <p:nvPr/>
        </p:nvSpPr>
        <p:spPr>
          <a:xfrm>
            <a:off x="7239000" y="990600"/>
            <a:ext cx="2362200" cy="685800"/>
          </a:xfrm>
          <a:prstGeom prst="wedgeRoundRectCallout">
            <a:avLst>
              <a:gd name="adj1" fmla="val -99194"/>
              <a:gd name="adj2" fmla="val 694"/>
              <a:gd name="adj3" fmla="val 16667"/>
            </a:avLst>
          </a:prstGeom>
          <a:solidFill>
            <a:schemeClr val="accent1"/>
          </a:solidFill>
          <a:ln w="12700" cap="flat" cmpd="sng">
            <a:solidFill>
              <a:schemeClr val="tx1"/>
            </a:solidFill>
            <a:prstDash val="solid"/>
            <a:miter/>
            <a:headEnd type="none" w="sm" len="sm"/>
            <a:tailEnd type="none" w="sm" len="sm"/>
          </a:ln>
        </p:spPr>
        <p:txBody>
          <a:bodyPr/>
          <a:p>
            <a:pPr algn="ctr"/>
            <a:r>
              <a:rPr lang="en-US" altLang="en-US" sz="2000" dirty="0">
                <a:latin typeface="Times New Roman" panose="02020603050405020304" pitchFamily="18" charset="0"/>
              </a:rPr>
              <a:t>2. Invoke Faculty constructor</a:t>
            </a:r>
            <a:endParaRPr lang="en-US" altLang="en-US" sz="2000" dirty="0">
              <a:latin typeface="Times New Roman" panose="02020603050405020304" pitchFamily="18" charset="0"/>
            </a:endParaRPr>
          </a:p>
        </p:txBody>
      </p:sp>
      <p:sp>
        <p:nvSpPr>
          <p:cNvPr id="22535" name="Rectangle 6"/>
          <p:cNvSpPr/>
          <p:nvPr/>
        </p:nvSpPr>
        <p:spPr>
          <a:xfrm>
            <a:off x="2057400" y="1828800"/>
            <a:ext cx="42672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2536" name="Rectangle 7"/>
          <p:cNvSpPr/>
          <p:nvPr/>
        </p:nvSpPr>
        <p:spPr>
          <a:xfrm>
            <a:off x="1524000" y="0"/>
            <a:ext cx="1524000" cy="381000"/>
          </a:xfrm>
          <a:prstGeom prst="rect">
            <a:avLst/>
          </a:prstGeom>
          <a:noFill/>
          <a:ln w="12700" cap="flat" cmpd="sng">
            <a:solidFill>
              <a:srgbClr val="FF0000"/>
            </a:solidFill>
            <a:prstDash val="solid"/>
            <a:miter/>
            <a:headEnd type="none" w="sm" len="sm"/>
            <a:tailEnd type="none" w="sm" len="sm"/>
          </a:ln>
        </p:spPr>
        <p:txBody>
          <a:bodyPr wrap="none" anchor="ctr" anchorCtr="0"/>
          <a:p>
            <a:pPr algn="ctr"/>
            <a:r>
              <a:rPr lang="en-US" altLang="en-US" sz="1800" dirty="0">
                <a:solidFill>
                  <a:schemeClr val="bg2"/>
                </a:solidFill>
                <a:latin typeface="Forte" panose="03060902040502070203" pitchFamily="66" charset="0"/>
              </a:rPr>
              <a:t>animation</a:t>
            </a:r>
            <a:endParaRPr lang="en-US" altLang="en-US" dirty="0">
              <a:latin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3555" name="Rectangle 2"/>
          <p:cNvSpPr>
            <a:spLocks noGrp="1"/>
          </p:cNvSpPr>
          <p:nvPr>
            <p:ph type="title"/>
          </p:nvPr>
        </p:nvSpPr>
        <p:spPr>
          <a:xfrm>
            <a:off x="3124200" y="228600"/>
            <a:ext cx="6248400" cy="457200"/>
          </a:xfrm>
          <a:ln/>
        </p:spPr>
        <p:txBody>
          <a:bodyPr vert="horz" wrap="square" lIns="92075" tIns="46038" rIns="92075" bIns="46038" anchor="ctr" anchorCtr="0"/>
          <a:p>
            <a:r>
              <a:rPr lang="en-US" altLang="en-US" sz="3600" dirty="0"/>
              <a:t>Trace Execution</a:t>
            </a:r>
            <a:endParaRPr lang="en-US" altLang="en-US" sz="3600" dirty="0"/>
          </a:p>
        </p:txBody>
      </p:sp>
      <p:sp>
        <p:nvSpPr>
          <p:cNvPr id="23556" name="Text Box 3"/>
          <p:cNvSpPr txBox="1"/>
          <p:nvPr/>
        </p:nvSpPr>
        <p:spPr>
          <a:xfrm>
            <a:off x="1752600" y="8382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3557" name="Rectangle 4"/>
          <p:cNvSpPr/>
          <p:nvPr/>
        </p:nvSpPr>
        <p:spPr>
          <a:xfrm>
            <a:off x="2057400" y="1219200"/>
            <a:ext cx="4191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3558" name="AutoShape 5"/>
          <p:cNvSpPr/>
          <p:nvPr/>
        </p:nvSpPr>
        <p:spPr>
          <a:xfrm>
            <a:off x="7086600" y="2362200"/>
            <a:ext cx="3124200" cy="685800"/>
          </a:xfrm>
          <a:prstGeom prst="wedgeRoundRectCallout">
            <a:avLst>
              <a:gd name="adj1" fmla="val -94769"/>
              <a:gd name="adj2" fmla="val 76620"/>
              <a:gd name="adj3" fmla="val 16667"/>
            </a:avLst>
          </a:prstGeom>
          <a:solidFill>
            <a:schemeClr val="accent1"/>
          </a:solidFill>
          <a:ln w="12700" cap="flat" cmpd="sng">
            <a:solidFill>
              <a:schemeClr val="tx1"/>
            </a:solidFill>
            <a:prstDash val="solid"/>
            <a:miter/>
            <a:headEnd type="none" w="sm" len="sm"/>
            <a:tailEnd type="none" w="sm" len="sm"/>
          </a:ln>
        </p:spPr>
        <p:txBody>
          <a:bodyPr/>
          <a:p>
            <a:pPr algn="ctr"/>
            <a:r>
              <a:rPr lang="en-US" altLang="en-US" sz="2000" dirty="0">
                <a:latin typeface="Times New Roman" panose="02020603050405020304" pitchFamily="18" charset="0"/>
              </a:rPr>
              <a:t>3. Invoke Employee’s no-arg constructor</a:t>
            </a:r>
            <a:endParaRPr lang="en-US" altLang="en-US" sz="2000" dirty="0">
              <a:latin typeface="Times New Roman" panose="02020603050405020304" pitchFamily="18" charset="0"/>
            </a:endParaRPr>
          </a:p>
        </p:txBody>
      </p:sp>
      <p:sp>
        <p:nvSpPr>
          <p:cNvPr id="23559" name="Rectangle 6"/>
          <p:cNvSpPr/>
          <p:nvPr/>
        </p:nvSpPr>
        <p:spPr>
          <a:xfrm>
            <a:off x="2057400" y="1828800"/>
            <a:ext cx="42672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3560" name="Rectangle 7"/>
          <p:cNvSpPr/>
          <p:nvPr/>
        </p:nvSpPr>
        <p:spPr>
          <a:xfrm>
            <a:off x="1981200" y="3124200"/>
            <a:ext cx="42672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3561" name="Rectangle 8"/>
          <p:cNvSpPr/>
          <p:nvPr/>
        </p:nvSpPr>
        <p:spPr>
          <a:xfrm>
            <a:off x="1524000" y="0"/>
            <a:ext cx="1524000" cy="381000"/>
          </a:xfrm>
          <a:prstGeom prst="rect">
            <a:avLst/>
          </a:prstGeom>
          <a:noFill/>
          <a:ln w="12700" cap="flat" cmpd="sng">
            <a:solidFill>
              <a:srgbClr val="FF0000"/>
            </a:solidFill>
            <a:prstDash val="solid"/>
            <a:miter/>
            <a:headEnd type="none" w="sm" len="sm"/>
            <a:tailEnd type="none" w="sm" len="sm"/>
          </a:ln>
        </p:spPr>
        <p:txBody>
          <a:bodyPr wrap="none" anchor="ctr" anchorCtr="0"/>
          <a:p>
            <a:pPr algn="ctr"/>
            <a:r>
              <a:rPr lang="en-US" altLang="en-US" sz="1800" dirty="0">
                <a:solidFill>
                  <a:schemeClr val="bg2"/>
                </a:solidFill>
                <a:latin typeface="Forte" panose="03060902040502070203" pitchFamily="66" charset="0"/>
              </a:rPr>
              <a:t>animation</a:t>
            </a:r>
            <a:endParaRPr lang="en-US" altLang="en-US" dirty="0">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4579" name="Rectangle 2"/>
          <p:cNvSpPr>
            <a:spLocks noGrp="1"/>
          </p:cNvSpPr>
          <p:nvPr>
            <p:ph type="title"/>
          </p:nvPr>
        </p:nvSpPr>
        <p:spPr>
          <a:xfrm>
            <a:off x="3124200" y="228600"/>
            <a:ext cx="6248400" cy="457200"/>
          </a:xfrm>
          <a:ln/>
        </p:spPr>
        <p:txBody>
          <a:bodyPr vert="horz" wrap="square" lIns="92075" tIns="46038" rIns="92075" bIns="46038" anchor="ctr" anchorCtr="0"/>
          <a:p>
            <a:r>
              <a:rPr lang="en-US" altLang="en-US" sz="3600" dirty="0"/>
              <a:t>Trace Execution</a:t>
            </a:r>
            <a:endParaRPr lang="en-US" altLang="en-US" sz="3600" dirty="0"/>
          </a:p>
        </p:txBody>
      </p:sp>
      <p:sp>
        <p:nvSpPr>
          <p:cNvPr id="24580" name="Text Box 3"/>
          <p:cNvSpPr txBox="1"/>
          <p:nvPr/>
        </p:nvSpPr>
        <p:spPr>
          <a:xfrm>
            <a:off x="1752600" y="8382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4581" name="Rectangle 4"/>
          <p:cNvSpPr/>
          <p:nvPr/>
        </p:nvSpPr>
        <p:spPr>
          <a:xfrm>
            <a:off x="2057400" y="1219200"/>
            <a:ext cx="4191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4582" name="AutoShape 5"/>
          <p:cNvSpPr/>
          <p:nvPr/>
        </p:nvSpPr>
        <p:spPr>
          <a:xfrm>
            <a:off x="6781800" y="2514600"/>
            <a:ext cx="3352800" cy="685800"/>
          </a:xfrm>
          <a:prstGeom prst="wedgeRoundRectCallout">
            <a:avLst>
              <a:gd name="adj1" fmla="val -84898"/>
              <a:gd name="adj2" fmla="val 76620"/>
              <a:gd name="adj3" fmla="val 16667"/>
            </a:avLst>
          </a:prstGeom>
          <a:solidFill>
            <a:schemeClr val="accent1"/>
          </a:solidFill>
          <a:ln w="12700" cap="flat" cmpd="sng">
            <a:solidFill>
              <a:schemeClr val="tx1"/>
            </a:solidFill>
            <a:prstDash val="solid"/>
            <a:miter/>
            <a:headEnd type="none" w="sm" len="sm"/>
            <a:tailEnd type="none" w="sm" len="sm"/>
          </a:ln>
        </p:spPr>
        <p:txBody>
          <a:bodyPr/>
          <a:p>
            <a:pPr algn="ctr"/>
            <a:r>
              <a:rPr lang="en-US" altLang="en-US" sz="2000" dirty="0">
                <a:latin typeface="Times New Roman" panose="02020603050405020304" pitchFamily="18" charset="0"/>
              </a:rPr>
              <a:t>4. Invoke Employee(String) constructor</a:t>
            </a:r>
            <a:endParaRPr lang="en-US" altLang="en-US" sz="2000" dirty="0">
              <a:latin typeface="Times New Roman" panose="02020603050405020304" pitchFamily="18" charset="0"/>
            </a:endParaRPr>
          </a:p>
        </p:txBody>
      </p:sp>
      <p:sp>
        <p:nvSpPr>
          <p:cNvPr id="24583" name="Rectangle 6"/>
          <p:cNvSpPr/>
          <p:nvPr/>
        </p:nvSpPr>
        <p:spPr>
          <a:xfrm>
            <a:off x="2057400" y="1828800"/>
            <a:ext cx="42672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4584" name="Rectangle 7"/>
          <p:cNvSpPr/>
          <p:nvPr/>
        </p:nvSpPr>
        <p:spPr>
          <a:xfrm>
            <a:off x="2209800" y="3352800"/>
            <a:ext cx="5715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4585" name="Rectangle 8"/>
          <p:cNvSpPr/>
          <p:nvPr/>
        </p:nvSpPr>
        <p:spPr>
          <a:xfrm>
            <a:off x="1981200" y="4191000"/>
            <a:ext cx="5715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4586" name="Rectangle 9"/>
          <p:cNvSpPr/>
          <p:nvPr/>
        </p:nvSpPr>
        <p:spPr>
          <a:xfrm>
            <a:off x="1524000" y="0"/>
            <a:ext cx="1524000" cy="381000"/>
          </a:xfrm>
          <a:prstGeom prst="rect">
            <a:avLst/>
          </a:prstGeom>
          <a:noFill/>
          <a:ln w="12700" cap="flat" cmpd="sng">
            <a:solidFill>
              <a:srgbClr val="FF0000"/>
            </a:solidFill>
            <a:prstDash val="solid"/>
            <a:miter/>
            <a:headEnd type="none" w="sm" len="sm"/>
            <a:tailEnd type="none" w="sm" len="sm"/>
          </a:ln>
        </p:spPr>
        <p:txBody>
          <a:bodyPr wrap="none" anchor="ctr" anchorCtr="0"/>
          <a:p>
            <a:pPr algn="ctr"/>
            <a:r>
              <a:rPr lang="en-US" altLang="en-US" sz="1800" dirty="0">
                <a:solidFill>
                  <a:schemeClr val="bg2"/>
                </a:solidFill>
                <a:latin typeface="Forte" panose="03060902040502070203" pitchFamily="66" charset="0"/>
              </a:rPr>
              <a:t>animation</a:t>
            </a:r>
            <a:endParaRPr lang="en-US" altLang="en-US" dirty="0">
              <a:latin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5603" name="Rectangle 2"/>
          <p:cNvSpPr>
            <a:spLocks noGrp="1"/>
          </p:cNvSpPr>
          <p:nvPr>
            <p:ph type="title"/>
          </p:nvPr>
        </p:nvSpPr>
        <p:spPr>
          <a:xfrm>
            <a:off x="3124200" y="228600"/>
            <a:ext cx="6248400" cy="457200"/>
          </a:xfrm>
          <a:ln/>
        </p:spPr>
        <p:txBody>
          <a:bodyPr vert="horz" wrap="square" lIns="92075" tIns="46038" rIns="92075" bIns="46038" anchor="ctr" anchorCtr="0"/>
          <a:p>
            <a:r>
              <a:rPr lang="en-US" altLang="en-US" sz="3600" dirty="0"/>
              <a:t>Trace Execution</a:t>
            </a:r>
            <a:endParaRPr lang="en-US" altLang="en-US" sz="3600" dirty="0"/>
          </a:p>
        </p:txBody>
      </p:sp>
      <p:sp>
        <p:nvSpPr>
          <p:cNvPr id="25604" name="Text Box 3"/>
          <p:cNvSpPr txBox="1"/>
          <p:nvPr/>
        </p:nvSpPr>
        <p:spPr>
          <a:xfrm>
            <a:off x="1752600" y="8382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5605" name="Rectangle 4"/>
          <p:cNvSpPr/>
          <p:nvPr/>
        </p:nvSpPr>
        <p:spPr>
          <a:xfrm>
            <a:off x="2057400" y="1219200"/>
            <a:ext cx="4191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5606" name="AutoShape 5"/>
          <p:cNvSpPr/>
          <p:nvPr/>
        </p:nvSpPr>
        <p:spPr>
          <a:xfrm>
            <a:off x="6781800" y="4648200"/>
            <a:ext cx="3352800" cy="685800"/>
          </a:xfrm>
          <a:prstGeom prst="wedgeRoundRectCallout">
            <a:avLst>
              <a:gd name="adj1" fmla="val -81773"/>
              <a:gd name="adj2" fmla="val 90278"/>
              <a:gd name="adj3" fmla="val 16667"/>
            </a:avLst>
          </a:prstGeom>
          <a:solidFill>
            <a:schemeClr val="accent1"/>
          </a:solidFill>
          <a:ln w="12700" cap="flat" cmpd="sng">
            <a:solidFill>
              <a:schemeClr val="tx1"/>
            </a:solidFill>
            <a:prstDash val="solid"/>
            <a:miter/>
            <a:headEnd type="none" w="sm" len="sm"/>
            <a:tailEnd type="none" w="sm" len="sm"/>
          </a:ln>
        </p:spPr>
        <p:txBody>
          <a:bodyPr/>
          <a:p>
            <a:pPr algn="ctr"/>
            <a:r>
              <a:rPr lang="en-US" altLang="en-US" sz="2000" dirty="0">
                <a:latin typeface="Times New Roman" panose="02020603050405020304" pitchFamily="18" charset="0"/>
              </a:rPr>
              <a:t>5. Invoke Person() constructor</a:t>
            </a:r>
            <a:endParaRPr lang="en-US" altLang="en-US" sz="2000" dirty="0">
              <a:latin typeface="Times New Roman" panose="02020603050405020304" pitchFamily="18" charset="0"/>
            </a:endParaRPr>
          </a:p>
        </p:txBody>
      </p:sp>
      <p:sp>
        <p:nvSpPr>
          <p:cNvPr id="25607" name="Rectangle 6"/>
          <p:cNvSpPr/>
          <p:nvPr/>
        </p:nvSpPr>
        <p:spPr>
          <a:xfrm>
            <a:off x="2057400" y="1828800"/>
            <a:ext cx="42672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5608" name="Rectangle 7"/>
          <p:cNvSpPr/>
          <p:nvPr/>
        </p:nvSpPr>
        <p:spPr>
          <a:xfrm>
            <a:off x="2209800" y="3352800"/>
            <a:ext cx="5715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5609" name="Rectangle 8"/>
          <p:cNvSpPr/>
          <p:nvPr/>
        </p:nvSpPr>
        <p:spPr>
          <a:xfrm>
            <a:off x="1981200" y="4191000"/>
            <a:ext cx="5715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5610" name="Rectangle 9"/>
          <p:cNvSpPr/>
          <p:nvPr/>
        </p:nvSpPr>
        <p:spPr>
          <a:xfrm>
            <a:off x="1981200" y="5486400"/>
            <a:ext cx="5715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5611" name="Rectangle 10"/>
          <p:cNvSpPr/>
          <p:nvPr/>
        </p:nvSpPr>
        <p:spPr>
          <a:xfrm>
            <a:off x="1524000" y="0"/>
            <a:ext cx="1524000" cy="381000"/>
          </a:xfrm>
          <a:prstGeom prst="rect">
            <a:avLst/>
          </a:prstGeom>
          <a:noFill/>
          <a:ln w="12700" cap="flat" cmpd="sng">
            <a:solidFill>
              <a:srgbClr val="FF0000"/>
            </a:solidFill>
            <a:prstDash val="solid"/>
            <a:miter/>
            <a:headEnd type="none" w="sm" len="sm"/>
            <a:tailEnd type="none" w="sm" len="sm"/>
          </a:ln>
        </p:spPr>
        <p:txBody>
          <a:bodyPr wrap="none" anchor="ctr" anchorCtr="0"/>
          <a:p>
            <a:pPr algn="ctr"/>
            <a:r>
              <a:rPr lang="en-US" altLang="en-US" sz="1800" dirty="0">
                <a:solidFill>
                  <a:schemeClr val="bg2"/>
                </a:solidFill>
                <a:latin typeface="Forte" panose="03060902040502070203" pitchFamily="66" charset="0"/>
              </a:rPr>
              <a:t>animation</a:t>
            </a:r>
            <a:endParaRPr lang="en-US" altLang="en-US" dirty="0">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6627" name="Rectangle 2"/>
          <p:cNvSpPr>
            <a:spLocks noGrp="1"/>
          </p:cNvSpPr>
          <p:nvPr>
            <p:ph type="title"/>
          </p:nvPr>
        </p:nvSpPr>
        <p:spPr>
          <a:xfrm>
            <a:off x="3124200" y="228600"/>
            <a:ext cx="6248400" cy="457200"/>
          </a:xfrm>
          <a:ln/>
        </p:spPr>
        <p:txBody>
          <a:bodyPr vert="horz" wrap="square" lIns="92075" tIns="46038" rIns="92075" bIns="46038" anchor="ctr" anchorCtr="0"/>
          <a:p>
            <a:r>
              <a:rPr lang="en-US" altLang="en-US" sz="3600" dirty="0"/>
              <a:t>Trace Execution</a:t>
            </a:r>
            <a:endParaRPr lang="en-US" altLang="en-US" sz="3600" dirty="0"/>
          </a:p>
        </p:txBody>
      </p:sp>
      <p:sp>
        <p:nvSpPr>
          <p:cNvPr id="26628" name="Text Box 3"/>
          <p:cNvSpPr txBox="1"/>
          <p:nvPr/>
        </p:nvSpPr>
        <p:spPr>
          <a:xfrm>
            <a:off x="1752600" y="8382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6629" name="Rectangle 4"/>
          <p:cNvSpPr/>
          <p:nvPr/>
        </p:nvSpPr>
        <p:spPr>
          <a:xfrm>
            <a:off x="2057400" y="1219200"/>
            <a:ext cx="4191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6630" name="AutoShape 5"/>
          <p:cNvSpPr/>
          <p:nvPr/>
        </p:nvSpPr>
        <p:spPr>
          <a:xfrm>
            <a:off x="6781800" y="4876800"/>
            <a:ext cx="3352800" cy="685800"/>
          </a:xfrm>
          <a:prstGeom prst="wedgeRoundRectCallout">
            <a:avLst>
              <a:gd name="adj1" fmla="val -84898"/>
              <a:gd name="adj2" fmla="val 76620"/>
              <a:gd name="adj3" fmla="val 16667"/>
            </a:avLst>
          </a:prstGeom>
          <a:solidFill>
            <a:schemeClr val="accent1"/>
          </a:solidFill>
          <a:ln w="12700" cap="flat" cmpd="sng">
            <a:solidFill>
              <a:schemeClr val="tx1"/>
            </a:solidFill>
            <a:prstDash val="solid"/>
            <a:miter/>
            <a:headEnd type="none" w="sm" len="sm"/>
            <a:tailEnd type="none" w="sm" len="sm"/>
          </a:ln>
        </p:spPr>
        <p:txBody>
          <a:bodyPr/>
          <a:p>
            <a:pPr algn="ctr"/>
            <a:r>
              <a:rPr lang="en-US" altLang="en-US" sz="2000" dirty="0">
                <a:latin typeface="Times New Roman" panose="02020603050405020304" pitchFamily="18" charset="0"/>
              </a:rPr>
              <a:t>6. Execute println</a:t>
            </a:r>
            <a:endParaRPr lang="en-US" altLang="en-US" sz="2000" dirty="0">
              <a:latin typeface="Times New Roman" panose="02020603050405020304" pitchFamily="18" charset="0"/>
            </a:endParaRPr>
          </a:p>
        </p:txBody>
      </p:sp>
      <p:sp>
        <p:nvSpPr>
          <p:cNvPr id="26631" name="Rectangle 6"/>
          <p:cNvSpPr/>
          <p:nvPr/>
        </p:nvSpPr>
        <p:spPr>
          <a:xfrm>
            <a:off x="2057400" y="1828800"/>
            <a:ext cx="42672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6632" name="Rectangle 7"/>
          <p:cNvSpPr/>
          <p:nvPr/>
        </p:nvSpPr>
        <p:spPr>
          <a:xfrm>
            <a:off x="2209800" y="3352800"/>
            <a:ext cx="5715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6633" name="Rectangle 8"/>
          <p:cNvSpPr/>
          <p:nvPr/>
        </p:nvSpPr>
        <p:spPr>
          <a:xfrm>
            <a:off x="1981200" y="4191000"/>
            <a:ext cx="5715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6634" name="Rectangle 9"/>
          <p:cNvSpPr/>
          <p:nvPr/>
        </p:nvSpPr>
        <p:spPr>
          <a:xfrm>
            <a:off x="2209800" y="5715000"/>
            <a:ext cx="70104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6635" name="Rectangle 10"/>
          <p:cNvSpPr/>
          <p:nvPr/>
        </p:nvSpPr>
        <p:spPr>
          <a:xfrm>
            <a:off x="1524000" y="0"/>
            <a:ext cx="1524000" cy="381000"/>
          </a:xfrm>
          <a:prstGeom prst="rect">
            <a:avLst/>
          </a:prstGeom>
          <a:noFill/>
          <a:ln w="12700" cap="flat" cmpd="sng">
            <a:solidFill>
              <a:srgbClr val="FF0000"/>
            </a:solidFill>
            <a:prstDash val="solid"/>
            <a:miter/>
            <a:headEnd type="none" w="sm" len="sm"/>
            <a:tailEnd type="none" w="sm" len="sm"/>
          </a:ln>
        </p:spPr>
        <p:txBody>
          <a:bodyPr wrap="none" anchor="ctr" anchorCtr="0"/>
          <a:p>
            <a:pPr algn="ctr"/>
            <a:r>
              <a:rPr lang="en-US" altLang="en-US" sz="1800" dirty="0">
                <a:solidFill>
                  <a:schemeClr val="bg2"/>
                </a:solidFill>
                <a:latin typeface="Forte" panose="03060902040502070203" pitchFamily="66" charset="0"/>
              </a:rPr>
              <a:t>animation</a:t>
            </a:r>
            <a:endParaRPr lang="en-US" altLang="en-US" dirty="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7651" name="Rectangle 2"/>
          <p:cNvSpPr>
            <a:spLocks noGrp="1"/>
          </p:cNvSpPr>
          <p:nvPr>
            <p:ph type="title"/>
          </p:nvPr>
        </p:nvSpPr>
        <p:spPr>
          <a:xfrm>
            <a:off x="3124200" y="228600"/>
            <a:ext cx="6248400" cy="457200"/>
          </a:xfrm>
          <a:ln/>
        </p:spPr>
        <p:txBody>
          <a:bodyPr vert="horz" wrap="square" lIns="92075" tIns="46038" rIns="92075" bIns="46038" anchor="ctr" anchorCtr="0"/>
          <a:p>
            <a:r>
              <a:rPr lang="en-US" altLang="en-US" sz="3600" dirty="0"/>
              <a:t>Trace Execution</a:t>
            </a:r>
            <a:endParaRPr lang="en-US" altLang="en-US" sz="3600" dirty="0"/>
          </a:p>
        </p:txBody>
      </p:sp>
      <p:sp>
        <p:nvSpPr>
          <p:cNvPr id="27652" name="Text Box 3"/>
          <p:cNvSpPr txBox="1"/>
          <p:nvPr/>
        </p:nvSpPr>
        <p:spPr>
          <a:xfrm>
            <a:off x="1752600" y="8382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7653" name="Rectangle 4"/>
          <p:cNvSpPr/>
          <p:nvPr/>
        </p:nvSpPr>
        <p:spPr>
          <a:xfrm>
            <a:off x="2057400" y="1219200"/>
            <a:ext cx="4191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7654" name="AutoShape 5"/>
          <p:cNvSpPr/>
          <p:nvPr/>
        </p:nvSpPr>
        <p:spPr>
          <a:xfrm>
            <a:off x="6781800" y="4876800"/>
            <a:ext cx="3352800" cy="685800"/>
          </a:xfrm>
          <a:prstGeom prst="wedgeRoundRectCallout">
            <a:avLst>
              <a:gd name="adj1" fmla="val -87310"/>
              <a:gd name="adj2" fmla="val -103935"/>
              <a:gd name="adj3" fmla="val 16667"/>
            </a:avLst>
          </a:prstGeom>
          <a:solidFill>
            <a:schemeClr val="accent1"/>
          </a:solidFill>
          <a:ln w="12700" cap="flat" cmpd="sng">
            <a:solidFill>
              <a:schemeClr val="tx1"/>
            </a:solidFill>
            <a:prstDash val="solid"/>
            <a:miter/>
            <a:headEnd type="none" w="sm" len="sm"/>
            <a:tailEnd type="none" w="sm" len="sm"/>
          </a:ln>
        </p:spPr>
        <p:txBody>
          <a:bodyPr/>
          <a:p>
            <a:pPr algn="ctr"/>
            <a:r>
              <a:rPr lang="en-US" altLang="en-US" sz="2000" dirty="0">
                <a:latin typeface="Times New Roman" panose="02020603050405020304" pitchFamily="18" charset="0"/>
              </a:rPr>
              <a:t>7. Execute println</a:t>
            </a:r>
            <a:endParaRPr lang="en-US" altLang="en-US" sz="2000" dirty="0">
              <a:latin typeface="Times New Roman" panose="02020603050405020304" pitchFamily="18" charset="0"/>
            </a:endParaRPr>
          </a:p>
        </p:txBody>
      </p:sp>
      <p:sp>
        <p:nvSpPr>
          <p:cNvPr id="27655" name="Rectangle 6"/>
          <p:cNvSpPr/>
          <p:nvPr/>
        </p:nvSpPr>
        <p:spPr>
          <a:xfrm>
            <a:off x="2057400" y="1828800"/>
            <a:ext cx="42672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7656" name="Rectangle 7"/>
          <p:cNvSpPr/>
          <p:nvPr/>
        </p:nvSpPr>
        <p:spPr>
          <a:xfrm>
            <a:off x="2209800" y="3352800"/>
            <a:ext cx="5715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7657" name="Rectangle 9"/>
          <p:cNvSpPr/>
          <p:nvPr/>
        </p:nvSpPr>
        <p:spPr>
          <a:xfrm>
            <a:off x="2209800" y="4419600"/>
            <a:ext cx="70104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7658" name="Rectangle 10"/>
          <p:cNvSpPr/>
          <p:nvPr/>
        </p:nvSpPr>
        <p:spPr>
          <a:xfrm>
            <a:off x="1524000" y="0"/>
            <a:ext cx="1524000" cy="381000"/>
          </a:xfrm>
          <a:prstGeom prst="rect">
            <a:avLst/>
          </a:prstGeom>
          <a:noFill/>
          <a:ln w="12700" cap="flat" cmpd="sng">
            <a:solidFill>
              <a:srgbClr val="FF0000"/>
            </a:solidFill>
            <a:prstDash val="solid"/>
            <a:miter/>
            <a:headEnd type="none" w="sm" len="sm"/>
            <a:tailEnd type="none" w="sm" len="sm"/>
          </a:ln>
        </p:spPr>
        <p:txBody>
          <a:bodyPr wrap="none" anchor="ctr" anchorCtr="0"/>
          <a:p>
            <a:pPr algn="ctr"/>
            <a:r>
              <a:rPr lang="en-US" altLang="en-US" sz="1800" dirty="0">
                <a:solidFill>
                  <a:schemeClr val="bg2"/>
                </a:solidFill>
                <a:latin typeface="Forte" panose="03060902040502070203" pitchFamily="66" charset="0"/>
              </a:rPr>
              <a:t>animation</a:t>
            </a:r>
            <a:endParaRPr lang="en-US" altLang="en-US" dirty="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8675" name="Rectangle 2"/>
          <p:cNvSpPr>
            <a:spLocks noGrp="1"/>
          </p:cNvSpPr>
          <p:nvPr>
            <p:ph type="title"/>
          </p:nvPr>
        </p:nvSpPr>
        <p:spPr>
          <a:xfrm>
            <a:off x="3124200" y="228600"/>
            <a:ext cx="6248400" cy="457200"/>
          </a:xfrm>
          <a:ln/>
        </p:spPr>
        <p:txBody>
          <a:bodyPr vert="horz" wrap="square" lIns="92075" tIns="46038" rIns="92075" bIns="46038" anchor="ctr" anchorCtr="0"/>
          <a:p>
            <a:r>
              <a:rPr lang="en-US" altLang="en-US" sz="3600" dirty="0"/>
              <a:t>Trace Execution</a:t>
            </a:r>
            <a:endParaRPr lang="en-US" altLang="en-US" sz="3600" dirty="0"/>
          </a:p>
        </p:txBody>
      </p:sp>
      <p:sp>
        <p:nvSpPr>
          <p:cNvPr id="28676" name="Text Box 3"/>
          <p:cNvSpPr txBox="1"/>
          <p:nvPr/>
        </p:nvSpPr>
        <p:spPr>
          <a:xfrm>
            <a:off x="1752600" y="8382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8677" name="Rectangle 4"/>
          <p:cNvSpPr/>
          <p:nvPr/>
        </p:nvSpPr>
        <p:spPr>
          <a:xfrm>
            <a:off x="2057400" y="1219200"/>
            <a:ext cx="4191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8678" name="AutoShape 5"/>
          <p:cNvSpPr/>
          <p:nvPr/>
        </p:nvSpPr>
        <p:spPr>
          <a:xfrm>
            <a:off x="6781800" y="4876800"/>
            <a:ext cx="3352800" cy="685800"/>
          </a:xfrm>
          <a:prstGeom prst="wedgeRoundRectCallout">
            <a:avLst>
              <a:gd name="adj1" fmla="val -71449"/>
              <a:gd name="adj2" fmla="val -218750"/>
              <a:gd name="adj3" fmla="val 16667"/>
            </a:avLst>
          </a:prstGeom>
          <a:solidFill>
            <a:schemeClr val="accent1"/>
          </a:solidFill>
          <a:ln w="12700" cap="flat" cmpd="sng">
            <a:solidFill>
              <a:schemeClr val="tx1"/>
            </a:solidFill>
            <a:prstDash val="solid"/>
            <a:miter/>
            <a:headEnd type="none" w="sm" len="sm"/>
            <a:tailEnd type="none" w="sm" len="sm"/>
          </a:ln>
        </p:spPr>
        <p:txBody>
          <a:bodyPr/>
          <a:p>
            <a:pPr algn="ctr"/>
            <a:r>
              <a:rPr lang="en-US" altLang="en-US" sz="2000" dirty="0">
                <a:latin typeface="Times New Roman" panose="02020603050405020304" pitchFamily="18" charset="0"/>
              </a:rPr>
              <a:t>8. Execute println</a:t>
            </a:r>
            <a:endParaRPr lang="en-US" altLang="en-US" sz="2000" dirty="0">
              <a:latin typeface="Times New Roman" panose="02020603050405020304" pitchFamily="18" charset="0"/>
            </a:endParaRPr>
          </a:p>
        </p:txBody>
      </p:sp>
      <p:sp>
        <p:nvSpPr>
          <p:cNvPr id="28679" name="Rectangle 6"/>
          <p:cNvSpPr/>
          <p:nvPr/>
        </p:nvSpPr>
        <p:spPr>
          <a:xfrm>
            <a:off x="2057400" y="1828800"/>
            <a:ext cx="42672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8680" name="Rectangle 8"/>
          <p:cNvSpPr/>
          <p:nvPr/>
        </p:nvSpPr>
        <p:spPr>
          <a:xfrm>
            <a:off x="2209800" y="3581400"/>
            <a:ext cx="70104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8681" name="Rectangle 9"/>
          <p:cNvSpPr/>
          <p:nvPr/>
        </p:nvSpPr>
        <p:spPr>
          <a:xfrm>
            <a:off x="1524000" y="0"/>
            <a:ext cx="1524000" cy="381000"/>
          </a:xfrm>
          <a:prstGeom prst="rect">
            <a:avLst/>
          </a:prstGeom>
          <a:noFill/>
          <a:ln w="12700" cap="flat" cmpd="sng">
            <a:solidFill>
              <a:srgbClr val="FF0000"/>
            </a:solidFill>
            <a:prstDash val="solid"/>
            <a:miter/>
            <a:headEnd type="none" w="sm" len="sm"/>
            <a:tailEnd type="none" w="sm" len="sm"/>
          </a:ln>
        </p:spPr>
        <p:txBody>
          <a:bodyPr wrap="none" anchor="ctr" anchorCtr="0"/>
          <a:p>
            <a:pPr algn="ctr"/>
            <a:r>
              <a:rPr lang="en-US" altLang="en-US" sz="1800" dirty="0">
                <a:solidFill>
                  <a:schemeClr val="bg2"/>
                </a:solidFill>
                <a:latin typeface="Forte" panose="03060902040502070203" pitchFamily="66" charset="0"/>
              </a:rPr>
              <a:t>animation</a:t>
            </a:r>
            <a:endParaRPr lang="en-US" altLang="en-US" dirty="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29699" name="Rectangle 2"/>
          <p:cNvSpPr>
            <a:spLocks noGrp="1"/>
          </p:cNvSpPr>
          <p:nvPr>
            <p:ph type="title"/>
          </p:nvPr>
        </p:nvSpPr>
        <p:spPr>
          <a:xfrm>
            <a:off x="3124200" y="228600"/>
            <a:ext cx="6248400" cy="457200"/>
          </a:xfrm>
          <a:ln/>
        </p:spPr>
        <p:txBody>
          <a:bodyPr vert="horz" wrap="square" lIns="92075" tIns="46038" rIns="92075" bIns="46038" anchor="ctr" anchorCtr="0"/>
          <a:p>
            <a:r>
              <a:rPr lang="en-US" altLang="en-US" sz="3600" dirty="0"/>
              <a:t>Trace Execution</a:t>
            </a:r>
            <a:endParaRPr lang="en-US" altLang="en-US" sz="3600" dirty="0"/>
          </a:p>
        </p:txBody>
      </p:sp>
      <p:sp>
        <p:nvSpPr>
          <p:cNvPr id="29700" name="Text Box 3"/>
          <p:cNvSpPr txBox="1"/>
          <p:nvPr/>
        </p:nvSpPr>
        <p:spPr>
          <a:xfrm>
            <a:off x="1752600" y="838200"/>
            <a:ext cx="8686800" cy="5584825"/>
          </a:xfrm>
          <a:prstGeom prst="rect">
            <a:avLst/>
          </a:prstGeom>
          <a:noFill/>
          <a:ln w="9525">
            <a:noFill/>
          </a:ln>
        </p:spPr>
        <p:txBody>
          <a:bodyPr>
            <a:spAutoFit/>
          </a:bodyPr>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public class Faculty extends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new Faculty();</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Faculty()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System.out.println("(4) Faculty's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Employee extends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this("(2) Invoke Employee’s overloaded constructor");</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System.out.println("(3) Employee's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Employee(String s)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System.out.println(s);</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class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public Person()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System.out.println("(1) Person's no-arg constructor is invoked");</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  }</a:t>
            </a:r>
            <a:endParaRPr lang="en-US" altLang="en-US" sz="14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400" b="1" dirty="0">
                <a:solidFill>
                  <a:schemeClr val="tx2"/>
                </a:solidFill>
                <a:latin typeface="Courier New" panose="02070309020205020404" pitchFamily="49" charset="0"/>
                <a:cs typeface="Times New Roman" panose="02020603050405020304" pitchFamily="18" charset="0"/>
              </a:rPr>
              <a:t>}</a:t>
            </a:r>
            <a:endParaRPr lang="en-US" altLang="en-US" sz="1400" b="1" dirty="0">
              <a:solidFill>
                <a:schemeClr val="tx2"/>
              </a:solidFill>
              <a:latin typeface="Courier New" panose="02070309020205020404" pitchFamily="49" charset="0"/>
              <a:ea typeface="Times New Roman" panose="02020603050405020304" pitchFamily="18" charset="0"/>
            </a:endParaRPr>
          </a:p>
        </p:txBody>
      </p:sp>
      <p:sp>
        <p:nvSpPr>
          <p:cNvPr id="29701" name="Rectangle 4"/>
          <p:cNvSpPr/>
          <p:nvPr/>
        </p:nvSpPr>
        <p:spPr>
          <a:xfrm>
            <a:off x="2057400" y="1219200"/>
            <a:ext cx="41910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9702" name="AutoShape 5"/>
          <p:cNvSpPr/>
          <p:nvPr/>
        </p:nvSpPr>
        <p:spPr>
          <a:xfrm>
            <a:off x="6934200" y="2590800"/>
            <a:ext cx="3352800" cy="685800"/>
          </a:xfrm>
          <a:prstGeom prst="wedgeRoundRectCallout">
            <a:avLst>
              <a:gd name="adj1" fmla="val -60083"/>
              <a:gd name="adj2" fmla="val -85417"/>
              <a:gd name="adj3" fmla="val 16667"/>
            </a:avLst>
          </a:prstGeom>
          <a:solidFill>
            <a:schemeClr val="accent1"/>
          </a:solidFill>
          <a:ln w="12700" cap="flat" cmpd="sng">
            <a:solidFill>
              <a:schemeClr val="tx1"/>
            </a:solidFill>
            <a:prstDash val="solid"/>
            <a:miter/>
            <a:headEnd type="none" w="sm" len="sm"/>
            <a:tailEnd type="none" w="sm" len="sm"/>
          </a:ln>
        </p:spPr>
        <p:txBody>
          <a:bodyPr/>
          <a:p>
            <a:pPr algn="ctr"/>
            <a:r>
              <a:rPr lang="en-US" altLang="en-US" sz="2000" dirty="0">
                <a:latin typeface="Times New Roman" panose="02020603050405020304" pitchFamily="18" charset="0"/>
              </a:rPr>
              <a:t>9. Execute println</a:t>
            </a:r>
            <a:endParaRPr lang="en-US" altLang="en-US" sz="2000" dirty="0">
              <a:latin typeface="Times New Roman" panose="02020603050405020304" pitchFamily="18" charset="0"/>
            </a:endParaRPr>
          </a:p>
        </p:txBody>
      </p:sp>
      <p:sp>
        <p:nvSpPr>
          <p:cNvPr id="29703" name="Rectangle 7"/>
          <p:cNvSpPr/>
          <p:nvPr/>
        </p:nvSpPr>
        <p:spPr>
          <a:xfrm>
            <a:off x="2209800" y="2057400"/>
            <a:ext cx="7010400" cy="228600"/>
          </a:xfrm>
          <a:prstGeom prst="rect">
            <a:avLst/>
          </a:prstGeom>
          <a:solidFill>
            <a:schemeClr val="accent1">
              <a:alpha val="45097"/>
            </a:schemeClr>
          </a:solidFill>
          <a:ln w="12700" cap="flat" cmpd="sng">
            <a:solidFill>
              <a:schemeClr val="tx1"/>
            </a:solidFill>
            <a:prstDash val="solid"/>
            <a:miter/>
            <a:headEnd type="none" w="sm" len="sm"/>
            <a:tailEnd type="none" w="sm" len="sm"/>
          </a:ln>
        </p:spPr>
        <p:txBody>
          <a:bodyPr wrap="none" anchor="ctr" anchorCtr="0"/>
          <a:p>
            <a:endParaRPr lang="en-US" altLang="en-US" dirty="0">
              <a:latin typeface="Times New Roman" panose="02020603050405020304" pitchFamily="18" charset="0"/>
            </a:endParaRPr>
          </a:p>
        </p:txBody>
      </p:sp>
      <p:sp>
        <p:nvSpPr>
          <p:cNvPr id="29704" name="Rectangle 8"/>
          <p:cNvSpPr/>
          <p:nvPr/>
        </p:nvSpPr>
        <p:spPr>
          <a:xfrm>
            <a:off x="1524000" y="0"/>
            <a:ext cx="1524000" cy="381000"/>
          </a:xfrm>
          <a:prstGeom prst="rect">
            <a:avLst/>
          </a:prstGeom>
          <a:noFill/>
          <a:ln w="12700" cap="flat" cmpd="sng">
            <a:solidFill>
              <a:srgbClr val="FF0000"/>
            </a:solidFill>
            <a:prstDash val="solid"/>
            <a:miter/>
            <a:headEnd type="none" w="sm" len="sm"/>
            <a:tailEnd type="none" w="sm" len="sm"/>
          </a:ln>
        </p:spPr>
        <p:txBody>
          <a:bodyPr wrap="none" anchor="ctr" anchorCtr="0"/>
          <a:p>
            <a:pPr algn="ctr"/>
            <a:r>
              <a:rPr lang="en-US" altLang="en-US" sz="1800" dirty="0">
                <a:solidFill>
                  <a:schemeClr val="bg2"/>
                </a:solidFill>
                <a:latin typeface="Forte" panose="03060902040502070203" pitchFamily="66" charset="0"/>
              </a:rPr>
              <a:t>animation</a:t>
            </a:r>
            <a:endParaRPr lang="en-US" altLang="en-US" dirty="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0723" name="Rectangle 2"/>
          <p:cNvSpPr>
            <a:spLocks noGrp="1"/>
          </p:cNvSpPr>
          <p:nvPr>
            <p:ph type="title"/>
          </p:nvPr>
        </p:nvSpPr>
        <p:spPr>
          <a:xfrm>
            <a:off x="1981200" y="228600"/>
            <a:ext cx="8382000" cy="838200"/>
          </a:xfrm>
          <a:ln/>
        </p:spPr>
        <p:txBody>
          <a:bodyPr vert="horz" wrap="square" lIns="92075" tIns="46038" rIns="92075" bIns="46038" anchor="ctr" anchorCtr="0"/>
          <a:p>
            <a:r>
              <a:rPr lang="en-US" altLang="en-US" sz="3600" dirty="0"/>
              <a:t>Example on the Impact of a Superclass without no-arg Constructor</a:t>
            </a:r>
            <a:endParaRPr lang="en-US" altLang="en-US" sz="3600" dirty="0"/>
          </a:p>
        </p:txBody>
      </p:sp>
      <p:sp>
        <p:nvSpPr>
          <p:cNvPr id="30724" name="Text Box 3"/>
          <p:cNvSpPr txBox="1"/>
          <p:nvPr/>
        </p:nvSpPr>
        <p:spPr>
          <a:xfrm>
            <a:off x="1828800" y="2438400"/>
            <a:ext cx="8610600" cy="2168525"/>
          </a:xfrm>
          <a:prstGeom prst="rect">
            <a:avLst/>
          </a:prstGeom>
          <a:noFill/>
          <a:ln w="9525">
            <a:noFill/>
          </a:ln>
        </p:spPr>
        <p:txBody>
          <a:bodyPr>
            <a:spAutoFit/>
          </a:bodyPr>
          <a:p>
            <a:pPr>
              <a:lnSpc>
                <a:spcPct val="50000"/>
              </a:lnSpc>
              <a:spcBef>
                <a:spcPct val="50000"/>
              </a:spcBef>
            </a:pPr>
            <a:r>
              <a:rPr lang="en-US" altLang="en-US" sz="1800" b="1" dirty="0">
                <a:solidFill>
                  <a:schemeClr val="tx2"/>
                </a:solidFill>
                <a:latin typeface="Courier New" panose="02070309020205020404" pitchFamily="49" charset="0"/>
                <a:cs typeface="Times New Roman" panose="02020603050405020304" pitchFamily="18" charset="0"/>
              </a:rPr>
              <a:t>public class Apple extends Fruit {</a:t>
            </a:r>
            <a:endParaRPr lang="en-US" altLang="en-US" sz="18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800" b="1" dirty="0">
                <a:solidFill>
                  <a:schemeClr val="tx2"/>
                </a:solidFill>
                <a:latin typeface="Courier New" panose="02070309020205020404" pitchFamily="49" charset="0"/>
                <a:cs typeface="Times New Roman" panose="02020603050405020304" pitchFamily="18" charset="0"/>
              </a:rPr>
              <a:t>}</a:t>
            </a:r>
            <a:endParaRPr lang="en-US" altLang="en-US" sz="18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800" b="1" dirty="0">
                <a:solidFill>
                  <a:schemeClr val="tx2"/>
                </a:solidFill>
                <a:latin typeface="Courier New" panose="02070309020205020404" pitchFamily="49" charset="0"/>
                <a:cs typeface="Times New Roman" panose="02020603050405020304" pitchFamily="18" charset="0"/>
              </a:rPr>
              <a:t> </a:t>
            </a:r>
            <a:endParaRPr lang="en-US" altLang="en-US" sz="18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800" b="1" dirty="0">
                <a:solidFill>
                  <a:schemeClr val="tx2"/>
                </a:solidFill>
                <a:latin typeface="Courier New" panose="02070309020205020404" pitchFamily="49" charset="0"/>
                <a:cs typeface="Times New Roman" panose="02020603050405020304" pitchFamily="18" charset="0"/>
              </a:rPr>
              <a:t>class Fruit {</a:t>
            </a:r>
            <a:endParaRPr lang="en-US" altLang="en-US" sz="18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800" b="1" dirty="0">
                <a:solidFill>
                  <a:schemeClr val="tx2"/>
                </a:solidFill>
                <a:latin typeface="Courier New" panose="02070309020205020404" pitchFamily="49" charset="0"/>
                <a:cs typeface="Times New Roman" panose="02020603050405020304" pitchFamily="18" charset="0"/>
              </a:rPr>
              <a:t>  public Fruit(String name) {</a:t>
            </a:r>
            <a:endParaRPr lang="en-US" altLang="en-US" sz="18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800" b="1" dirty="0">
                <a:solidFill>
                  <a:schemeClr val="tx2"/>
                </a:solidFill>
                <a:latin typeface="Courier New" panose="02070309020205020404" pitchFamily="49" charset="0"/>
                <a:cs typeface="Times New Roman" panose="02020603050405020304" pitchFamily="18" charset="0"/>
              </a:rPr>
              <a:t>    System.out.println("Fruit's constructor is invoked");</a:t>
            </a:r>
            <a:endParaRPr lang="en-US" altLang="en-US" sz="18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800" b="1" dirty="0">
                <a:solidFill>
                  <a:schemeClr val="tx2"/>
                </a:solidFill>
                <a:latin typeface="Courier New" panose="02070309020205020404" pitchFamily="49" charset="0"/>
                <a:cs typeface="Times New Roman" panose="02020603050405020304" pitchFamily="18" charset="0"/>
              </a:rPr>
              <a:t>  }</a:t>
            </a:r>
            <a:endParaRPr lang="en-US" altLang="en-US" sz="18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800" b="1" dirty="0">
                <a:solidFill>
                  <a:schemeClr val="tx2"/>
                </a:solidFill>
                <a:latin typeface="Courier New" panose="02070309020205020404" pitchFamily="49" charset="0"/>
                <a:cs typeface="Times New Roman" panose="02020603050405020304" pitchFamily="18" charset="0"/>
              </a:rPr>
              <a:t>}</a:t>
            </a:r>
            <a:endParaRPr lang="en-US" altLang="en-US" sz="1800" b="1" dirty="0">
              <a:solidFill>
                <a:schemeClr val="tx2"/>
              </a:solidFill>
              <a:latin typeface="Courier New" panose="02070309020205020404" pitchFamily="49" charset="0"/>
              <a:ea typeface="Times New Roman" panose="02020603050405020304" pitchFamily="18" charset="0"/>
            </a:endParaRPr>
          </a:p>
        </p:txBody>
      </p:sp>
      <p:sp>
        <p:nvSpPr>
          <p:cNvPr id="30725" name="Text Box 4"/>
          <p:cNvSpPr txBox="1"/>
          <p:nvPr/>
        </p:nvSpPr>
        <p:spPr>
          <a:xfrm>
            <a:off x="1905000" y="1600200"/>
            <a:ext cx="8229600" cy="521970"/>
          </a:xfrm>
          <a:prstGeom prst="rect">
            <a:avLst/>
          </a:prstGeom>
          <a:noFill/>
          <a:ln w="12700">
            <a:noFill/>
          </a:ln>
        </p:spPr>
        <p:txBody>
          <a:bodyPr>
            <a:spAutoFit/>
          </a:bodyPr>
          <a:p>
            <a:pPr>
              <a:spcBef>
                <a:spcPct val="50000"/>
              </a:spcBef>
            </a:pPr>
            <a:r>
              <a:rPr lang="en-US" altLang="en-US" sz="2800" dirty="0">
                <a:latin typeface="Times New Roman" panose="02020603050405020304" pitchFamily="18" charset="0"/>
                <a:cs typeface="Times New Roman" panose="02020603050405020304" pitchFamily="18" charset="0"/>
              </a:rPr>
              <a:t>Find out the errors in the program:</a:t>
            </a:r>
            <a:r>
              <a:rPr lang="en-US" altLang="en-US" sz="2800" i="1" dirty="0">
                <a:latin typeface="Times New Roman" panose="02020603050405020304" pitchFamily="18" charset="0"/>
                <a:cs typeface="Times New Roman" panose="02020603050405020304" pitchFamily="18" charset="0"/>
              </a:rPr>
              <a:t> </a:t>
            </a:r>
            <a:endParaRPr lang="en-US" altLang="en-US" sz="2800" i="1"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1747" name="Rectangle 2"/>
          <p:cNvSpPr>
            <a:spLocks noGrp="1"/>
          </p:cNvSpPr>
          <p:nvPr>
            <p:ph type="title"/>
          </p:nvPr>
        </p:nvSpPr>
        <p:spPr>
          <a:xfrm>
            <a:off x="2209800" y="381000"/>
            <a:ext cx="7772400" cy="762000"/>
          </a:xfrm>
          <a:ln/>
        </p:spPr>
        <p:txBody>
          <a:bodyPr vert="horz" wrap="square" lIns="92075" tIns="46038" rIns="92075" bIns="46038" anchor="ctr" anchorCtr="0"/>
          <a:p>
            <a:r>
              <a:rPr lang="en-US" altLang="en-US" dirty="0"/>
              <a:t>2</a:t>
            </a:r>
            <a:r>
              <a:rPr lang="zh-CN" altLang="en-US" dirty="0">
                <a:ea typeface="宋体" panose="02010600030101010101" pitchFamily="2" charset="-122"/>
              </a:rPr>
              <a:t>）</a:t>
            </a:r>
            <a:r>
              <a:rPr lang="en-US" altLang="en-US" dirty="0"/>
              <a:t>Defining a Subclass</a:t>
            </a:r>
            <a:endParaRPr lang="en-US" altLang="en-US" dirty="0"/>
          </a:p>
        </p:txBody>
      </p:sp>
      <p:sp>
        <p:nvSpPr>
          <p:cNvPr id="31748" name="Rectangle 3"/>
          <p:cNvSpPr>
            <a:spLocks noGrp="1"/>
          </p:cNvSpPr>
          <p:nvPr>
            <p:ph idx="1"/>
          </p:nvPr>
        </p:nvSpPr>
        <p:spPr>
          <a:xfrm>
            <a:off x="1828800" y="1371600"/>
            <a:ext cx="8458200" cy="2743200"/>
          </a:xfrm>
          <a:ln/>
        </p:spPr>
        <p:txBody>
          <a:bodyPr vert="horz" wrap="square" lIns="92075" tIns="46038" rIns="92075" bIns="46038" anchor="t" anchorCtr="0"/>
          <a:p>
            <a:pPr marL="1905" indent="-1905">
              <a:buNone/>
            </a:pPr>
            <a:r>
              <a:rPr lang="en-US" altLang="en-US" sz="3000" dirty="0"/>
              <a:t>A subclass inherits from a superclass. You can also:</a:t>
            </a:r>
            <a:endParaRPr lang="en-US" altLang="en-US" dirty="0"/>
          </a:p>
          <a:p>
            <a:pPr marL="344805" lvl="1" indent="-341630">
              <a:spcBef>
                <a:spcPct val="50000"/>
              </a:spcBef>
              <a:buClr>
                <a:schemeClr val="tx2"/>
              </a:buClr>
              <a:buSzPct val="75000"/>
              <a:buFont typeface="Monotype Sorts" pitchFamily="2" charset="2"/>
              <a:buChar char="F"/>
            </a:pPr>
            <a:r>
              <a:rPr lang="en-US" altLang="en-US" dirty="0"/>
              <a:t>Add new properties</a:t>
            </a:r>
            <a:endParaRPr lang="en-US" altLang="en-US" dirty="0"/>
          </a:p>
          <a:p>
            <a:pPr marL="344805" lvl="1" indent="-341630">
              <a:spcBef>
                <a:spcPct val="50000"/>
              </a:spcBef>
              <a:buClr>
                <a:schemeClr val="tx2"/>
              </a:buClr>
              <a:buSzPct val="75000"/>
              <a:buFont typeface="Monotype Sorts" pitchFamily="2" charset="2"/>
              <a:buChar char="F"/>
            </a:pPr>
            <a:r>
              <a:rPr lang="en-US" altLang="en-US" dirty="0"/>
              <a:t>Add new methods</a:t>
            </a:r>
            <a:endParaRPr lang="en-US" altLang="en-US" dirty="0"/>
          </a:p>
          <a:p>
            <a:pPr marL="344805" lvl="1" indent="-341630">
              <a:spcBef>
                <a:spcPct val="50000"/>
              </a:spcBef>
              <a:buClr>
                <a:schemeClr val="tx2"/>
              </a:buClr>
              <a:buSzPct val="75000"/>
              <a:buFont typeface="Monotype Sorts" pitchFamily="2" charset="2"/>
              <a:buChar char="F"/>
            </a:pPr>
            <a:r>
              <a:rPr lang="en-US" altLang="en-US" dirty="0"/>
              <a:t>Override the methods of the superclass</a:t>
            </a: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2771" name="Rectangle 2"/>
          <p:cNvSpPr>
            <a:spLocks noGrp="1"/>
          </p:cNvSpPr>
          <p:nvPr>
            <p:ph type="title"/>
          </p:nvPr>
        </p:nvSpPr>
        <p:spPr>
          <a:xfrm>
            <a:off x="2209800" y="228600"/>
            <a:ext cx="7772400" cy="685800"/>
          </a:xfrm>
          <a:ln/>
        </p:spPr>
        <p:txBody>
          <a:bodyPr vert="horz" wrap="square" lIns="92075" tIns="46038" rIns="92075" bIns="46038" anchor="ctr" anchorCtr="0"/>
          <a:p>
            <a:r>
              <a:rPr lang="en-US" altLang="en-US" sz="3600" dirty="0"/>
              <a:t>Calling Superclass Methods</a:t>
            </a:r>
            <a:endParaRPr lang="en-US" altLang="en-US" dirty="0"/>
          </a:p>
        </p:txBody>
      </p:sp>
      <p:sp>
        <p:nvSpPr>
          <p:cNvPr id="32772" name="Text Box 7"/>
          <p:cNvSpPr txBox="1"/>
          <p:nvPr/>
        </p:nvSpPr>
        <p:spPr>
          <a:xfrm>
            <a:off x="1752600" y="1066800"/>
            <a:ext cx="8610600" cy="829945"/>
          </a:xfrm>
          <a:prstGeom prst="rect">
            <a:avLst/>
          </a:prstGeom>
          <a:noFill/>
          <a:ln w="12700">
            <a:noFill/>
          </a:ln>
        </p:spPr>
        <p:txBody>
          <a:bodyPr>
            <a:spAutoFit/>
          </a:bodyPr>
          <a:p>
            <a:pPr>
              <a:spcBef>
                <a:spcPct val="50000"/>
              </a:spcBef>
            </a:pPr>
            <a:r>
              <a:rPr lang="en-US" altLang="en-US" dirty="0">
                <a:latin typeface="Times New Roman" panose="02020603050405020304" pitchFamily="18" charset="0"/>
              </a:rPr>
              <a:t>You could rewrite the </a:t>
            </a:r>
            <a:r>
              <a:rPr lang="en-US" altLang="en-US" u="sng" dirty="0">
                <a:latin typeface="Times New Roman" panose="02020603050405020304" pitchFamily="18" charset="0"/>
              </a:rPr>
              <a:t>printCircle()</a:t>
            </a:r>
            <a:r>
              <a:rPr lang="en-US" altLang="en-US" dirty="0">
                <a:latin typeface="Times New Roman" panose="02020603050405020304" pitchFamily="18" charset="0"/>
              </a:rPr>
              <a:t> method in the </a:t>
            </a:r>
            <a:r>
              <a:rPr lang="en-US" altLang="en-US" u="sng" dirty="0">
                <a:latin typeface="Times New Roman" panose="02020603050405020304" pitchFamily="18" charset="0"/>
              </a:rPr>
              <a:t>Circle</a:t>
            </a:r>
            <a:r>
              <a:rPr lang="en-US" altLang="en-US" dirty="0">
                <a:latin typeface="Times New Roman" panose="02020603050405020304" pitchFamily="18" charset="0"/>
              </a:rPr>
              <a:t> class as follows:</a:t>
            </a:r>
            <a:endParaRPr lang="en-US" altLang="en-US" dirty="0">
              <a:latin typeface="Times New Roman" panose="02020603050405020304" pitchFamily="18" charset="0"/>
            </a:endParaRPr>
          </a:p>
        </p:txBody>
      </p:sp>
      <p:sp>
        <p:nvSpPr>
          <p:cNvPr id="32773" name="Text Box 9"/>
          <p:cNvSpPr txBox="1"/>
          <p:nvPr/>
        </p:nvSpPr>
        <p:spPr>
          <a:xfrm>
            <a:off x="1752600" y="2514600"/>
            <a:ext cx="8686800" cy="1568450"/>
          </a:xfrm>
          <a:prstGeom prst="rect">
            <a:avLst/>
          </a:prstGeom>
          <a:noFill/>
          <a:ln w="9525">
            <a:noFill/>
          </a:ln>
        </p:spPr>
        <p:txBody>
          <a:bodyPr>
            <a:spAutoFit/>
          </a:bodyPr>
          <a:p>
            <a:r>
              <a:rPr lang="en-US" altLang="en-US" dirty="0">
                <a:solidFill>
                  <a:schemeClr val="tx2"/>
                </a:solidFill>
                <a:latin typeface="Times New Roman" panose="02020603050405020304" pitchFamily="18" charset="0"/>
              </a:rPr>
              <a:t>public void printCircle() {</a:t>
            </a:r>
            <a:endParaRPr lang="en-US" altLang="en-US" dirty="0">
              <a:solidFill>
                <a:schemeClr val="tx2"/>
              </a:solidFill>
              <a:latin typeface="Times New Roman" panose="02020603050405020304" pitchFamily="18" charset="0"/>
            </a:endParaRPr>
          </a:p>
          <a:p>
            <a:r>
              <a:rPr lang="en-US" altLang="en-US" dirty="0">
                <a:solidFill>
                  <a:schemeClr val="tx2"/>
                </a:solidFill>
                <a:latin typeface="Times New Roman" panose="02020603050405020304" pitchFamily="18" charset="0"/>
              </a:rPr>
              <a:t>  System.out.println("The circle is created " + </a:t>
            </a:r>
            <a:endParaRPr lang="en-US" altLang="en-US" dirty="0">
              <a:solidFill>
                <a:schemeClr val="tx2"/>
              </a:solidFill>
              <a:latin typeface="Times New Roman" panose="02020603050405020304" pitchFamily="18" charset="0"/>
            </a:endParaRPr>
          </a:p>
          <a:p>
            <a:r>
              <a:rPr lang="en-US" altLang="en-US" dirty="0">
                <a:solidFill>
                  <a:schemeClr val="tx2"/>
                </a:solidFill>
                <a:latin typeface="Times New Roman" panose="02020603050405020304" pitchFamily="18" charset="0"/>
              </a:rPr>
              <a:t>    super.getDateCreated() + " and the radius is " + radius);</a:t>
            </a:r>
            <a:endParaRPr lang="en-US" altLang="en-US" dirty="0">
              <a:solidFill>
                <a:schemeClr val="tx2"/>
              </a:solidFill>
              <a:latin typeface="Times New Roman" panose="02020603050405020304" pitchFamily="18" charset="0"/>
            </a:endParaRPr>
          </a:p>
          <a:p>
            <a:r>
              <a:rPr lang="en-US" altLang="en-US" dirty="0">
                <a:solidFill>
                  <a:schemeClr val="tx2"/>
                </a:solidFill>
                <a:latin typeface="Times New Roman" panose="02020603050405020304" pitchFamily="18" charset="0"/>
              </a:rPr>
              <a:t>}</a:t>
            </a:r>
            <a:endParaRPr lang="en-US" altLang="en-US" dirty="0">
              <a:solidFill>
                <a:schemeClr val="tx2"/>
              </a:solidFill>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3795" name="Rectangle 2"/>
          <p:cNvSpPr>
            <a:spLocks noGrp="1"/>
          </p:cNvSpPr>
          <p:nvPr>
            <p:ph type="title"/>
          </p:nvPr>
        </p:nvSpPr>
        <p:spPr>
          <a:xfrm>
            <a:off x="2209800" y="228600"/>
            <a:ext cx="7772400" cy="685800"/>
          </a:xfrm>
          <a:ln/>
        </p:spPr>
        <p:txBody>
          <a:bodyPr vert="horz" wrap="square" lIns="92075" tIns="46038" rIns="92075" bIns="46038" anchor="ctr" anchorCtr="0"/>
          <a:p>
            <a:r>
              <a:rPr lang="en-US" altLang="en-US" sz="3600" dirty="0"/>
              <a:t>Overriding Methods in the Superclass</a:t>
            </a:r>
            <a:endParaRPr lang="en-US" altLang="en-US" dirty="0"/>
          </a:p>
        </p:txBody>
      </p:sp>
      <p:sp>
        <p:nvSpPr>
          <p:cNvPr id="33796" name="Text Box 3"/>
          <p:cNvSpPr txBox="1"/>
          <p:nvPr/>
        </p:nvSpPr>
        <p:spPr>
          <a:xfrm>
            <a:off x="1752600" y="1066800"/>
            <a:ext cx="8610600" cy="1198880"/>
          </a:xfrm>
          <a:prstGeom prst="rect">
            <a:avLst/>
          </a:prstGeom>
          <a:noFill/>
          <a:ln w="12700">
            <a:noFill/>
          </a:ln>
        </p:spPr>
        <p:txBody>
          <a:bodyPr>
            <a:spAutoFit/>
          </a:bodyPr>
          <a:p>
            <a:pPr>
              <a:spcBef>
                <a:spcPct val="50000"/>
              </a:spcBef>
            </a:pPr>
            <a:r>
              <a:rPr lang="en-US" altLang="en-US" dirty="0">
                <a:latin typeface="Times New Roman" panose="02020603050405020304" pitchFamily="18" charset="0"/>
              </a:rPr>
              <a:t>A subclass inherits methods from a superclass. </a:t>
            </a:r>
            <a:r>
              <a:rPr lang="en-US" altLang="en-US" dirty="0">
                <a:solidFill>
                  <a:srgbClr val="C00000"/>
                </a:solidFill>
                <a:latin typeface="Times New Roman" panose="02020603050405020304" pitchFamily="18" charset="0"/>
              </a:rPr>
              <a:t>Sometimes it is necessary for the subclass to modify the implementation of a method defined in the superclass. This is referred to as </a:t>
            </a:r>
            <a:r>
              <a:rPr lang="en-US" altLang="en-US" i="1" dirty="0">
                <a:solidFill>
                  <a:srgbClr val="C00000"/>
                </a:solidFill>
                <a:latin typeface="Times New Roman" panose="02020603050405020304" pitchFamily="18" charset="0"/>
              </a:rPr>
              <a:t>method overriding</a:t>
            </a:r>
            <a:r>
              <a:rPr lang="en-US" altLang="en-US" dirty="0">
                <a:solidFill>
                  <a:srgbClr val="C00000"/>
                </a:solidFill>
                <a:latin typeface="Times New Roman" panose="02020603050405020304" pitchFamily="18" charset="0"/>
              </a:rPr>
              <a:t>. </a:t>
            </a:r>
            <a:endParaRPr lang="en-US" altLang="en-US" dirty="0">
              <a:solidFill>
                <a:srgbClr val="C00000"/>
              </a:solidFill>
              <a:latin typeface="Times New Roman" panose="02020603050405020304" pitchFamily="18" charset="0"/>
            </a:endParaRPr>
          </a:p>
        </p:txBody>
      </p:sp>
      <p:sp>
        <p:nvSpPr>
          <p:cNvPr id="33797" name="Text Box 4"/>
          <p:cNvSpPr txBox="1"/>
          <p:nvPr/>
        </p:nvSpPr>
        <p:spPr>
          <a:xfrm>
            <a:off x="1752600" y="2514600"/>
            <a:ext cx="8686800" cy="2707005"/>
          </a:xfrm>
          <a:prstGeom prst="rect">
            <a:avLst/>
          </a:prstGeom>
          <a:noFill/>
          <a:ln w="9525">
            <a:noFill/>
          </a:ln>
        </p:spPr>
        <p:txBody>
          <a:bodyPr>
            <a:spAutoFit/>
          </a:bodyPr>
          <a:p>
            <a:pPr>
              <a:spcBef>
                <a:spcPct val="50000"/>
              </a:spcBef>
            </a:pPr>
            <a:r>
              <a:rPr lang="en-US" altLang="en-US" sz="1700" b="1" dirty="0">
                <a:solidFill>
                  <a:schemeClr val="tx2"/>
                </a:solidFill>
                <a:latin typeface="Courier New" panose="02070309020205020404" pitchFamily="49" charset="0"/>
                <a:cs typeface="Courier New" panose="02070309020205020404" pitchFamily="49" charset="0"/>
              </a:rPr>
              <a:t>public class Circle extends GeometricObject {</a:t>
            </a:r>
            <a:endParaRPr lang="en-US" altLang="en-US" sz="1700" b="1" dirty="0">
              <a:solidFill>
                <a:schemeClr val="tx2"/>
              </a:solidFill>
              <a:latin typeface="Courier New" panose="02070309020205020404" pitchFamily="49" charset="0"/>
              <a:cs typeface="Courier New" panose="02070309020205020404" pitchFamily="49" charset="0"/>
            </a:endParaRPr>
          </a:p>
          <a:p>
            <a:pPr>
              <a:spcBef>
                <a:spcPct val="50000"/>
              </a:spcBef>
            </a:pPr>
            <a:r>
              <a:rPr lang="en-US" altLang="en-US" sz="1700" b="1" dirty="0">
                <a:solidFill>
                  <a:schemeClr val="tx2"/>
                </a:solidFill>
                <a:latin typeface="Courier New" panose="02070309020205020404" pitchFamily="49" charset="0"/>
                <a:cs typeface="Courier New" panose="02070309020205020404" pitchFamily="49" charset="0"/>
              </a:rPr>
              <a:t>  // Other methods are omitted</a:t>
            </a:r>
            <a:endParaRPr lang="en-US" altLang="en-US" sz="1700" b="1" dirty="0">
              <a:solidFill>
                <a:schemeClr val="tx2"/>
              </a:solidFill>
              <a:latin typeface="Courier New" panose="02070309020205020404" pitchFamily="49" charset="0"/>
              <a:cs typeface="Courier New" panose="02070309020205020404" pitchFamily="49" charset="0"/>
            </a:endParaRPr>
          </a:p>
          <a:p>
            <a:pPr>
              <a:spcBef>
                <a:spcPct val="50000"/>
              </a:spcBef>
            </a:pPr>
            <a:endParaRPr lang="en-US" altLang="en-US" sz="1700" b="1" dirty="0">
              <a:solidFill>
                <a:schemeClr val="tx2"/>
              </a:solidFill>
              <a:latin typeface="Courier New" panose="02070309020205020404" pitchFamily="49" charset="0"/>
              <a:cs typeface="Courier New" panose="02070309020205020404" pitchFamily="49" charset="0"/>
            </a:endParaRPr>
          </a:p>
          <a:p>
            <a:pPr>
              <a:spcBef>
                <a:spcPct val="50000"/>
              </a:spcBef>
            </a:pPr>
            <a:r>
              <a:rPr lang="en-US" altLang="en-US" sz="1700" b="1" dirty="0">
                <a:solidFill>
                  <a:schemeClr val="tx2"/>
                </a:solidFill>
                <a:latin typeface="Courier New" panose="02070309020205020404" pitchFamily="49" charset="0"/>
                <a:cs typeface="Courier New" panose="02070309020205020404" pitchFamily="49" charset="0"/>
              </a:rPr>
              <a:t>  /** Override the toString method defined in GeometricObject */</a:t>
            </a:r>
            <a:endParaRPr lang="en-US" altLang="en-US" sz="1700" b="1" dirty="0">
              <a:solidFill>
                <a:schemeClr val="tx2"/>
              </a:solidFill>
              <a:latin typeface="Courier New" panose="02070309020205020404" pitchFamily="49" charset="0"/>
              <a:cs typeface="Courier New" panose="02070309020205020404" pitchFamily="49" charset="0"/>
            </a:endParaRPr>
          </a:p>
          <a:p>
            <a:r>
              <a:rPr lang="en-US" altLang="en-US" sz="1700" b="1" dirty="0">
                <a:solidFill>
                  <a:schemeClr val="tx2"/>
                </a:solidFill>
                <a:latin typeface="Courier New" panose="02070309020205020404" pitchFamily="49" charset="0"/>
                <a:cs typeface="Courier New" panose="02070309020205020404" pitchFamily="49" charset="0"/>
              </a:rPr>
              <a:t>  public String toString() {</a:t>
            </a:r>
            <a:endParaRPr lang="en-US" altLang="en-US" sz="1700" b="1" dirty="0">
              <a:solidFill>
                <a:schemeClr val="tx2"/>
              </a:solidFill>
              <a:latin typeface="Courier New" panose="02070309020205020404" pitchFamily="49" charset="0"/>
              <a:cs typeface="Courier New" panose="02070309020205020404" pitchFamily="49" charset="0"/>
            </a:endParaRPr>
          </a:p>
          <a:p>
            <a:r>
              <a:rPr lang="en-US" altLang="en-US" sz="1700" b="1" dirty="0">
                <a:solidFill>
                  <a:schemeClr val="tx2"/>
                </a:solidFill>
                <a:latin typeface="Courier New" panose="02070309020205020404" pitchFamily="49" charset="0"/>
                <a:cs typeface="Courier New" panose="02070309020205020404" pitchFamily="49" charset="0"/>
              </a:rPr>
              <a:t>    return super.toString() + "\nradius is " + radius;</a:t>
            </a:r>
            <a:endParaRPr lang="en-US" altLang="en-US" sz="1700" b="1" dirty="0">
              <a:solidFill>
                <a:schemeClr val="tx2"/>
              </a:solidFill>
              <a:latin typeface="Courier New" panose="02070309020205020404" pitchFamily="49" charset="0"/>
              <a:cs typeface="Courier New" panose="02070309020205020404" pitchFamily="49" charset="0"/>
            </a:endParaRPr>
          </a:p>
          <a:p>
            <a:r>
              <a:rPr lang="en-US" altLang="en-US" sz="1700" b="1" dirty="0">
                <a:solidFill>
                  <a:schemeClr val="tx2"/>
                </a:solidFill>
                <a:latin typeface="Courier New" panose="02070309020205020404" pitchFamily="49" charset="0"/>
                <a:cs typeface="Courier New" panose="02070309020205020404" pitchFamily="49" charset="0"/>
              </a:rPr>
              <a:t>  } </a:t>
            </a:r>
            <a:endParaRPr lang="en-US" altLang="en-US" sz="1700" b="1" dirty="0">
              <a:solidFill>
                <a:schemeClr val="tx2"/>
              </a:solidFill>
              <a:latin typeface="Courier New" panose="02070309020205020404" pitchFamily="49" charset="0"/>
              <a:cs typeface="Courier New" panose="02070309020205020404" pitchFamily="49" charset="0"/>
            </a:endParaRPr>
          </a:p>
          <a:p>
            <a:pPr>
              <a:spcBef>
                <a:spcPct val="50000"/>
              </a:spcBef>
            </a:pPr>
            <a:r>
              <a:rPr lang="en-US" altLang="en-US" sz="1700" b="1" dirty="0">
                <a:solidFill>
                  <a:schemeClr val="tx2"/>
                </a:solidFill>
                <a:latin typeface="Courier New" panose="02070309020205020404" pitchFamily="49" charset="0"/>
                <a:cs typeface="Courier New" panose="02070309020205020404" pitchFamily="49" charset="0"/>
              </a:rPr>
              <a:t>}</a:t>
            </a:r>
            <a:endParaRPr lang="en-US" altLang="en-US" sz="1700" b="1" dirty="0">
              <a:solidFill>
                <a:schemeClr val="tx2"/>
              </a:solidFill>
              <a:latin typeface="Courier New" panose="02070309020205020404" pitchFamily="49" charset="0"/>
              <a:ea typeface="Courier New" panose="02070309020205020404" pitchFamily="49"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4818"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4819" name="Rectangle 2"/>
          <p:cNvSpPr>
            <a:spLocks noGrp="1"/>
          </p:cNvSpPr>
          <p:nvPr>
            <p:ph type="title"/>
          </p:nvPr>
        </p:nvSpPr>
        <p:spPr>
          <a:xfrm>
            <a:off x="2209800" y="228600"/>
            <a:ext cx="7772400" cy="685800"/>
          </a:xfrm>
          <a:ln/>
        </p:spPr>
        <p:txBody>
          <a:bodyPr vert="horz" wrap="square" lIns="92075" tIns="46038" rIns="92075" bIns="46038" anchor="ctr" anchorCtr="0"/>
          <a:p>
            <a:r>
              <a:rPr lang="en-US" altLang="en-US" dirty="0"/>
              <a:t>NOTE</a:t>
            </a:r>
            <a:endParaRPr lang="en-US" altLang="en-US" dirty="0"/>
          </a:p>
        </p:txBody>
      </p:sp>
      <p:sp>
        <p:nvSpPr>
          <p:cNvPr id="34820" name="Text Box 3"/>
          <p:cNvSpPr txBox="1"/>
          <p:nvPr/>
        </p:nvSpPr>
        <p:spPr>
          <a:xfrm>
            <a:off x="1905000" y="1447800"/>
            <a:ext cx="8382000" cy="3969385"/>
          </a:xfrm>
          <a:prstGeom prst="rect">
            <a:avLst/>
          </a:prstGeom>
          <a:noFill/>
          <a:ln w="12700">
            <a:noFill/>
          </a:ln>
        </p:spPr>
        <p:txBody>
          <a:bodyPr>
            <a:spAutoFit/>
          </a:bodyPr>
          <a:p>
            <a:pPr>
              <a:spcBef>
                <a:spcPct val="50000"/>
              </a:spcBef>
            </a:pPr>
            <a:r>
              <a:rPr lang="en-US" altLang="en-US" sz="3600" dirty="0">
                <a:solidFill>
                  <a:srgbClr val="C00000"/>
                </a:solidFill>
                <a:latin typeface="Times New Roman" panose="02020603050405020304" pitchFamily="18" charset="0"/>
                <a:cs typeface="Times New Roman" panose="02020603050405020304" pitchFamily="18" charset="0"/>
              </a:rPr>
              <a:t>An instance method can be overridden only if it is accessible. </a:t>
            </a:r>
            <a:r>
              <a:rPr lang="en-US" altLang="en-US" sz="3600" dirty="0">
                <a:latin typeface="Times New Roman" panose="02020603050405020304" pitchFamily="18" charset="0"/>
                <a:cs typeface="Times New Roman" panose="02020603050405020304" pitchFamily="18" charset="0"/>
              </a:rPr>
              <a:t>Thus a private method cannot be overridden, because it is not accessible outside its own class. </a:t>
            </a:r>
            <a:r>
              <a:rPr lang="en-US" altLang="en-US" sz="3600" dirty="0">
                <a:solidFill>
                  <a:srgbClr val="C00000"/>
                </a:solidFill>
                <a:latin typeface="Times New Roman" panose="02020603050405020304" pitchFamily="18" charset="0"/>
                <a:cs typeface="Times New Roman" panose="02020603050405020304" pitchFamily="18" charset="0"/>
              </a:rPr>
              <a:t>If a method defined in a subclass is private in its superclass, the two methods are completely unrelated. </a:t>
            </a:r>
            <a:endParaRPr lang="en-US" altLang="en-US" sz="3600" dirty="0">
              <a:solidFill>
                <a:srgbClr val="C00000"/>
              </a:solidFill>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584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5843" name="Rectangle 2"/>
          <p:cNvSpPr>
            <a:spLocks noGrp="1"/>
          </p:cNvSpPr>
          <p:nvPr>
            <p:ph type="title"/>
          </p:nvPr>
        </p:nvSpPr>
        <p:spPr>
          <a:xfrm>
            <a:off x="2209800" y="228600"/>
            <a:ext cx="7772400" cy="685800"/>
          </a:xfrm>
          <a:ln/>
        </p:spPr>
        <p:txBody>
          <a:bodyPr vert="horz" wrap="square" lIns="92075" tIns="46038" rIns="92075" bIns="46038" anchor="ctr" anchorCtr="0"/>
          <a:p>
            <a:r>
              <a:rPr lang="en-US" altLang="en-US" dirty="0"/>
              <a:t>NOTE</a:t>
            </a:r>
            <a:endParaRPr lang="en-US" altLang="en-US" dirty="0"/>
          </a:p>
        </p:txBody>
      </p:sp>
      <p:sp>
        <p:nvSpPr>
          <p:cNvPr id="35844" name="Text Box 3"/>
          <p:cNvSpPr txBox="1"/>
          <p:nvPr/>
        </p:nvSpPr>
        <p:spPr>
          <a:xfrm>
            <a:off x="1905000" y="1447800"/>
            <a:ext cx="8382000" cy="3415030"/>
          </a:xfrm>
          <a:prstGeom prst="rect">
            <a:avLst/>
          </a:prstGeom>
          <a:noFill/>
          <a:ln w="12700">
            <a:noFill/>
          </a:ln>
        </p:spPr>
        <p:txBody>
          <a:bodyPr>
            <a:spAutoFit/>
          </a:bodyPr>
          <a:p>
            <a:pPr>
              <a:spcBef>
                <a:spcPct val="50000"/>
              </a:spcBef>
            </a:pPr>
            <a:r>
              <a:rPr lang="en-US" altLang="en-US" sz="3600" dirty="0">
                <a:latin typeface="Times New Roman" panose="02020603050405020304" pitchFamily="18" charset="0"/>
                <a:cs typeface="Times New Roman" panose="02020603050405020304" pitchFamily="18" charset="0"/>
              </a:rPr>
              <a:t>Like an instance method, a static method can be inherited. </a:t>
            </a:r>
            <a:r>
              <a:rPr lang="en-US" altLang="en-US" sz="3600" dirty="0">
                <a:solidFill>
                  <a:srgbClr val="C00000"/>
                </a:solidFill>
                <a:latin typeface="Times New Roman" panose="02020603050405020304" pitchFamily="18" charset="0"/>
                <a:cs typeface="Times New Roman" panose="02020603050405020304" pitchFamily="18" charset="0"/>
              </a:rPr>
              <a:t>However, a static method cannot be overridden. </a:t>
            </a:r>
            <a:r>
              <a:rPr lang="en-US" altLang="en-US" sz="3600" dirty="0">
                <a:latin typeface="Times New Roman" panose="02020603050405020304" pitchFamily="18" charset="0"/>
                <a:cs typeface="Times New Roman" panose="02020603050405020304" pitchFamily="18" charset="0"/>
              </a:rPr>
              <a:t>If a static method defined in the superclass is redefined in a subclass, </a:t>
            </a:r>
            <a:r>
              <a:rPr lang="en-US" altLang="en-US" sz="3600" dirty="0">
                <a:solidFill>
                  <a:srgbClr val="C00000"/>
                </a:solidFill>
                <a:latin typeface="Times New Roman" panose="02020603050405020304" pitchFamily="18" charset="0"/>
                <a:cs typeface="Times New Roman" panose="02020603050405020304" pitchFamily="18" charset="0"/>
              </a:rPr>
              <a:t>the method defined in the superclass is hidden</a:t>
            </a:r>
            <a:r>
              <a:rPr lang="en-US" altLang="en-US" sz="3600" dirty="0">
                <a:latin typeface="Times New Roman" panose="02020603050405020304" pitchFamily="18" charset="0"/>
                <a:cs typeface="Times New Roman" panose="02020603050405020304" pitchFamily="18" charset="0"/>
              </a:rPr>
              <a:t>. </a:t>
            </a:r>
            <a:endParaRPr lang="en-US" altLang="en-US" sz="3600" dirty="0">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076" name="Rectangle 2"/>
          <p:cNvSpPr>
            <a:spLocks noGrp="1"/>
          </p:cNvSpPr>
          <p:nvPr>
            <p:ph type="title"/>
          </p:nvPr>
        </p:nvSpPr>
        <p:spPr>
          <a:xfrm>
            <a:off x="2209800" y="228600"/>
            <a:ext cx="7772400" cy="609600"/>
          </a:xfrm>
          <a:ln/>
        </p:spPr>
        <p:txBody>
          <a:bodyPr vert="horz" wrap="square" lIns="92075" tIns="46038" rIns="92075" bIns="46038" anchor="ctr" anchorCtr="0"/>
          <a:p>
            <a:r>
              <a:rPr lang="en-US" altLang="en-US" dirty="0"/>
              <a:t>Overriding vs. Overloading</a:t>
            </a:r>
            <a:endParaRPr lang="en-US" altLang="en-US" dirty="0"/>
          </a:p>
        </p:txBody>
      </p:sp>
      <p:sp>
        <p:nvSpPr>
          <p:cNvPr id="3077" name="Rectangle 5"/>
          <p:cNvSpPr/>
          <p:nvPr/>
        </p:nvSpPr>
        <p:spPr>
          <a:xfrm>
            <a:off x="3810000" y="3162300"/>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3078" name="Rectangle 7"/>
          <p:cNvSpPr/>
          <p:nvPr/>
        </p:nvSpPr>
        <p:spPr>
          <a:xfrm>
            <a:off x="1524000" y="2124076"/>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3079" name="Rectangle 10"/>
          <p:cNvSpPr/>
          <p:nvPr/>
        </p:nvSpPr>
        <p:spPr>
          <a:xfrm>
            <a:off x="1524000" y="2014538"/>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graphicFrame>
        <p:nvGraphicFramePr>
          <p:cNvPr id="3074" name="Object 9"/>
          <p:cNvGraphicFramePr>
            <a:graphicFrameLocks noChangeAspect="1"/>
          </p:cNvGraphicFramePr>
          <p:nvPr/>
        </p:nvGraphicFramePr>
        <p:xfrm>
          <a:off x="1746250" y="857250"/>
          <a:ext cx="8699500" cy="4665663"/>
        </p:xfrm>
        <a:graphic>
          <a:graphicData uri="http://schemas.openxmlformats.org/presentationml/2006/ole">
            <mc:AlternateContent xmlns:mc="http://schemas.openxmlformats.org/markup-compatibility/2006">
              <mc:Choice xmlns:v="urn:schemas-microsoft-com:vml" Requires="v">
                <p:oleObj spid="_x0000_s2" name="" r:id="rId1" imgW="5486400" imgH="2451100" progId="Word.Picture.8">
                  <p:embed/>
                </p:oleObj>
              </mc:Choice>
              <mc:Fallback>
                <p:oleObj name="" r:id="rId1" imgW="5486400" imgH="2451100" progId="Word.Picture.8">
                  <p:embed/>
                  <p:pic>
                    <p:nvPicPr>
                      <p:cNvPr id="0" name="图片 1"/>
                      <p:cNvPicPr/>
                      <p:nvPr/>
                    </p:nvPicPr>
                    <p:blipFill>
                      <a:blip r:embed="rId2"/>
                      <a:stretch>
                        <a:fillRect/>
                      </a:stretch>
                    </p:blipFill>
                    <p:spPr>
                      <a:xfrm>
                        <a:off x="1746250" y="857250"/>
                        <a:ext cx="8699500" cy="4665663"/>
                      </a:xfrm>
                      <a:prstGeom prst="rect">
                        <a:avLst/>
                      </a:prstGeom>
                      <a:noFill/>
                      <a:ln w="38100">
                        <a:noFill/>
                        <a:miter/>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100" name="Rectangle 2"/>
          <p:cNvSpPr>
            <a:spLocks noGrp="1"/>
          </p:cNvSpPr>
          <p:nvPr>
            <p:ph type="title"/>
          </p:nvPr>
        </p:nvSpPr>
        <p:spPr>
          <a:xfrm>
            <a:off x="1676400" y="228600"/>
            <a:ext cx="8763000" cy="838200"/>
          </a:xfrm>
          <a:ln/>
        </p:spPr>
        <p:txBody>
          <a:bodyPr vert="horz" wrap="square" lIns="92075" tIns="46038" rIns="92075" bIns="46038" anchor="ctr" anchorCtr="0"/>
          <a:p>
            <a:r>
              <a:rPr lang="en-US" altLang="en-US" dirty="0"/>
              <a:t>2</a:t>
            </a:r>
            <a:r>
              <a:rPr lang="en-US" altLang="zh-CN" dirty="0">
                <a:ea typeface="宋体" panose="02010600030101010101" pitchFamily="2" charset="-122"/>
              </a:rPr>
              <a:t>. </a:t>
            </a:r>
            <a:r>
              <a:rPr lang="en-US" altLang="en-US" dirty="0"/>
              <a:t>The </a:t>
            </a:r>
            <a:r>
              <a:rPr lang="en-US" altLang="en-US" u="sng" dirty="0"/>
              <a:t>Object</a:t>
            </a:r>
            <a:r>
              <a:rPr lang="en-US" altLang="en-US" dirty="0"/>
              <a:t> Class and Its Methods</a:t>
            </a:r>
            <a:endParaRPr lang="en-US" altLang="en-US" dirty="0"/>
          </a:p>
        </p:txBody>
      </p:sp>
      <p:sp>
        <p:nvSpPr>
          <p:cNvPr id="4101" name="Rectangle 3"/>
          <p:cNvSpPr>
            <a:spLocks noGrp="1"/>
          </p:cNvSpPr>
          <p:nvPr>
            <p:ph idx="1"/>
          </p:nvPr>
        </p:nvSpPr>
        <p:spPr>
          <a:xfrm>
            <a:off x="1828800" y="1295400"/>
            <a:ext cx="8610600" cy="2438400"/>
          </a:xfrm>
          <a:ln/>
        </p:spPr>
        <p:txBody>
          <a:bodyPr vert="horz" wrap="square" lIns="92075" tIns="46038" rIns="92075" bIns="46038" anchor="t" anchorCtr="0"/>
          <a:p>
            <a:pPr marL="0" indent="0">
              <a:buNone/>
            </a:pPr>
            <a:r>
              <a:rPr lang="en-US" altLang="en-US" sz="3600" dirty="0">
                <a:cs typeface="Times New Roman" panose="02020603050405020304" pitchFamily="18" charset="0"/>
              </a:rPr>
              <a:t>Every class in Java is descended from the java.lang.Object class. If no inheritance is specified when a class is defined, the superclass of the class is Object.</a:t>
            </a:r>
            <a:r>
              <a:rPr lang="en-US" altLang="en-US" sz="3600" dirty="0"/>
              <a:t> </a:t>
            </a:r>
            <a:endParaRPr lang="en-US" altLang="en-US" sz="3600" dirty="0"/>
          </a:p>
        </p:txBody>
      </p:sp>
      <p:graphicFrame>
        <p:nvGraphicFramePr>
          <p:cNvPr id="4098" name="Object 5"/>
          <p:cNvGraphicFramePr>
            <a:graphicFrameLocks noChangeAspect="1"/>
          </p:cNvGraphicFramePr>
          <p:nvPr/>
        </p:nvGraphicFramePr>
        <p:xfrm>
          <a:off x="1524000" y="4267200"/>
          <a:ext cx="9144000" cy="1066800"/>
        </p:xfrm>
        <a:graphic>
          <a:graphicData uri="http://schemas.openxmlformats.org/presentationml/2006/ole">
            <mc:AlternateContent xmlns:mc="http://schemas.openxmlformats.org/markup-compatibility/2006">
              <mc:Choice xmlns:v="urn:schemas-microsoft-com:vml" Requires="v">
                <p:oleObj spid="_x0000_s3076" name="" r:id="rId1" imgW="4735195" imgH="549910" progId="Word.Picture.8">
                  <p:embed/>
                </p:oleObj>
              </mc:Choice>
              <mc:Fallback>
                <p:oleObj name="" r:id="rId1" imgW="4735195" imgH="549910" progId="Word.Picture.8">
                  <p:embed/>
                  <p:pic>
                    <p:nvPicPr>
                      <p:cNvPr id="0" name="图片 3075"/>
                      <p:cNvPicPr/>
                      <p:nvPr/>
                    </p:nvPicPr>
                    <p:blipFill>
                      <a:blip r:embed="rId2"/>
                      <a:stretch>
                        <a:fillRect/>
                      </a:stretch>
                    </p:blipFill>
                    <p:spPr>
                      <a:xfrm>
                        <a:off x="1524000" y="4267200"/>
                        <a:ext cx="9144000" cy="1066800"/>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6867" name="Rectangle 2"/>
          <p:cNvSpPr>
            <a:spLocks noGrp="1"/>
          </p:cNvSpPr>
          <p:nvPr>
            <p:ph type="title"/>
          </p:nvPr>
        </p:nvSpPr>
        <p:spPr>
          <a:xfrm>
            <a:off x="2209800" y="228600"/>
            <a:ext cx="7772400" cy="685800"/>
          </a:xfrm>
          <a:ln/>
        </p:spPr>
        <p:txBody>
          <a:bodyPr vert="horz" wrap="square" lIns="92075" tIns="46038" rIns="92075" bIns="46038" anchor="ctr" anchorCtr="0"/>
          <a:p>
            <a:r>
              <a:rPr lang="en-US" altLang="en-US" dirty="0"/>
              <a:t>The toString() method in Object</a:t>
            </a:r>
            <a:endParaRPr lang="en-US" altLang="en-US" dirty="0"/>
          </a:p>
        </p:txBody>
      </p:sp>
      <p:sp>
        <p:nvSpPr>
          <p:cNvPr id="36868" name="Rectangle 3"/>
          <p:cNvSpPr>
            <a:spLocks noGrp="1"/>
          </p:cNvSpPr>
          <p:nvPr>
            <p:ph idx="1"/>
          </p:nvPr>
        </p:nvSpPr>
        <p:spPr>
          <a:xfrm>
            <a:off x="1828800" y="1143000"/>
            <a:ext cx="8534400" cy="1676400"/>
          </a:xfrm>
          <a:ln/>
        </p:spPr>
        <p:txBody>
          <a:bodyPr vert="horz" wrap="square" lIns="92075" tIns="46038" rIns="92075" bIns="46038" anchor="t" anchorCtr="0"/>
          <a:p>
            <a:pPr marL="0" indent="0">
              <a:lnSpc>
                <a:spcPct val="90000"/>
              </a:lnSpc>
              <a:spcBef>
                <a:spcPct val="75000"/>
              </a:spcBef>
              <a:buNone/>
            </a:pPr>
            <a:r>
              <a:rPr lang="en-US" altLang="en-US" sz="2600" dirty="0"/>
              <a:t>The </a:t>
            </a:r>
            <a:r>
              <a:rPr lang="en-US" altLang="en-US" sz="2400" dirty="0">
                <a:solidFill>
                  <a:srgbClr val="C00000"/>
                </a:solidFill>
              </a:rPr>
              <a:t>toString()</a:t>
            </a:r>
            <a:r>
              <a:rPr lang="en-US" altLang="en-US" sz="2600" dirty="0">
                <a:solidFill>
                  <a:srgbClr val="C00000"/>
                </a:solidFill>
              </a:rPr>
              <a:t> method returns a string representation of the object.</a:t>
            </a:r>
            <a:r>
              <a:rPr lang="en-US" altLang="en-US" sz="2600" dirty="0"/>
              <a:t> The </a:t>
            </a:r>
            <a:r>
              <a:rPr lang="en-US" altLang="en-US" sz="2600" dirty="0">
                <a:cs typeface="Times New Roman" panose="02020603050405020304" pitchFamily="18" charset="0"/>
              </a:rPr>
              <a:t>default implementation returns a string consisting of a class name of which the object is an instance, the at sign (@), and a number representing this object.</a:t>
            </a:r>
            <a:r>
              <a:rPr lang="en-US" altLang="en-US" sz="2600" dirty="0">
                <a:latin typeface="Courier" pitchFamily="49" charset="0"/>
                <a:cs typeface="Times New Roman" panose="02020603050405020304" pitchFamily="18" charset="0"/>
              </a:rPr>
              <a:t> </a:t>
            </a:r>
            <a:endParaRPr lang="en-US" altLang="en-US" sz="2800" dirty="0"/>
          </a:p>
        </p:txBody>
      </p:sp>
      <p:sp>
        <p:nvSpPr>
          <p:cNvPr id="36869" name="Rectangle 4"/>
          <p:cNvSpPr/>
          <p:nvPr/>
        </p:nvSpPr>
        <p:spPr>
          <a:xfrm>
            <a:off x="2133600" y="3048000"/>
            <a:ext cx="7239000" cy="1066800"/>
          </a:xfrm>
          <a:prstGeom prst="rect">
            <a:avLst/>
          </a:prstGeom>
          <a:noFill/>
          <a:ln w="9525">
            <a:noFill/>
          </a:ln>
        </p:spPr>
        <p:txBody>
          <a:bodyPr lIns="92075" tIns="46038" rIns="92075" bIns="46038"/>
          <a:p>
            <a:pPr>
              <a:spcBef>
                <a:spcPct val="20000"/>
              </a:spcBef>
              <a:buClr>
                <a:schemeClr val="tx2"/>
              </a:buClr>
              <a:buSzPct val="75000"/>
              <a:buFont typeface="Monotype Sorts" pitchFamily="2" charset="2"/>
            </a:pPr>
            <a:r>
              <a:rPr lang="en-US" altLang="en-US" sz="2800" dirty="0">
                <a:solidFill>
                  <a:schemeClr val="tx2"/>
                </a:solidFill>
                <a:latin typeface="Times New Roman" panose="02020603050405020304" pitchFamily="18" charset="0"/>
              </a:rPr>
              <a:t>Loan loan = new Loan();</a:t>
            </a:r>
            <a:endParaRPr lang="en-US" altLang="en-US" sz="2800" dirty="0">
              <a:solidFill>
                <a:schemeClr val="tx2"/>
              </a:solidFill>
              <a:latin typeface="Times New Roman" panose="02020603050405020304" pitchFamily="18" charset="0"/>
            </a:endParaRPr>
          </a:p>
          <a:p>
            <a:pPr>
              <a:spcBef>
                <a:spcPct val="20000"/>
              </a:spcBef>
              <a:buClr>
                <a:schemeClr val="tx2"/>
              </a:buClr>
              <a:buSzPct val="75000"/>
              <a:buFont typeface="Monotype Sorts" pitchFamily="2" charset="2"/>
            </a:pPr>
            <a:r>
              <a:rPr lang="en-US" altLang="en-US" sz="2800" dirty="0">
                <a:solidFill>
                  <a:schemeClr val="tx2"/>
                </a:solidFill>
                <a:latin typeface="Times New Roman" panose="02020603050405020304" pitchFamily="18" charset="0"/>
              </a:rPr>
              <a:t>System.out.println(loan.toString());</a:t>
            </a:r>
            <a:endParaRPr lang="en-US" altLang="en-US" sz="2800" dirty="0">
              <a:solidFill>
                <a:schemeClr val="tx2"/>
              </a:solidFill>
              <a:latin typeface="Times New Roman" panose="02020603050405020304" pitchFamily="18" charset="0"/>
            </a:endParaRPr>
          </a:p>
        </p:txBody>
      </p:sp>
      <p:sp>
        <p:nvSpPr>
          <p:cNvPr id="36870" name="Rectangle 5"/>
          <p:cNvSpPr/>
          <p:nvPr/>
        </p:nvSpPr>
        <p:spPr>
          <a:xfrm>
            <a:off x="1981200" y="4419600"/>
            <a:ext cx="8229600" cy="1676400"/>
          </a:xfrm>
          <a:prstGeom prst="rect">
            <a:avLst/>
          </a:prstGeom>
          <a:noFill/>
          <a:ln w="9525">
            <a:noFill/>
          </a:ln>
        </p:spPr>
        <p:txBody>
          <a:bodyPr lIns="92075" tIns="46038" rIns="92075" bIns="46038"/>
          <a:p>
            <a:pPr>
              <a:lnSpc>
                <a:spcPct val="90000"/>
              </a:lnSpc>
              <a:spcBef>
                <a:spcPct val="75000"/>
              </a:spcBef>
              <a:buClr>
                <a:schemeClr val="tx2"/>
              </a:buClr>
              <a:buSzPct val="75000"/>
              <a:buFont typeface="Monotype Sorts" pitchFamily="2" charset="2"/>
            </a:pPr>
            <a:r>
              <a:rPr lang="en-US" altLang="en-US" dirty="0">
                <a:latin typeface="Times New Roman" panose="02020603050405020304" pitchFamily="18" charset="0"/>
                <a:cs typeface="Courier New" panose="02070309020205020404" pitchFamily="49" charset="0"/>
              </a:rPr>
              <a:t>The code displays something like </a:t>
            </a:r>
            <a:r>
              <a:rPr lang="en-US" altLang="en-US" sz="3200" dirty="0">
                <a:latin typeface="Times New Roman" panose="02020603050405020304" pitchFamily="18" charset="0"/>
              </a:rPr>
              <a:t>Loan@15037e5 </a:t>
            </a:r>
            <a:r>
              <a:rPr lang="en-US" altLang="en-US" dirty="0">
                <a:latin typeface="Times New Roman" panose="02020603050405020304" pitchFamily="18" charset="0"/>
                <a:cs typeface="Courier New" panose="02070309020205020404" pitchFamily="49" charset="0"/>
              </a:rPr>
              <a:t>.</a:t>
            </a:r>
            <a:r>
              <a:rPr lang="en-US"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Courier New" panose="02070309020205020404" pitchFamily="49" charset="0"/>
              </a:rPr>
              <a:t>This message is not very helpful or informative. Usually you should override the toString method so that it returns a digestible string representation of the object.</a:t>
            </a: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7891" name="Rectangle 2"/>
          <p:cNvSpPr>
            <a:spLocks noGrp="1"/>
          </p:cNvSpPr>
          <p:nvPr>
            <p:ph type="title"/>
          </p:nvPr>
        </p:nvSpPr>
        <p:spPr>
          <a:xfrm>
            <a:off x="2209800" y="228600"/>
            <a:ext cx="7772400" cy="685800"/>
          </a:xfrm>
          <a:ln/>
        </p:spPr>
        <p:txBody>
          <a:bodyPr vert="horz" wrap="square" lIns="92075" tIns="46038" rIns="92075" bIns="46038" anchor="ctr" anchorCtr="0"/>
          <a:p>
            <a:r>
              <a:rPr lang="en-US" altLang="en-US" dirty="0"/>
              <a:t>3</a:t>
            </a:r>
            <a:r>
              <a:rPr lang="en-US" altLang="zh-CN" dirty="0">
                <a:ea typeface="宋体" panose="02010600030101010101" pitchFamily="2" charset="-122"/>
              </a:rPr>
              <a:t>. </a:t>
            </a:r>
            <a:r>
              <a:rPr lang="en-US" altLang="en-US" dirty="0"/>
              <a:t>Polymorphism</a:t>
            </a:r>
            <a:endParaRPr lang="en-US" altLang="en-US" dirty="0"/>
          </a:p>
        </p:txBody>
      </p:sp>
      <p:sp>
        <p:nvSpPr>
          <p:cNvPr id="37892" name="Rectangle 3"/>
          <p:cNvSpPr>
            <a:spLocks noGrp="1"/>
          </p:cNvSpPr>
          <p:nvPr>
            <p:ph idx="1"/>
          </p:nvPr>
        </p:nvSpPr>
        <p:spPr>
          <a:xfrm>
            <a:off x="1828800" y="1143000"/>
            <a:ext cx="8534400" cy="1143000"/>
          </a:xfrm>
          <a:ln/>
        </p:spPr>
        <p:txBody>
          <a:bodyPr vert="horz" wrap="square" lIns="92075" tIns="46038" rIns="92075" bIns="46038" anchor="t" anchorCtr="0"/>
          <a:p>
            <a:pPr marL="0" indent="0">
              <a:spcBef>
                <a:spcPct val="75000"/>
              </a:spcBef>
              <a:buNone/>
            </a:pPr>
            <a:r>
              <a:rPr lang="en-US" altLang="en-US" dirty="0">
                <a:solidFill>
                  <a:srgbClr val="C00000"/>
                </a:solidFill>
              </a:rPr>
              <a:t>Polymorphism means that a variable of a supertype can refer to a subtype object.</a:t>
            </a:r>
            <a:endParaRPr lang="en-US" altLang="en-US" dirty="0">
              <a:solidFill>
                <a:srgbClr val="C00000"/>
              </a:solidFill>
            </a:endParaRPr>
          </a:p>
        </p:txBody>
      </p:sp>
      <p:sp>
        <p:nvSpPr>
          <p:cNvPr id="37893" name="Rectangle 5"/>
          <p:cNvSpPr/>
          <p:nvPr/>
        </p:nvSpPr>
        <p:spPr>
          <a:xfrm>
            <a:off x="1905000" y="2514600"/>
            <a:ext cx="8458200" cy="2819400"/>
          </a:xfrm>
          <a:prstGeom prst="rect">
            <a:avLst/>
          </a:prstGeom>
          <a:noFill/>
          <a:ln w="9525">
            <a:noFill/>
          </a:ln>
        </p:spPr>
        <p:txBody>
          <a:bodyPr lIns="92075" tIns="46038" rIns="92075" bIns="46038"/>
          <a:p>
            <a:pPr>
              <a:lnSpc>
                <a:spcPct val="90000"/>
              </a:lnSpc>
              <a:spcBef>
                <a:spcPct val="75000"/>
              </a:spcBef>
              <a:buClr>
                <a:schemeClr val="tx2"/>
              </a:buClr>
              <a:buSzPct val="75000"/>
              <a:buFont typeface="Monotype Sorts" pitchFamily="2" charset="2"/>
            </a:pPr>
            <a:r>
              <a:rPr lang="en-US" altLang="en-US" sz="3200" dirty="0">
                <a:solidFill>
                  <a:srgbClr val="C00000"/>
                </a:solidFill>
                <a:latin typeface="Times New Roman" panose="02020603050405020304" pitchFamily="18" charset="0"/>
              </a:rPr>
              <a:t>A class defines a type. </a:t>
            </a:r>
            <a:r>
              <a:rPr lang="en-US" altLang="en-US" sz="3200" dirty="0">
                <a:latin typeface="Times New Roman" panose="02020603050405020304" pitchFamily="18" charset="0"/>
              </a:rPr>
              <a:t>A type defined by a subclass is called a </a:t>
            </a:r>
            <a:r>
              <a:rPr lang="en-US" altLang="en-US" sz="3200" i="1" dirty="0">
                <a:latin typeface="Times New Roman" panose="02020603050405020304" pitchFamily="18" charset="0"/>
              </a:rPr>
              <a:t>subtype</a:t>
            </a:r>
            <a:r>
              <a:rPr lang="en-US" altLang="en-US" sz="3200" dirty="0">
                <a:latin typeface="Times New Roman" panose="02020603050405020304" pitchFamily="18" charset="0"/>
              </a:rPr>
              <a:t>, and a type defined by its superclass is called a </a:t>
            </a:r>
            <a:r>
              <a:rPr lang="en-US" altLang="en-US" sz="3200" i="1" dirty="0">
                <a:latin typeface="Times New Roman" panose="02020603050405020304" pitchFamily="18" charset="0"/>
              </a:rPr>
              <a:t>supertype</a:t>
            </a:r>
            <a:r>
              <a:rPr lang="en-US" altLang="en-US" sz="3200" dirty="0">
                <a:latin typeface="Times New Roman" panose="02020603050405020304" pitchFamily="18" charset="0"/>
              </a:rPr>
              <a:t>. Therefore, you can say that </a:t>
            </a:r>
            <a:r>
              <a:rPr lang="en-US" altLang="en-US" sz="3200" b="1" dirty="0">
                <a:latin typeface="Times New Roman" panose="02020603050405020304" pitchFamily="18" charset="0"/>
              </a:rPr>
              <a:t>Circle</a:t>
            </a:r>
            <a:r>
              <a:rPr lang="en-US" altLang="en-US" sz="3200" dirty="0">
                <a:latin typeface="Times New Roman" panose="02020603050405020304" pitchFamily="18" charset="0"/>
              </a:rPr>
              <a:t> is a subtype of </a:t>
            </a:r>
            <a:r>
              <a:rPr lang="en-US" altLang="en-US" sz="3200" b="1" dirty="0">
                <a:latin typeface="Times New Roman" panose="02020603050405020304" pitchFamily="18" charset="0"/>
              </a:rPr>
              <a:t>GeometricObject</a:t>
            </a:r>
            <a:r>
              <a:rPr lang="en-US" altLang="en-US" sz="3200" dirty="0">
                <a:latin typeface="Times New Roman" panose="02020603050405020304" pitchFamily="18" charset="0"/>
              </a:rPr>
              <a:t> and </a:t>
            </a:r>
            <a:r>
              <a:rPr lang="en-US" altLang="en-US" sz="3200" b="1" dirty="0">
                <a:latin typeface="Times New Roman" panose="02020603050405020304" pitchFamily="18" charset="0"/>
              </a:rPr>
              <a:t>GeometricObject</a:t>
            </a:r>
            <a:r>
              <a:rPr lang="en-US" altLang="en-US" sz="3200" dirty="0">
                <a:latin typeface="Times New Roman" panose="02020603050405020304" pitchFamily="18" charset="0"/>
              </a:rPr>
              <a:t> is a supertype for </a:t>
            </a:r>
            <a:r>
              <a:rPr lang="en-US" altLang="en-US" sz="3200" b="1" dirty="0">
                <a:latin typeface="Times New Roman" panose="02020603050405020304" pitchFamily="18" charset="0"/>
              </a:rPr>
              <a:t>Circle</a:t>
            </a:r>
            <a:r>
              <a:rPr lang="en-US" altLang="en-US" sz="3200" dirty="0">
                <a:latin typeface="Times New Roman" panose="02020603050405020304" pitchFamily="18" charset="0"/>
              </a:rPr>
              <a:t>.</a:t>
            </a:r>
            <a:endParaRPr lang="en-US" altLang="en-US" sz="3200" dirty="0">
              <a:latin typeface="Times New Roman" panose="02020603050405020304" pitchFamily="18" charset="0"/>
            </a:endParaRPr>
          </a:p>
        </p:txBody>
      </p:sp>
      <p:sp>
        <p:nvSpPr>
          <p:cNvPr id="396294" name="AutoShape 6">
            <a:hlinkClick r:id="" action="ppaction://noaction" highlightClick="1"/>
          </p:cNvPr>
          <p:cNvSpPr>
            <a:spLocks noChangeArrowheads="1"/>
          </p:cNvSpPr>
          <p:nvPr/>
        </p:nvSpPr>
        <p:spPr bwMode="auto">
          <a:xfrm>
            <a:off x="7010400" y="5257800"/>
            <a:ext cx="3124200" cy="4572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1" action="ppaction://program"/>
              </a:rPr>
              <a:t>PolymorphismDemo</a:t>
            </a:r>
            <a:endParaRPr kumimoji="0" lang="en-US" altLang="zh-CN" sz="24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37895" name="AutoShape 7">
            <a:hlinkClick r:id="rId2" action="ppaction://program"/>
          </p:cNvPr>
          <p:cNvSpPr/>
          <p:nvPr/>
        </p:nvSpPr>
        <p:spPr>
          <a:xfrm>
            <a:off x="7010400" y="5867400"/>
            <a:ext cx="1600200" cy="381000"/>
          </a:xfrm>
          <a:prstGeom prst="actionButtonBlank">
            <a:avLst/>
          </a:prstGeom>
          <a:solidFill>
            <a:srgbClr val="38A1BA"/>
          </a:solidFill>
          <a:ln w="19050">
            <a:noFill/>
          </a:ln>
          <a:effectLst>
            <a:prstShdw prst="shdw17" dist="17961" dir="2699999">
              <a:srgbClr val="226170"/>
            </a:prstShdw>
          </a:effectLst>
        </p:spPr>
        <p:txBody>
          <a:bodyPr wrap="none" anchor="ctr" anchorCtr="0"/>
          <a:p>
            <a:pPr algn="ctr"/>
            <a:r>
              <a:rPr lang="en-US" altLang="en-US" dirty="0">
                <a:latin typeface="Book Antiqua" panose="02040602050305030304" pitchFamily="18" charset="0"/>
              </a:rPr>
              <a:t>Run</a:t>
            </a:r>
            <a:endParaRPr lang="en-US" altLang="en-US" dirty="0">
              <a:latin typeface="Times New Roman" panose="02020603050405020304" pitchFamily="18" charset="0"/>
            </a:endParaRPr>
          </a:p>
        </p:txBody>
      </p:sp>
      <p:sp>
        <p:nvSpPr>
          <p:cNvPr id="37896" name="AutoShape 8">
            <a:hlinkClick r:id="rId3"/>
          </p:cNvPr>
          <p:cNvSpPr/>
          <p:nvPr/>
        </p:nvSpPr>
        <p:spPr>
          <a:xfrm>
            <a:off x="6400800" y="52578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8915" name="Rectangle 2"/>
          <p:cNvSpPr>
            <a:spLocks noGrp="1"/>
          </p:cNvSpPr>
          <p:nvPr>
            <p:ph type="title"/>
          </p:nvPr>
        </p:nvSpPr>
        <p:spPr>
          <a:xfrm>
            <a:off x="1752600" y="152400"/>
            <a:ext cx="8763000" cy="685800"/>
          </a:xfrm>
          <a:ln/>
        </p:spPr>
        <p:txBody>
          <a:bodyPr vert="horz" wrap="square" lIns="92075" tIns="46038" rIns="92075" bIns="46038" anchor="ctr" anchorCtr="0"/>
          <a:p>
            <a:r>
              <a:rPr lang="en-US" altLang="en-US" sz="2400" dirty="0"/>
              <a:t>1</a:t>
            </a:r>
            <a:r>
              <a:rPr lang="zh-CN" altLang="en-US" sz="2400" dirty="0">
                <a:ea typeface="宋体" panose="02010600030101010101" pitchFamily="2" charset="-122"/>
              </a:rPr>
              <a:t>）</a:t>
            </a:r>
            <a:r>
              <a:rPr lang="en-US" altLang="en-US" sz="2400" dirty="0"/>
              <a:t>Polymorphism, Dynamic Binding and Generic Programming</a:t>
            </a:r>
            <a:endParaRPr lang="en-US" altLang="en-US" sz="2800" b="1" dirty="0">
              <a:latin typeface="Courier" pitchFamily="49" charset="0"/>
            </a:endParaRPr>
          </a:p>
        </p:txBody>
      </p:sp>
      <p:sp>
        <p:nvSpPr>
          <p:cNvPr id="38916" name="Text Box 5"/>
          <p:cNvSpPr txBox="1"/>
          <p:nvPr/>
        </p:nvSpPr>
        <p:spPr>
          <a:xfrm>
            <a:off x="1676400" y="838200"/>
            <a:ext cx="3733800" cy="4577080"/>
          </a:xfrm>
          <a:prstGeom prst="rect">
            <a:avLst/>
          </a:prstGeom>
          <a:noFill/>
          <a:ln w="9525">
            <a:noFill/>
          </a:ln>
        </p:spPr>
        <p:txBody>
          <a:bodyPr>
            <a:spAutoFit/>
          </a:bodyPr>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public class PolymorphismDemo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m(new GraduateStudent());</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m(new Student());</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m(new Person());</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m(new Object());</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public static void m(Object x)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System.out.println(x.toString());</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class GraduateStudent extends Student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class Student extends Person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public String toString()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return "Student";</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class Person extends Object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public String toString()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return "Person";</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  }</a:t>
            </a:r>
            <a:endParaRPr lang="en-US" altLang="en-US" sz="11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100" b="1" dirty="0">
                <a:solidFill>
                  <a:schemeClr val="tx2"/>
                </a:solidFill>
                <a:latin typeface="Courier New" panose="02070309020205020404" pitchFamily="49" charset="0"/>
                <a:cs typeface="Times New Roman" panose="02020603050405020304" pitchFamily="18" charset="0"/>
              </a:rPr>
              <a:t>}</a:t>
            </a:r>
            <a:endParaRPr lang="en-US" altLang="en-US" sz="1100" b="1" dirty="0">
              <a:solidFill>
                <a:schemeClr val="tx2"/>
              </a:solidFill>
              <a:latin typeface="Courier New" panose="02070309020205020404" pitchFamily="49" charset="0"/>
              <a:ea typeface="Times New Roman" panose="02020603050405020304" pitchFamily="18" charset="0"/>
            </a:endParaRPr>
          </a:p>
        </p:txBody>
      </p:sp>
      <p:sp>
        <p:nvSpPr>
          <p:cNvPr id="324615" name="Text Box 7"/>
          <p:cNvSpPr txBox="1"/>
          <p:nvPr/>
        </p:nvSpPr>
        <p:spPr>
          <a:xfrm>
            <a:off x="6248400" y="914400"/>
            <a:ext cx="3276600" cy="1014730"/>
          </a:xfrm>
          <a:prstGeom prst="rect">
            <a:avLst/>
          </a:prstGeom>
          <a:noFill/>
          <a:ln w="12700">
            <a:noFill/>
          </a:ln>
        </p:spPr>
        <p:txBody>
          <a:bodyPr>
            <a:spAutoFit/>
          </a:bodyPr>
          <a:p>
            <a:pPr>
              <a:spcBef>
                <a:spcPct val="50000"/>
              </a:spcBef>
            </a:pPr>
            <a:r>
              <a:rPr lang="en-US" altLang="en-US" sz="2000" dirty="0">
                <a:latin typeface="Times New Roman" panose="02020603050405020304" pitchFamily="18" charset="0"/>
              </a:rPr>
              <a:t>Method m takes a parameter of the Object type. You can invoke it with any object.</a:t>
            </a:r>
            <a:endParaRPr lang="en-US" altLang="en-US" sz="2000" dirty="0">
              <a:latin typeface="Times New Roman" panose="02020603050405020304" pitchFamily="18" charset="0"/>
            </a:endParaRPr>
          </a:p>
        </p:txBody>
      </p:sp>
      <p:sp>
        <p:nvSpPr>
          <p:cNvPr id="324616" name="Line 8"/>
          <p:cNvSpPr/>
          <p:nvPr/>
        </p:nvSpPr>
        <p:spPr>
          <a:xfrm flipH="1">
            <a:off x="4114800" y="1371600"/>
            <a:ext cx="2133600" cy="0"/>
          </a:xfrm>
          <a:prstGeom prst="line">
            <a:avLst/>
          </a:prstGeom>
          <a:ln w="12700" cap="flat" cmpd="sng">
            <a:solidFill>
              <a:srgbClr val="FF0000"/>
            </a:solidFill>
            <a:prstDash val="solid"/>
            <a:headEnd type="none" w="sm" len="sm"/>
            <a:tailEnd type="stealth" w="sm" len="sm"/>
          </a:ln>
        </p:spPr>
      </p:sp>
      <p:sp>
        <p:nvSpPr>
          <p:cNvPr id="324617" name="Text Box 9"/>
          <p:cNvSpPr txBox="1"/>
          <p:nvPr/>
        </p:nvSpPr>
        <p:spPr>
          <a:xfrm>
            <a:off x="5410200" y="1981200"/>
            <a:ext cx="5105400" cy="1014730"/>
          </a:xfrm>
          <a:prstGeom prst="rect">
            <a:avLst/>
          </a:prstGeom>
          <a:noFill/>
          <a:ln w="12700">
            <a:noFill/>
          </a:ln>
        </p:spPr>
        <p:txBody>
          <a:bodyPr>
            <a:spAutoFit/>
          </a:bodyPr>
          <a:p>
            <a:pPr>
              <a:spcBef>
                <a:spcPct val="50000"/>
              </a:spcBef>
            </a:pPr>
            <a:r>
              <a:rPr lang="en-US" altLang="en-US" sz="2000" dirty="0">
                <a:latin typeface="Times New Roman" panose="02020603050405020304" pitchFamily="18" charset="0"/>
                <a:cs typeface="Courier New" panose="02070309020205020404" pitchFamily="49" charset="0"/>
              </a:rPr>
              <a:t>An object of a subtype can be used wherever its supertype value is required</a:t>
            </a:r>
            <a:r>
              <a:rPr lang="en-US" altLang="en-US" sz="2000" dirty="0">
                <a:latin typeface="Times New Roman" panose="02020603050405020304" pitchFamily="18" charset="0"/>
                <a:cs typeface="Times New Roman" panose="02020603050405020304" pitchFamily="18" charset="0"/>
              </a:rPr>
              <a:t>. This feature is known as </a:t>
            </a:r>
            <a:r>
              <a:rPr lang="en-US" altLang="en-US" sz="2000" i="1" dirty="0">
                <a:latin typeface="Times New Roman" panose="02020603050405020304" pitchFamily="18" charset="0"/>
                <a:cs typeface="Times New Roman" panose="02020603050405020304" pitchFamily="18" charset="0"/>
              </a:rPr>
              <a:t>polymorphism</a:t>
            </a:r>
            <a:r>
              <a:rPr lang="en-US"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ea typeface="Times New Roman" panose="02020603050405020304" pitchFamily="18" charset="0"/>
            </a:endParaRPr>
          </a:p>
        </p:txBody>
      </p:sp>
      <p:sp>
        <p:nvSpPr>
          <p:cNvPr id="324618" name="Rectangle 10"/>
          <p:cNvSpPr>
            <a:spLocks noGrp="1"/>
          </p:cNvSpPr>
          <p:nvPr>
            <p:ph idx="1"/>
          </p:nvPr>
        </p:nvSpPr>
        <p:spPr>
          <a:xfrm>
            <a:off x="5410200" y="3352800"/>
            <a:ext cx="5029200" cy="2895600"/>
          </a:xfrm>
          <a:ln/>
        </p:spPr>
        <p:txBody>
          <a:bodyPr vert="horz" wrap="square" lIns="92075" tIns="46038" rIns="92075" bIns="46038" anchor="t" anchorCtr="0"/>
          <a:p>
            <a:pPr marL="0" indent="0">
              <a:lnSpc>
                <a:spcPct val="90000"/>
              </a:lnSpc>
              <a:buNone/>
            </a:pPr>
            <a:r>
              <a:rPr lang="en-US" altLang="en-US" sz="2000" dirty="0">
                <a:cs typeface="Times New Roman" panose="02020603050405020304" pitchFamily="18" charset="0"/>
              </a:rPr>
              <a:t>When the method m(Object x) is executed, the argument x’s toString method is invoked. x may be an instance of GraduateStudent, Student, Person, or Object. Classes GraduateStudent, Student, Person, and Object have their own implementation of the toString method. Which implementation is used will be determined dynamically by the Java Virtual Machine at runtime. This capability is known as </a:t>
            </a:r>
            <a:r>
              <a:rPr lang="en-US" altLang="en-US" sz="2000" i="1" dirty="0">
                <a:cs typeface="Times New Roman" panose="02020603050405020304" pitchFamily="18" charset="0"/>
              </a:rPr>
              <a:t>dynamic binding</a:t>
            </a:r>
            <a:r>
              <a:rPr lang="en-US" altLang="en-US" sz="2000" dirty="0">
                <a:cs typeface="Times New Roman" panose="02020603050405020304" pitchFamily="18" charset="0"/>
              </a:rPr>
              <a:t>. </a:t>
            </a:r>
            <a:endParaRPr lang="en-US" altLang="en-US" sz="2000" dirty="0"/>
          </a:p>
        </p:txBody>
      </p:sp>
      <p:sp>
        <p:nvSpPr>
          <p:cNvPr id="324621" name="AutoShape 13">
            <a:hlinkClick r:id="" action="ppaction://noaction" highlightClick="1"/>
          </p:cNvPr>
          <p:cNvSpPr>
            <a:spLocks noChangeArrowheads="1"/>
          </p:cNvSpPr>
          <p:nvPr/>
        </p:nvSpPr>
        <p:spPr bwMode="auto">
          <a:xfrm>
            <a:off x="2286000" y="5486400"/>
            <a:ext cx="3048000" cy="3810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1" action="ppaction://program"/>
              </a:rPr>
              <a:t>DynamicBindingDemo</a:t>
            </a:r>
            <a:endParaRPr kumimoji="0" lang="en-US" altLang="zh-CN" sz="24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38922" name="AutoShape 14">
            <a:hlinkClick r:id="rId2" action="ppaction://program"/>
          </p:cNvPr>
          <p:cNvSpPr/>
          <p:nvPr/>
        </p:nvSpPr>
        <p:spPr>
          <a:xfrm>
            <a:off x="2286000" y="5943600"/>
            <a:ext cx="1600200" cy="381000"/>
          </a:xfrm>
          <a:prstGeom prst="actionButtonBlank">
            <a:avLst/>
          </a:prstGeom>
          <a:solidFill>
            <a:srgbClr val="38A1BA"/>
          </a:solidFill>
          <a:ln w="19050">
            <a:noFill/>
          </a:ln>
          <a:effectLst>
            <a:prstShdw prst="shdw17" dist="17961" dir="2699999">
              <a:srgbClr val="226170"/>
            </a:prstShdw>
          </a:effectLst>
        </p:spPr>
        <p:txBody>
          <a:bodyPr wrap="none" anchor="ctr" anchorCtr="0"/>
          <a:p>
            <a:pPr algn="ctr"/>
            <a:r>
              <a:rPr lang="en-US" altLang="en-US" dirty="0">
                <a:latin typeface="Book Antiqua" panose="02040602050305030304" pitchFamily="18" charset="0"/>
              </a:rPr>
              <a:t>Run</a:t>
            </a:r>
            <a:endParaRPr lang="en-US" altLang="en-US" dirty="0">
              <a:latin typeface="Times New Roman" panose="02020603050405020304" pitchFamily="18" charset="0"/>
            </a:endParaRPr>
          </a:p>
        </p:txBody>
      </p:sp>
      <p:sp>
        <p:nvSpPr>
          <p:cNvPr id="38923" name="AutoShape 15">
            <a:hlinkClick r:id="rId3"/>
          </p:cNvPr>
          <p:cNvSpPr/>
          <p:nvPr/>
        </p:nvSpPr>
        <p:spPr>
          <a:xfrm>
            <a:off x="1752600" y="54102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
        <p:nvSpPr>
          <p:cNvPr id="12" name="AutoShape 4">
            <a:hlinkClick r:id="rId4" highlightClick="1"/>
          </p:cNvPr>
          <p:cNvSpPr>
            <a:spLocks noChangeArrowheads="1"/>
          </p:cNvSpPr>
          <p:nvPr/>
        </p:nvSpPr>
        <p:spPr bwMode="auto">
          <a:xfrm>
            <a:off x="3835547" y="5067586"/>
            <a:ext cx="1524000" cy="418814"/>
          </a:xfrm>
          <a:prstGeom prst="actionButtonBlank">
            <a:avLst/>
          </a:prstGeom>
          <a:solidFill>
            <a:srgbClr val="00B0F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p>
            <a:pPr algn="ctr"/>
            <a:r>
              <a:rPr lang="en-US" altLang="en-US" dirty="0">
                <a:latin typeface="Book Antiqua" panose="02040602050305030304" pitchFamily="18" charset="0"/>
              </a:rPr>
              <a:t>Animation</a:t>
            </a:r>
            <a:endParaRPr lang="en-US"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4615"/>
                                        </p:tgtEl>
                                        <p:attrNameLst>
                                          <p:attrName>style.visibility</p:attrName>
                                        </p:attrNameLst>
                                      </p:cBhvr>
                                      <p:to>
                                        <p:strVal val="visible"/>
                                      </p:to>
                                    </p:set>
                                    <p:anim calcmode="lin" valueType="num">
                                      <p:cBhvr additive="base">
                                        <p:cTn id="7" dur="500" fill="hold"/>
                                        <p:tgtEl>
                                          <p:spTgt spid="324615"/>
                                        </p:tgtEl>
                                        <p:attrNameLst>
                                          <p:attrName>ppt_x</p:attrName>
                                        </p:attrNameLst>
                                      </p:cBhvr>
                                      <p:tavLst>
                                        <p:tav tm="0">
                                          <p:val>
                                            <p:strVal val="0-#ppt_w/2"/>
                                          </p:val>
                                        </p:tav>
                                        <p:tav tm="100000">
                                          <p:val>
                                            <p:strVal val="#ppt_x"/>
                                          </p:val>
                                        </p:tav>
                                      </p:tavLst>
                                    </p:anim>
                                    <p:anim calcmode="lin" valueType="num">
                                      <p:cBhvr additive="base">
                                        <p:cTn id="8" dur="500" fill="hold"/>
                                        <p:tgtEl>
                                          <p:spTgt spid="3246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24616"/>
                                        </p:tgtEl>
                                        <p:attrNameLst>
                                          <p:attrName>style.visibility</p:attrName>
                                        </p:attrNameLst>
                                      </p:cBhvr>
                                      <p:to>
                                        <p:strVal val="visible"/>
                                      </p:to>
                                    </p:set>
                                    <p:anim calcmode="lin" valueType="num">
                                      <p:cBhvr additive="base">
                                        <p:cTn id="13" dur="500" fill="hold"/>
                                        <p:tgtEl>
                                          <p:spTgt spid="324616"/>
                                        </p:tgtEl>
                                        <p:attrNameLst>
                                          <p:attrName>ppt_x</p:attrName>
                                        </p:attrNameLst>
                                      </p:cBhvr>
                                      <p:tavLst>
                                        <p:tav tm="0">
                                          <p:val>
                                            <p:strVal val="0-#ppt_w/2"/>
                                          </p:val>
                                        </p:tav>
                                        <p:tav tm="100000">
                                          <p:val>
                                            <p:strVal val="#ppt_x"/>
                                          </p:val>
                                        </p:tav>
                                      </p:tavLst>
                                    </p:anim>
                                    <p:anim calcmode="lin" valueType="num">
                                      <p:cBhvr additive="base">
                                        <p:cTn id="14" dur="500" fill="hold"/>
                                        <p:tgtEl>
                                          <p:spTgt spid="3246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4617"/>
                                        </p:tgtEl>
                                        <p:attrNameLst>
                                          <p:attrName>style.visibility</p:attrName>
                                        </p:attrNameLst>
                                      </p:cBhvr>
                                      <p:to>
                                        <p:strVal val="visible"/>
                                      </p:to>
                                    </p:set>
                                    <p:anim calcmode="lin" valueType="num">
                                      <p:cBhvr additive="base">
                                        <p:cTn id="19" dur="500" fill="hold"/>
                                        <p:tgtEl>
                                          <p:spTgt spid="324617"/>
                                        </p:tgtEl>
                                        <p:attrNameLst>
                                          <p:attrName>ppt_x</p:attrName>
                                        </p:attrNameLst>
                                      </p:cBhvr>
                                      <p:tavLst>
                                        <p:tav tm="0">
                                          <p:val>
                                            <p:strVal val="0-#ppt_w/2"/>
                                          </p:val>
                                        </p:tav>
                                        <p:tav tm="100000">
                                          <p:val>
                                            <p:strVal val="#ppt_x"/>
                                          </p:val>
                                        </p:tav>
                                      </p:tavLst>
                                    </p:anim>
                                    <p:anim calcmode="lin" valueType="num">
                                      <p:cBhvr additive="base">
                                        <p:cTn id="20" dur="500" fill="hold"/>
                                        <p:tgtEl>
                                          <p:spTgt spid="32461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24618">
                                            <p:txEl>
                                              <p:charRg st="0" end="408"/>
                                            </p:txEl>
                                          </p:spTgt>
                                        </p:tgtEl>
                                        <p:attrNameLst>
                                          <p:attrName>style.visibility</p:attrName>
                                        </p:attrNameLst>
                                      </p:cBhvr>
                                      <p:to>
                                        <p:strVal val="visible"/>
                                      </p:to>
                                    </p:set>
                                    <p:anim calcmode="lin" valueType="num">
                                      <p:cBhvr additive="base">
                                        <p:cTn id="25" dur="500" fill="hold"/>
                                        <p:tgtEl>
                                          <p:spTgt spid="324618">
                                            <p:txEl>
                                              <p:charRg st="0" end="408"/>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24618">
                                            <p:txEl>
                                              <p:charRg st="0" end="40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5" grpId="0"/>
      <p:bldP spid="324617" grpId="0"/>
      <p:bldP spid="32461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5124" name="Rectangle 2"/>
          <p:cNvSpPr>
            <a:spLocks noGrp="1"/>
          </p:cNvSpPr>
          <p:nvPr>
            <p:ph type="title"/>
          </p:nvPr>
        </p:nvSpPr>
        <p:spPr>
          <a:xfrm>
            <a:off x="2209800" y="304800"/>
            <a:ext cx="7772400" cy="457200"/>
          </a:xfrm>
          <a:ln/>
        </p:spPr>
        <p:txBody>
          <a:bodyPr vert="horz" wrap="square" lIns="92075" tIns="46038" rIns="92075" bIns="46038" anchor="ctr" anchorCtr="0"/>
          <a:p>
            <a:r>
              <a:rPr lang="en-US" altLang="en-US" sz="4000" dirty="0"/>
              <a:t>Dynamic Binding</a:t>
            </a:r>
            <a:endParaRPr lang="en-US" altLang="en-US" b="1" dirty="0">
              <a:latin typeface="Courier" pitchFamily="49" charset="0"/>
            </a:endParaRPr>
          </a:p>
        </p:txBody>
      </p:sp>
      <p:sp>
        <p:nvSpPr>
          <p:cNvPr id="5125" name="Rectangle 3"/>
          <p:cNvSpPr>
            <a:spLocks noGrp="1"/>
          </p:cNvSpPr>
          <p:nvPr>
            <p:ph idx="1"/>
          </p:nvPr>
        </p:nvSpPr>
        <p:spPr>
          <a:xfrm>
            <a:off x="1752600" y="990600"/>
            <a:ext cx="8915400" cy="3505200"/>
          </a:xfrm>
          <a:ln/>
        </p:spPr>
        <p:txBody>
          <a:bodyPr vert="horz" wrap="square" lIns="92075" tIns="46038" rIns="92075" bIns="46038" anchor="t" anchorCtr="0"/>
          <a:p>
            <a:pPr marL="0" indent="0">
              <a:lnSpc>
                <a:spcPct val="90000"/>
              </a:lnSpc>
              <a:buNone/>
            </a:pPr>
            <a:r>
              <a:rPr lang="en-US" altLang="en-US" sz="2600" dirty="0">
                <a:cs typeface="Times New Roman" panose="02020603050405020304" pitchFamily="18" charset="0"/>
              </a:rPr>
              <a:t>Dynamic binding works as follows: Suppose an object o is an instance of classes C</a:t>
            </a:r>
            <a:r>
              <a:rPr lang="en-US" altLang="en-US" sz="2600" baseline="-30000" dirty="0">
                <a:cs typeface="Times New Roman" panose="02020603050405020304" pitchFamily="18" charset="0"/>
              </a:rPr>
              <a:t>1</a:t>
            </a:r>
            <a:r>
              <a:rPr lang="en-US" altLang="en-US" sz="2600" dirty="0">
                <a:cs typeface="Times New Roman" panose="02020603050405020304" pitchFamily="18" charset="0"/>
              </a:rPr>
              <a:t>, C</a:t>
            </a:r>
            <a:r>
              <a:rPr lang="en-US" altLang="en-US" sz="2600" baseline="-30000" dirty="0">
                <a:cs typeface="Times New Roman" panose="02020603050405020304" pitchFamily="18" charset="0"/>
              </a:rPr>
              <a:t>2</a:t>
            </a:r>
            <a:r>
              <a:rPr lang="en-US" altLang="en-US" sz="2600" dirty="0">
                <a:cs typeface="Times New Roman" panose="02020603050405020304" pitchFamily="18" charset="0"/>
              </a:rPr>
              <a:t>, ..., C</a:t>
            </a:r>
            <a:r>
              <a:rPr lang="en-US" altLang="en-US" sz="2600" baseline="-30000" dirty="0">
                <a:cs typeface="Times New Roman" panose="02020603050405020304" pitchFamily="18" charset="0"/>
              </a:rPr>
              <a:t>n-1</a:t>
            </a:r>
            <a:r>
              <a:rPr lang="en-US" altLang="en-US" sz="2600" dirty="0">
                <a:cs typeface="Times New Roman" panose="02020603050405020304" pitchFamily="18" charset="0"/>
              </a:rPr>
              <a:t>, and C</a:t>
            </a:r>
            <a:r>
              <a:rPr lang="en-US" altLang="en-US" sz="2600" baseline="-30000" dirty="0">
                <a:cs typeface="Times New Roman" panose="02020603050405020304" pitchFamily="18" charset="0"/>
              </a:rPr>
              <a:t>n</a:t>
            </a:r>
            <a:r>
              <a:rPr lang="en-US" altLang="en-US" sz="2600" dirty="0">
                <a:cs typeface="Times New Roman" panose="02020603050405020304" pitchFamily="18" charset="0"/>
              </a:rPr>
              <a:t>, where C</a:t>
            </a:r>
            <a:r>
              <a:rPr lang="en-US" altLang="en-US" sz="2600" baseline="-30000" dirty="0">
                <a:cs typeface="Times New Roman" panose="02020603050405020304" pitchFamily="18" charset="0"/>
              </a:rPr>
              <a:t>1</a:t>
            </a:r>
            <a:r>
              <a:rPr lang="en-US" altLang="en-US" sz="2600" dirty="0">
                <a:cs typeface="Times New Roman" panose="02020603050405020304" pitchFamily="18" charset="0"/>
              </a:rPr>
              <a:t> is a subclass of C</a:t>
            </a:r>
            <a:r>
              <a:rPr lang="en-US" altLang="en-US" sz="2600" baseline="-30000" dirty="0">
                <a:cs typeface="Times New Roman" panose="02020603050405020304" pitchFamily="18" charset="0"/>
              </a:rPr>
              <a:t>2</a:t>
            </a:r>
            <a:r>
              <a:rPr lang="en-US" altLang="en-US" sz="2600" dirty="0">
                <a:cs typeface="Times New Roman" panose="02020603050405020304" pitchFamily="18" charset="0"/>
              </a:rPr>
              <a:t>, C</a:t>
            </a:r>
            <a:r>
              <a:rPr lang="en-US" altLang="en-US" sz="2600" baseline="-30000" dirty="0">
                <a:cs typeface="Times New Roman" panose="02020603050405020304" pitchFamily="18" charset="0"/>
              </a:rPr>
              <a:t>2</a:t>
            </a:r>
            <a:r>
              <a:rPr lang="en-US" altLang="en-US" sz="2600" dirty="0">
                <a:cs typeface="Times New Roman" panose="02020603050405020304" pitchFamily="18" charset="0"/>
              </a:rPr>
              <a:t> is a subclass of C</a:t>
            </a:r>
            <a:r>
              <a:rPr lang="en-US" altLang="en-US" sz="2600" baseline="-30000" dirty="0">
                <a:cs typeface="Times New Roman" panose="02020603050405020304" pitchFamily="18" charset="0"/>
              </a:rPr>
              <a:t>3</a:t>
            </a:r>
            <a:r>
              <a:rPr lang="en-US" altLang="en-US" sz="2600" dirty="0">
                <a:cs typeface="Times New Roman" panose="02020603050405020304" pitchFamily="18" charset="0"/>
              </a:rPr>
              <a:t>, ..., and C</a:t>
            </a:r>
            <a:r>
              <a:rPr lang="en-US" altLang="en-US" sz="2600" baseline="-30000" dirty="0">
                <a:cs typeface="Times New Roman" panose="02020603050405020304" pitchFamily="18" charset="0"/>
              </a:rPr>
              <a:t>n-1</a:t>
            </a:r>
            <a:r>
              <a:rPr lang="en-US" altLang="en-US" sz="2600" dirty="0">
                <a:cs typeface="Times New Roman" panose="02020603050405020304" pitchFamily="18" charset="0"/>
              </a:rPr>
              <a:t> is a subclass of C</a:t>
            </a:r>
            <a:r>
              <a:rPr lang="en-US" altLang="en-US" sz="2600" baseline="-30000" dirty="0">
                <a:cs typeface="Times New Roman" panose="02020603050405020304" pitchFamily="18" charset="0"/>
              </a:rPr>
              <a:t>n</a:t>
            </a:r>
            <a:r>
              <a:rPr lang="en-US" altLang="en-US" sz="2600" dirty="0">
                <a:cs typeface="Times New Roman" panose="02020603050405020304" pitchFamily="18" charset="0"/>
              </a:rPr>
              <a:t>. </a:t>
            </a:r>
            <a:r>
              <a:rPr lang="en-US" altLang="en-US" sz="2600" dirty="0">
                <a:cs typeface="Courier New" panose="02070309020205020404" pitchFamily="49" charset="0"/>
              </a:rPr>
              <a:t>That is, </a:t>
            </a:r>
            <a:r>
              <a:rPr lang="en-US" altLang="en-US" sz="2600" dirty="0">
                <a:cs typeface="Times New Roman" panose="02020603050405020304" pitchFamily="18" charset="0"/>
              </a:rPr>
              <a:t>C</a:t>
            </a:r>
            <a:r>
              <a:rPr lang="en-US" altLang="en-US" sz="2600" baseline="-30000" dirty="0">
                <a:cs typeface="Times New Roman" panose="02020603050405020304" pitchFamily="18" charset="0"/>
              </a:rPr>
              <a:t>n</a:t>
            </a:r>
            <a:r>
              <a:rPr lang="en-US" altLang="en-US" sz="2600" dirty="0">
                <a:cs typeface="Courier New" panose="02070309020205020404" pitchFamily="49" charset="0"/>
              </a:rPr>
              <a:t> is the most general class, and </a:t>
            </a:r>
            <a:r>
              <a:rPr lang="en-US" altLang="en-US" sz="2600" dirty="0">
                <a:cs typeface="Times New Roman" panose="02020603050405020304" pitchFamily="18" charset="0"/>
              </a:rPr>
              <a:t>C</a:t>
            </a:r>
            <a:r>
              <a:rPr lang="en-US" altLang="en-US" sz="2600" baseline="-30000" dirty="0">
                <a:cs typeface="Times New Roman" panose="02020603050405020304" pitchFamily="18" charset="0"/>
              </a:rPr>
              <a:t>1</a:t>
            </a:r>
            <a:r>
              <a:rPr lang="en-US" altLang="en-US" sz="2600" dirty="0">
                <a:cs typeface="Courier New" panose="02070309020205020404" pitchFamily="49" charset="0"/>
              </a:rPr>
              <a:t> is the most specific class. In Java, </a:t>
            </a:r>
            <a:r>
              <a:rPr lang="en-US" altLang="en-US" sz="2600" dirty="0">
                <a:cs typeface="Times New Roman" panose="02020603050405020304" pitchFamily="18" charset="0"/>
              </a:rPr>
              <a:t>C</a:t>
            </a:r>
            <a:r>
              <a:rPr lang="en-US" altLang="en-US" sz="2600" baseline="-30000" dirty="0">
                <a:cs typeface="Times New Roman" panose="02020603050405020304" pitchFamily="18" charset="0"/>
              </a:rPr>
              <a:t>n</a:t>
            </a:r>
            <a:r>
              <a:rPr lang="en-US" altLang="en-US" sz="2600" dirty="0">
                <a:cs typeface="Courier New" panose="02070309020205020404" pitchFamily="49" charset="0"/>
              </a:rPr>
              <a:t> is the Object class. </a:t>
            </a:r>
            <a:r>
              <a:rPr lang="en-US" altLang="en-US" sz="2600" dirty="0">
                <a:solidFill>
                  <a:srgbClr val="C00000"/>
                </a:solidFill>
                <a:cs typeface="Times New Roman" panose="02020603050405020304" pitchFamily="18" charset="0"/>
              </a:rPr>
              <a:t>If o invokes a method p, the JVM searches the implementation for the method p in C</a:t>
            </a:r>
            <a:r>
              <a:rPr lang="en-US" altLang="en-US" sz="2600" baseline="-30000" dirty="0">
                <a:solidFill>
                  <a:srgbClr val="C00000"/>
                </a:solidFill>
                <a:cs typeface="Times New Roman" panose="02020603050405020304" pitchFamily="18" charset="0"/>
              </a:rPr>
              <a:t>1</a:t>
            </a:r>
            <a:r>
              <a:rPr lang="en-US" altLang="en-US" sz="2600" dirty="0">
                <a:solidFill>
                  <a:srgbClr val="C00000"/>
                </a:solidFill>
                <a:cs typeface="Times New Roman" panose="02020603050405020304" pitchFamily="18" charset="0"/>
              </a:rPr>
              <a:t>, C</a:t>
            </a:r>
            <a:r>
              <a:rPr lang="en-US" altLang="en-US" sz="2600" baseline="-30000" dirty="0">
                <a:solidFill>
                  <a:srgbClr val="C00000"/>
                </a:solidFill>
                <a:cs typeface="Times New Roman" panose="02020603050405020304" pitchFamily="18" charset="0"/>
              </a:rPr>
              <a:t>2</a:t>
            </a:r>
            <a:r>
              <a:rPr lang="en-US" altLang="en-US" sz="2600" dirty="0">
                <a:solidFill>
                  <a:srgbClr val="C00000"/>
                </a:solidFill>
                <a:cs typeface="Times New Roman" panose="02020603050405020304" pitchFamily="18" charset="0"/>
              </a:rPr>
              <a:t>, ..., C</a:t>
            </a:r>
            <a:r>
              <a:rPr lang="en-US" altLang="en-US" sz="2600" baseline="-30000" dirty="0">
                <a:solidFill>
                  <a:srgbClr val="C00000"/>
                </a:solidFill>
                <a:cs typeface="Times New Roman" panose="02020603050405020304" pitchFamily="18" charset="0"/>
              </a:rPr>
              <a:t>n-1 </a:t>
            </a:r>
            <a:r>
              <a:rPr lang="en-US" altLang="en-US" sz="2600" dirty="0">
                <a:solidFill>
                  <a:srgbClr val="C00000"/>
                </a:solidFill>
                <a:cs typeface="Times New Roman" panose="02020603050405020304" pitchFamily="18" charset="0"/>
              </a:rPr>
              <a:t>and C</a:t>
            </a:r>
            <a:r>
              <a:rPr lang="en-US" altLang="en-US" sz="2600" baseline="-30000" dirty="0">
                <a:solidFill>
                  <a:srgbClr val="C00000"/>
                </a:solidFill>
                <a:cs typeface="Times New Roman" panose="02020603050405020304" pitchFamily="18" charset="0"/>
              </a:rPr>
              <a:t>n</a:t>
            </a:r>
            <a:r>
              <a:rPr lang="en-US" altLang="en-US" sz="2600" dirty="0">
                <a:solidFill>
                  <a:srgbClr val="C00000"/>
                </a:solidFill>
                <a:cs typeface="Times New Roman" panose="02020603050405020304" pitchFamily="18" charset="0"/>
              </a:rPr>
              <a:t>, in this order, until it is found. </a:t>
            </a:r>
            <a:r>
              <a:rPr lang="en-US" altLang="en-US" sz="2600" dirty="0">
                <a:cs typeface="Courier New" panose="02070309020205020404" pitchFamily="49" charset="0"/>
              </a:rPr>
              <a:t>Once an implementation is found, the search stops and the first-found implementation is invoked.</a:t>
            </a:r>
            <a:endParaRPr lang="en-US" altLang="en-US" sz="2600" dirty="0">
              <a:ea typeface="Courier New" panose="02070309020205020404" pitchFamily="49" charset="0"/>
            </a:endParaRPr>
          </a:p>
        </p:txBody>
      </p:sp>
      <p:graphicFrame>
        <p:nvGraphicFramePr>
          <p:cNvPr id="5122" name="Object 4"/>
          <p:cNvGraphicFramePr>
            <a:graphicFrameLocks noChangeAspect="1"/>
          </p:cNvGraphicFramePr>
          <p:nvPr/>
        </p:nvGraphicFramePr>
        <p:xfrm>
          <a:off x="1524000" y="4343400"/>
          <a:ext cx="9144000" cy="2063750"/>
        </p:xfrm>
        <a:graphic>
          <a:graphicData uri="http://schemas.openxmlformats.org/presentationml/2006/ole">
            <mc:AlternateContent xmlns:mc="http://schemas.openxmlformats.org/markup-compatibility/2006">
              <mc:Choice xmlns:v="urn:schemas-microsoft-com:vml" Requires="v">
                <p:oleObj spid="_x0000_s3078" name="" r:id="rId1" imgW="3715385" imgH="857885" progId="Word.Picture.8">
                  <p:embed/>
                </p:oleObj>
              </mc:Choice>
              <mc:Fallback>
                <p:oleObj name="" r:id="rId1" imgW="3715385" imgH="857885" progId="Word.Picture.8">
                  <p:embed/>
                  <p:pic>
                    <p:nvPicPr>
                      <p:cNvPr id="0" name="图片 3077"/>
                      <p:cNvPicPr/>
                      <p:nvPr/>
                    </p:nvPicPr>
                    <p:blipFill>
                      <a:blip r:embed="rId2"/>
                      <a:stretch>
                        <a:fillRect/>
                      </a:stretch>
                    </p:blipFill>
                    <p:spPr>
                      <a:xfrm>
                        <a:off x="1524000" y="4343400"/>
                        <a:ext cx="9144000" cy="2063750"/>
                      </a:xfrm>
                      <a:prstGeom prst="rect">
                        <a:avLst/>
                      </a:prstGeom>
                      <a:noFill/>
                      <a:ln w="38100">
                        <a:noFill/>
                        <a:miter/>
                      </a:ln>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39939" name="Rectangle 2"/>
          <p:cNvSpPr>
            <a:spLocks noGrp="1"/>
          </p:cNvSpPr>
          <p:nvPr>
            <p:ph type="title"/>
          </p:nvPr>
        </p:nvSpPr>
        <p:spPr>
          <a:xfrm>
            <a:off x="2209800" y="304800"/>
            <a:ext cx="7772400" cy="457200"/>
          </a:xfrm>
          <a:ln/>
        </p:spPr>
        <p:txBody>
          <a:bodyPr vert="horz" wrap="square" lIns="92075" tIns="46038" rIns="92075" bIns="46038" anchor="ctr" anchorCtr="0"/>
          <a:p>
            <a:r>
              <a:rPr lang="en-US" altLang="en-US" sz="4000" dirty="0"/>
              <a:t>Method Matching vs. Binding</a:t>
            </a:r>
            <a:endParaRPr lang="en-US" altLang="en-US" b="1" dirty="0">
              <a:latin typeface="Courier" pitchFamily="49" charset="0"/>
            </a:endParaRPr>
          </a:p>
        </p:txBody>
      </p:sp>
      <p:sp>
        <p:nvSpPr>
          <p:cNvPr id="39940" name="Rectangle 3"/>
          <p:cNvSpPr>
            <a:spLocks noGrp="1"/>
          </p:cNvSpPr>
          <p:nvPr>
            <p:ph idx="1"/>
          </p:nvPr>
        </p:nvSpPr>
        <p:spPr>
          <a:xfrm>
            <a:off x="1752600" y="990600"/>
            <a:ext cx="8763000" cy="3733800"/>
          </a:xfrm>
          <a:ln/>
        </p:spPr>
        <p:txBody>
          <a:bodyPr vert="horz" wrap="square" lIns="92075" tIns="46038" rIns="92075" bIns="46038" anchor="t" anchorCtr="0"/>
          <a:p>
            <a:pPr marL="0" indent="0">
              <a:buNone/>
            </a:pPr>
            <a:r>
              <a:rPr lang="en-US" altLang="en-US" sz="3000" dirty="0">
                <a:cs typeface="Times New Roman" panose="02020603050405020304" pitchFamily="18" charset="0"/>
              </a:rPr>
              <a:t>Matching a method signature and binding a method implementation are two issues. </a:t>
            </a:r>
            <a:r>
              <a:rPr lang="en-US" altLang="en-US" sz="3000" dirty="0">
                <a:solidFill>
                  <a:srgbClr val="C00000"/>
                </a:solidFill>
                <a:cs typeface="Times New Roman" panose="02020603050405020304" pitchFamily="18" charset="0"/>
              </a:rPr>
              <a:t>The compiler finds a matching method according to parameter type, number of parameters, and order of the parameters at compilation time</a:t>
            </a:r>
            <a:r>
              <a:rPr lang="en-US" altLang="en-US" sz="3000" dirty="0">
                <a:cs typeface="Times New Roman" panose="02020603050405020304" pitchFamily="18" charset="0"/>
              </a:rPr>
              <a:t>. A method may be implemented in several subclasses. </a:t>
            </a:r>
            <a:r>
              <a:rPr lang="en-US" altLang="en-US" sz="3000" dirty="0">
                <a:solidFill>
                  <a:srgbClr val="C00000"/>
                </a:solidFill>
                <a:cs typeface="Times New Roman" panose="02020603050405020304" pitchFamily="18" charset="0"/>
              </a:rPr>
              <a:t>The Java Virtual Machine dynamically binds the implementation of the method at runtime. </a:t>
            </a:r>
            <a:endParaRPr lang="en-US" altLang="en-US" sz="3000" dirty="0">
              <a:solidFill>
                <a:srgbClr val="C00000"/>
              </a:solidFill>
              <a:ea typeface="Courier New" panose="020703090202050204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0963" name="Rectangle 2"/>
          <p:cNvSpPr>
            <a:spLocks noGrp="1"/>
          </p:cNvSpPr>
          <p:nvPr>
            <p:ph type="title"/>
          </p:nvPr>
        </p:nvSpPr>
        <p:spPr>
          <a:xfrm>
            <a:off x="1752600" y="152400"/>
            <a:ext cx="8763000" cy="685800"/>
          </a:xfrm>
          <a:ln/>
        </p:spPr>
        <p:txBody>
          <a:bodyPr vert="horz" wrap="square" lIns="92075" tIns="46038" rIns="92075" bIns="46038" anchor="ctr" anchorCtr="0"/>
          <a:p>
            <a:r>
              <a:rPr lang="en-US" altLang="en-US" sz="2400" dirty="0"/>
              <a:t>Generic Programming</a:t>
            </a:r>
            <a:endParaRPr lang="en-US" altLang="en-US" sz="2800" b="1" dirty="0">
              <a:latin typeface="Courier" pitchFamily="49" charset="0"/>
            </a:endParaRPr>
          </a:p>
        </p:txBody>
      </p:sp>
      <p:sp>
        <p:nvSpPr>
          <p:cNvPr id="40964" name="Text Box 3"/>
          <p:cNvSpPr txBox="1"/>
          <p:nvPr/>
        </p:nvSpPr>
        <p:spPr>
          <a:xfrm>
            <a:off x="1676400" y="838200"/>
            <a:ext cx="4114800" cy="5076190"/>
          </a:xfrm>
          <a:prstGeom prst="rect">
            <a:avLst/>
          </a:prstGeom>
          <a:noFill/>
          <a:ln w="9525">
            <a:noFill/>
          </a:ln>
        </p:spPr>
        <p:txBody>
          <a:bodyPr tIns="137160">
            <a:spAutoFit/>
          </a:bodyPr>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public class PolymorphismDemo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public static void main(String[] args)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m(new GraduateStudent());</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m(new Student());</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m(new Person());</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m(new Object());</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public static void m(Object x)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System.out.println(x.toString());</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class GraduateStudent extends Student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class Student extends Person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public String toString()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return "Student";</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class Person extends Object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public String toString()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return "Person";</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  }</a:t>
            </a:r>
            <a:endParaRPr lang="en-US" altLang="en-US" sz="1200" b="1" dirty="0">
              <a:solidFill>
                <a:schemeClr val="tx2"/>
              </a:solidFill>
              <a:latin typeface="Courier New" panose="02070309020205020404" pitchFamily="49" charset="0"/>
              <a:cs typeface="Times New Roman" panose="02020603050405020304" pitchFamily="18" charset="0"/>
            </a:endParaRPr>
          </a:p>
          <a:p>
            <a:pPr>
              <a:lnSpc>
                <a:spcPct val="50000"/>
              </a:lnSpc>
              <a:spcBef>
                <a:spcPct val="50000"/>
              </a:spcBef>
            </a:pPr>
            <a:r>
              <a:rPr lang="en-US" altLang="en-US" sz="1200" b="1" dirty="0">
                <a:solidFill>
                  <a:schemeClr val="tx2"/>
                </a:solidFill>
                <a:latin typeface="Courier New" panose="02070309020205020404" pitchFamily="49" charset="0"/>
                <a:cs typeface="Times New Roman" panose="02020603050405020304" pitchFamily="18" charset="0"/>
              </a:rPr>
              <a:t>}</a:t>
            </a:r>
            <a:endParaRPr lang="en-US" altLang="en-US" sz="1200" b="1" dirty="0">
              <a:solidFill>
                <a:schemeClr val="tx2"/>
              </a:solidFill>
              <a:latin typeface="Courier New" panose="02070309020205020404" pitchFamily="49" charset="0"/>
              <a:ea typeface="Times New Roman" panose="02020603050405020304" pitchFamily="18" charset="0"/>
            </a:endParaRPr>
          </a:p>
        </p:txBody>
      </p:sp>
      <p:sp>
        <p:nvSpPr>
          <p:cNvPr id="40965" name="Rectangle 7"/>
          <p:cNvSpPr>
            <a:spLocks noGrp="1"/>
          </p:cNvSpPr>
          <p:nvPr>
            <p:ph idx="1"/>
          </p:nvPr>
        </p:nvSpPr>
        <p:spPr>
          <a:xfrm>
            <a:off x="5943600" y="838200"/>
            <a:ext cx="4572000" cy="4191000"/>
          </a:xfrm>
          <a:ln/>
        </p:spPr>
        <p:txBody>
          <a:bodyPr vert="horz" wrap="square" lIns="92075" tIns="46038" rIns="92075" bIns="46038" anchor="t" anchorCtr="0"/>
          <a:p>
            <a:pPr marL="0" indent="0">
              <a:buNone/>
            </a:pPr>
            <a:r>
              <a:rPr lang="en-US" altLang="en-US" sz="2000" dirty="0">
                <a:solidFill>
                  <a:srgbClr val="C00000"/>
                </a:solidFill>
                <a:cs typeface="Times New Roman" panose="02020603050405020304" pitchFamily="18" charset="0"/>
              </a:rPr>
              <a:t>Polymorphism allows methods to be used generically for a wide range of object arguments. </a:t>
            </a:r>
            <a:r>
              <a:rPr lang="en-US" altLang="en-US" sz="2000" dirty="0">
                <a:cs typeface="Times New Roman" panose="02020603050405020304" pitchFamily="18" charset="0"/>
              </a:rPr>
              <a:t>This is known as generic programming. If a method’s parameter type is a superclass (e.g., Object), you may pass an object to this method of any of the parameter’s subclasses (e.g., Student or String). When an object (e.g., a Student object or a String object) is used in the method, the particular implementation of the method of the object that is invoked (e.g., toString) is determined dynamically.</a:t>
            </a:r>
            <a:endParaRPr lang="en-US" altLang="en-US" sz="2000" dirty="0">
              <a:ea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1987" name="Rectangle 2"/>
          <p:cNvSpPr>
            <a:spLocks noGrp="1"/>
          </p:cNvSpPr>
          <p:nvPr>
            <p:ph type="title"/>
          </p:nvPr>
        </p:nvSpPr>
        <p:spPr>
          <a:xfrm>
            <a:off x="2209800" y="228600"/>
            <a:ext cx="7772400" cy="609600"/>
          </a:xfrm>
          <a:ln/>
        </p:spPr>
        <p:txBody>
          <a:bodyPr vert="horz" wrap="square" lIns="92075" tIns="46038" rIns="92075" bIns="46038" anchor="ctr" anchorCtr="0"/>
          <a:p>
            <a:r>
              <a:rPr lang="en-US" altLang="en-US" dirty="0"/>
              <a:t>2</a:t>
            </a:r>
            <a:r>
              <a:rPr lang="zh-CN" altLang="en-US" dirty="0">
                <a:ea typeface="宋体" panose="02010600030101010101" pitchFamily="2" charset="-122"/>
              </a:rPr>
              <a:t>）</a:t>
            </a:r>
            <a:r>
              <a:rPr lang="en-US" altLang="en-US" dirty="0"/>
              <a:t>Casting Objects</a:t>
            </a:r>
            <a:endParaRPr lang="en-US" altLang="en-US" dirty="0"/>
          </a:p>
        </p:txBody>
      </p:sp>
      <p:sp>
        <p:nvSpPr>
          <p:cNvPr id="41988" name="Rectangle 3"/>
          <p:cNvSpPr>
            <a:spLocks noGrp="1"/>
          </p:cNvSpPr>
          <p:nvPr>
            <p:ph idx="1"/>
          </p:nvPr>
        </p:nvSpPr>
        <p:spPr>
          <a:xfrm>
            <a:off x="1752600" y="990600"/>
            <a:ext cx="8686800" cy="4114800"/>
          </a:xfrm>
          <a:ln/>
        </p:spPr>
        <p:txBody>
          <a:bodyPr vert="horz" wrap="square" lIns="92075" tIns="46038" rIns="92075" bIns="46038" anchor="t" anchorCtr="0"/>
          <a:p>
            <a:pPr marL="0" indent="0" defTabSz="914400">
              <a:buNone/>
              <a:tabLst>
                <a:tab pos="57150" algn="l"/>
                <a:tab pos="285750" algn="l"/>
              </a:tabLst>
            </a:pPr>
            <a:r>
              <a:rPr lang="en-US" altLang="en-US" sz="2400" dirty="0">
                <a:cs typeface="Courier New" panose="02070309020205020404" pitchFamily="49" charset="0"/>
              </a:rPr>
              <a:t>You have already used the casting operator to convert variables of one primitive type to another. </a:t>
            </a:r>
            <a:r>
              <a:rPr lang="en-US" altLang="en-US" sz="2400" i="1" dirty="0">
                <a:solidFill>
                  <a:srgbClr val="C00000"/>
                </a:solidFill>
                <a:cs typeface="Courier New" panose="02070309020205020404" pitchFamily="49" charset="0"/>
              </a:rPr>
              <a:t>Casting</a:t>
            </a:r>
            <a:r>
              <a:rPr lang="en-US" altLang="en-US" sz="2400" dirty="0">
                <a:solidFill>
                  <a:srgbClr val="C00000"/>
                </a:solidFill>
                <a:cs typeface="Courier New" panose="02070309020205020404" pitchFamily="49" charset="0"/>
              </a:rPr>
              <a:t> can also be used to convert an object of one class type to another within an inheritance hierarchy</a:t>
            </a:r>
            <a:r>
              <a:rPr lang="en-US" altLang="en-US" sz="2400" dirty="0">
                <a:cs typeface="Courier New" panose="02070309020205020404" pitchFamily="49" charset="0"/>
              </a:rPr>
              <a:t>. In the preceding section, the statement </a:t>
            </a:r>
            <a:endParaRPr lang="en-US" altLang="en-US" sz="2400" dirty="0">
              <a:cs typeface="Courier New" panose="02070309020205020404" pitchFamily="49" charset="0"/>
            </a:endParaRPr>
          </a:p>
          <a:p>
            <a:pPr marL="628650" lvl="1" indent="-171450" defTabSz="914400">
              <a:buNone/>
              <a:tabLst>
                <a:tab pos="57150" algn="l"/>
                <a:tab pos="285750" algn="l"/>
              </a:tabLst>
            </a:pPr>
            <a:r>
              <a:rPr lang="en-US" altLang="en-US" sz="2000" dirty="0">
                <a:solidFill>
                  <a:srgbClr val="C00000"/>
                </a:solidFill>
                <a:cs typeface="Times New Roman" panose="02020603050405020304" pitchFamily="18" charset="0"/>
              </a:rPr>
              <a:t>m(new Student());</a:t>
            </a:r>
            <a:endParaRPr lang="en-US" altLang="en-US" sz="2000" dirty="0">
              <a:solidFill>
                <a:srgbClr val="C00000"/>
              </a:solidFill>
              <a:cs typeface="Times New Roman" panose="02020603050405020304" pitchFamily="18" charset="0"/>
            </a:endParaRPr>
          </a:p>
          <a:p>
            <a:pPr marL="0" indent="0" algn="ctr" defTabSz="914400">
              <a:spcBef>
                <a:spcPct val="0"/>
              </a:spcBef>
              <a:buClrTx/>
              <a:buSzTx/>
              <a:buFontTx/>
              <a:buNone/>
              <a:tabLst>
                <a:tab pos="57150" algn="l"/>
                <a:tab pos="285750" algn="l"/>
              </a:tabLst>
            </a:pPr>
            <a:endParaRPr lang="en-US" altLang="en-US" sz="2400" dirty="0">
              <a:cs typeface="Courier New" panose="02070309020205020404" pitchFamily="49" charset="0"/>
            </a:endParaRPr>
          </a:p>
          <a:p>
            <a:pPr marL="0" indent="0" defTabSz="914400">
              <a:spcBef>
                <a:spcPct val="0"/>
              </a:spcBef>
              <a:buClrTx/>
              <a:buSzTx/>
              <a:buFontTx/>
              <a:buNone/>
              <a:tabLst>
                <a:tab pos="57150" algn="l"/>
                <a:tab pos="285750" algn="l"/>
              </a:tabLst>
            </a:pPr>
            <a:r>
              <a:rPr lang="en-US" altLang="en-US" sz="2400" dirty="0">
                <a:cs typeface="Courier New" panose="02070309020205020404" pitchFamily="49" charset="0"/>
              </a:rPr>
              <a:t>assigns the object new Student() to a parameter of the Object type. This statement is equivalent to:</a:t>
            </a:r>
            <a:endParaRPr lang="en-US" altLang="en-US" sz="2400" dirty="0">
              <a:cs typeface="Courier New" panose="02070309020205020404" pitchFamily="49" charset="0"/>
            </a:endParaRPr>
          </a:p>
          <a:p>
            <a:pPr marL="0" indent="0" algn="ctr" defTabSz="914400">
              <a:spcBef>
                <a:spcPct val="0"/>
              </a:spcBef>
              <a:buClrTx/>
              <a:buSzTx/>
              <a:buFontTx/>
              <a:buNone/>
              <a:tabLst>
                <a:tab pos="57150" algn="l"/>
                <a:tab pos="285750" algn="l"/>
              </a:tabLst>
            </a:pPr>
            <a:endParaRPr lang="en-US" altLang="en-US" sz="2400" dirty="0">
              <a:cs typeface="Courier New" panose="02070309020205020404" pitchFamily="49" charset="0"/>
            </a:endParaRPr>
          </a:p>
          <a:p>
            <a:pPr marL="628650" lvl="1" indent="-171450" defTabSz="914400">
              <a:buNone/>
              <a:tabLst>
                <a:tab pos="57150" algn="l"/>
                <a:tab pos="285750" algn="l"/>
              </a:tabLst>
            </a:pPr>
            <a:r>
              <a:rPr lang="en-US" altLang="en-US" sz="2000" dirty="0">
                <a:solidFill>
                  <a:srgbClr val="C00000"/>
                </a:solidFill>
                <a:cs typeface="Times New Roman" panose="02020603050405020304" pitchFamily="18" charset="0"/>
              </a:rPr>
              <a:t>Object o = new Student(); </a:t>
            </a:r>
            <a:r>
              <a:rPr lang="en-US" altLang="en-US" sz="2000" dirty="0">
                <a:solidFill>
                  <a:srgbClr val="99CC00"/>
                </a:solidFill>
                <a:cs typeface="Times New Roman" panose="02020603050405020304" pitchFamily="18" charset="0"/>
              </a:rPr>
              <a:t>// Implicit casting</a:t>
            </a:r>
            <a:endParaRPr lang="en-US" altLang="en-US" sz="2000" dirty="0">
              <a:cs typeface="Times New Roman" panose="02020603050405020304" pitchFamily="18" charset="0"/>
            </a:endParaRPr>
          </a:p>
          <a:p>
            <a:pPr marL="628650" lvl="1" indent="-171450" defTabSz="914400">
              <a:buNone/>
              <a:tabLst>
                <a:tab pos="57150" algn="l"/>
                <a:tab pos="285750" algn="l"/>
              </a:tabLst>
            </a:pPr>
            <a:r>
              <a:rPr lang="en-US" altLang="en-US" sz="2000" dirty="0">
                <a:cs typeface="Times New Roman" panose="02020603050405020304" pitchFamily="18" charset="0"/>
              </a:rPr>
              <a:t>m(o);</a:t>
            </a:r>
            <a:endParaRPr lang="en-US" altLang="en-US" sz="2000" dirty="0">
              <a:ea typeface="Times New Roman" panose="02020603050405020304" pitchFamily="18" charset="0"/>
            </a:endParaRPr>
          </a:p>
        </p:txBody>
      </p:sp>
      <p:sp>
        <p:nvSpPr>
          <p:cNvPr id="330756" name="Text Box 4"/>
          <p:cNvSpPr txBox="1"/>
          <p:nvPr/>
        </p:nvSpPr>
        <p:spPr>
          <a:xfrm>
            <a:off x="5105400" y="5486400"/>
            <a:ext cx="5105400" cy="922020"/>
          </a:xfrm>
          <a:prstGeom prst="rect">
            <a:avLst/>
          </a:prstGeom>
          <a:noFill/>
          <a:ln w="12700">
            <a:noFill/>
          </a:ln>
        </p:spPr>
        <p:txBody>
          <a:bodyPr>
            <a:spAutoFit/>
          </a:bodyPr>
          <a:p>
            <a:r>
              <a:rPr lang="en-US" altLang="en-US" sz="1800" dirty="0">
                <a:latin typeface="Times New Roman" panose="02020603050405020304" pitchFamily="18" charset="0"/>
                <a:cs typeface="Courier New" panose="02070309020205020404" pitchFamily="49" charset="0"/>
              </a:rPr>
              <a:t>The statement Object o = new Student(), known as implicit casting, is legal because an instance of Student is automatically an instance of Object.</a:t>
            </a:r>
            <a:endParaRPr lang="en-US" altLang="en-US" sz="1800" dirty="0">
              <a:latin typeface="Times New Roman" panose="02020603050405020304" pitchFamily="18" charset="0"/>
              <a:ea typeface="Courier New" panose="02070309020205020404" pitchFamily="49" charset="0"/>
            </a:endParaRPr>
          </a:p>
        </p:txBody>
      </p:sp>
      <p:sp>
        <p:nvSpPr>
          <p:cNvPr id="330757" name="Line 5"/>
          <p:cNvSpPr/>
          <p:nvPr/>
        </p:nvSpPr>
        <p:spPr>
          <a:xfrm flipH="1" flipV="1">
            <a:off x="3657600" y="4724400"/>
            <a:ext cx="1752600" cy="685800"/>
          </a:xfrm>
          <a:prstGeom prst="line">
            <a:avLst/>
          </a:prstGeom>
          <a:ln w="12700" cap="flat" cmpd="sng">
            <a:solidFill>
              <a:srgbClr val="FF0000"/>
            </a:solidFill>
            <a:prstDash val="solid"/>
            <a:headEnd type="none" w="sm" len="sm"/>
            <a:tailEnd type="stealth"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0756"/>
                                        </p:tgtEl>
                                        <p:attrNameLst>
                                          <p:attrName>style.visibility</p:attrName>
                                        </p:attrNameLst>
                                      </p:cBhvr>
                                      <p:to>
                                        <p:strVal val="visible"/>
                                      </p:to>
                                    </p:set>
                                    <p:anim calcmode="lin" valueType="num">
                                      <p:cBhvr additive="base">
                                        <p:cTn id="7" dur="500" fill="hold"/>
                                        <p:tgtEl>
                                          <p:spTgt spid="330756"/>
                                        </p:tgtEl>
                                        <p:attrNameLst>
                                          <p:attrName>ppt_x</p:attrName>
                                        </p:attrNameLst>
                                      </p:cBhvr>
                                      <p:tavLst>
                                        <p:tav tm="0">
                                          <p:val>
                                            <p:strVal val="0-#ppt_w/2"/>
                                          </p:val>
                                        </p:tav>
                                        <p:tav tm="100000">
                                          <p:val>
                                            <p:strVal val="#ppt_x"/>
                                          </p:val>
                                        </p:tav>
                                      </p:tavLst>
                                    </p:anim>
                                    <p:anim calcmode="lin" valueType="num">
                                      <p:cBhvr additive="base">
                                        <p:cTn id="8" dur="500" fill="hold"/>
                                        <p:tgtEl>
                                          <p:spTgt spid="33075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30757"/>
                                        </p:tgtEl>
                                        <p:attrNameLst>
                                          <p:attrName>style.visibility</p:attrName>
                                        </p:attrNameLst>
                                      </p:cBhvr>
                                      <p:to>
                                        <p:strVal val="visible"/>
                                      </p:to>
                                    </p:set>
                                    <p:anim calcmode="lin" valueType="num">
                                      <p:cBhvr additive="base">
                                        <p:cTn id="13" dur="500" fill="hold"/>
                                        <p:tgtEl>
                                          <p:spTgt spid="330757"/>
                                        </p:tgtEl>
                                        <p:attrNameLst>
                                          <p:attrName>ppt_x</p:attrName>
                                        </p:attrNameLst>
                                      </p:cBhvr>
                                      <p:tavLst>
                                        <p:tav tm="0">
                                          <p:val>
                                            <p:strVal val="0-#ppt_w/2"/>
                                          </p:val>
                                        </p:tav>
                                        <p:tav tm="100000">
                                          <p:val>
                                            <p:strVal val="#ppt_x"/>
                                          </p:val>
                                        </p:tav>
                                      </p:tavLst>
                                    </p:anim>
                                    <p:anim calcmode="lin" valueType="num">
                                      <p:cBhvr additive="base">
                                        <p:cTn id="14" dur="500" fill="hold"/>
                                        <p:tgtEl>
                                          <p:spTgt spid="3307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3011" name="Rectangle 2"/>
          <p:cNvSpPr>
            <a:spLocks noGrp="1"/>
          </p:cNvSpPr>
          <p:nvPr>
            <p:ph type="title"/>
          </p:nvPr>
        </p:nvSpPr>
        <p:spPr>
          <a:xfrm>
            <a:off x="2209800" y="228600"/>
            <a:ext cx="7772400" cy="609600"/>
          </a:xfrm>
          <a:ln/>
        </p:spPr>
        <p:txBody>
          <a:bodyPr vert="horz" wrap="square" lIns="92075" tIns="46038" rIns="92075" bIns="46038" anchor="ctr" anchorCtr="0"/>
          <a:p>
            <a:r>
              <a:rPr lang="en-US" altLang="en-US" dirty="0"/>
              <a:t>Why Casting Is Necessary?</a:t>
            </a:r>
            <a:endParaRPr lang="en-US" altLang="en-US" dirty="0"/>
          </a:p>
        </p:txBody>
      </p:sp>
      <p:sp>
        <p:nvSpPr>
          <p:cNvPr id="43012" name="Rectangle 3"/>
          <p:cNvSpPr>
            <a:spLocks noGrp="1"/>
          </p:cNvSpPr>
          <p:nvPr>
            <p:ph idx="1"/>
          </p:nvPr>
        </p:nvSpPr>
        <p:spPr>
          <a:xfrm>
            <a:off x="1752600" y="990600"/>
            <a:ext cx="8763000" cy="5410200"/>
          </a:xfrm>
          <a:ln/>
        </p:spPr>
        <p:txBody>
          <a:bodyPr vert="horz" wrap="square" lIns="92075" tIns="46038" rIns="92075" bIns="46038" anchor="t" anchorCtr="0"/>
          <a:p>
            <a:pPr marL="0" indent="0" defTabSz="914400">
              <a:lnSpc>
                <a:spcPct val="90000"/>
              </a:lnSpc>
              <a:spcBef>
                <a:spcPct val="0"/>
              </a:spcBef>
              <a:buNone/>
              <a:tabLst>
                <a:tab pos="57150" algn="l"/>
                <a:tab pos="285750" algn="l"/>
              </a:tabLst>
            </a:pPr>
            <a:r>
              <a:rPr lang="en-US" altLang="en-US" sz="2400" dirty="0">
                <a:cs typeface="Courier New" panose="02070309020205020404" pitchFamily="49" charset="0"/>
              </a:rPr>
              <a:t>Suppose you want to assign the object reference o to a variable of the Student type using the following statement:</a:t>
            </a:r>
            <a:endParaRPr lang="en-US" altLang="en-US" sz="2400" dirty="0">
              <a:cs typeface="Courier New" panose="02070309020205020404" pitchFamily="49" charset="0"/>
            </a:endParaRPr>
          </a:p>
          <a:p>
            <a:pPr marL="0" indent="0" defTabSz="914400">
              <a:lnSpc>
                <a:spcPct val="90000"/>
              </a:lnSpc>
              <a:spcBef>
                <a:spcPct val="0"/>
              </a:spcBef>
              <a:buNone/>
              <a:tabLst>
                <a:tab pos="57150" algn="l"/>
                <a:tab pos="285750" algn="l"/>
              </a:tabLst>
            </a:pPr>
            <a:endParaRPr lang="en-US" altLang="en-US" sz="2400" dirty="0">
              <a:cs typeface="Courier New" panose="02070309020205020404" pitchFamily="49" charset="0"/>
            </a:endParaRPr>
          </a:p>
          <a:p>
            <a:pPr marL="628650" lvl="1" indent="-171450" defTabSz="914400">
              <a:lnSpc>
                <a:spcPct val="90000"/>
              </a:lnSpc>
              <a:buNone/>
              <a:tabLst>
                <a:tab pos="57150" algn="l"/>
                <a:tab pos="285750" algn="l"/>
              </a:tabLst>
            </a:pPr>
            <a:r>
              <a:rPr lang="en-US" altLang="en-US" sz="2000" dirty="0">
                <a:solidFill>
                  <a:srgbClr val="C00000"/>
                </a:solidFill>
                <a:cs typeface="Courier New" panose="02070309020205020404" pitchFamily="49" charset="0"/>
              </a:rPr>
              <a:t>Student b = o;</a:t>
            </a:r>
            <a:endParaRPr lang="en-US" altLang="en-US" sz="2000" dirty="0">
              <a:solidFill>
                <a:srgbClr val="C00000"/>
              </a:solidFill>
              <a:cs typeface="Courier New" panose="02070309020205020404" pitchFamily="49" charset="0"/>
            </a:endParaRPr>
          </a:p>
          <a:p>
            <a:pPr marL="0" indent="0" defTabSz="914400">
              <a:lnSpc>
                <a:spcPct val="90000"/>
              </a:lnSpc>
              <a:spcBef>
                <a:spcPct val="0"/>
              </a:spcBef>
              <a:buClrTx/>
              <a:buSzTx/>
              <a:buFontTx/>
              <a:buNone/>
              <a:tabLst>
                <a:tab pos="57150" algn="l"/>
                <a:tab pos="285750" algn="l"/>
              </a:tabLst>
            </a:pPr>
            <a:r>
              <a:rPr lang="en-US" altLang="en-US" sz="2400" dirty="0">
                <a:cs typeface="Courier New" panose="02070309020205020404" pitchFamily="49" charset="0"/>
              </a:rPr>
              <a:t> </a:t>
            </a:r>
            <a:endParaRPr lang="en-US" altLang="en-US" sz="2400" dirty="0">
              <a:cs typeface="Courier New" panose="02070309020205020404" pitchFamily="49" charset="0"/>
            </a:endParaRPr>
          </a:p>
          <a:p>
            <a:pPr marL="0" indent="0" defTabSz="914400">
              <a:lnSpc>
                <a:spcPct val="90000"/>
              </a:lnSpc>
              <a:spcBef>
                <a:spcPct val="0"/>
              </a:spcBef>
              <a:buClrTx/>
              <a:buSzTx/>
              <a:buFontTx/>
              <a:buNone/>
              <a:tabLst>
                <a:tab pos="57150" algn="l"/>
                <a:tab pos="285750" algn="l"/>
              </a:tabLst>
            </a:pPr>
            <a:r>
              <a:rPr lang="en-US" altLang="en-US" sz="2400" dirty="0">
                <a:solidFill>
                  <a:srgbClr val="C00000"/>
                </a:solidFill>
                <a:cs typeface="Courier New" panose="02070309020205020404" pitchFamily="49" charset="0"/>
              </a:rPr>
              <a:t>A compile error would occur</a:t>
            </a:r>
            <a:r>
              <a:rPr lang="en-US" altLang="en-US" sz="2400" dirty="0">
                <a:cs typeface="Courier New" panose="02070309020205020404" pitchFamily="49" charset="0"/>
              </a:rPr>
              <a:t>. Why does the statement </a:t>
            </a:r>
            <a:r>
              <a:rPr lang="en-US" altLang="en-US" sz="2400" b="1" dirty="0">
                <a:solidFill>
                  <a:srgbClr val="C00000"/>
                </a:solidFill>
                <a:cs typeface="Courier New" panose="02070309020205020404" pitchFamily="49" charset="0"/>
              </a:rPr>
              <a:t>Object o = new Student()</a:t>
            </a:r>
            <a:r>
              <a:rPr lang="en-US" altLang="en-US" sz="2400" dirty="0">
                <a:solidFill>
                  <a:srgbClr val="C00000"/>
                </a:solidFill>
                <a:cs typeface="Courier New" panose="02070309020205020404" pitchFamily="49" charset="0"/>
              </a:rPr>
              <a:t> </a:t>
            </a:r>
            <a:r>
              <a:rPr lang="en-US" altLang="en-US" sz="2400" dirty="0">
                <a:cs typeface="Courier New" panose="02070309020205020404" pitchFamily="49" charset="0"/>
              </a:rPr>
              <a:t>work and the statement </a:t>
            </a:r>
            <a:r>
              <a:rPr lang="en-US" altLang="en-US" sz="2400" b="1" dirty="0">
                <a:cs typeface="Courier New" panose="02070309020205020404" pitchFamily="49" charset="0"/>
              </a:rPr>
              <a:t>Student b = o</a:t>
            </a:r>
            <a:r>
              <a:rPr lang="en-US" altLang="en-US" sz="2400" dirty="0">
                <a:cs typeface="Courier New" panose="02070309020205020404" pitchFamily="49" charset="0"/>
              </a:rPr>
              <a:t> doesn’t? This is because a Student object is always an instance of Object, but an Object is not necessarily an instance of Student. Even though you can see that o is really a Student object, the compiler is not so clever to know it. To tell the compiler that o is a Student object, use an explicit casting. The syntax is similar to the one used for casting among primitive data types. Enclose the target object type in parentheses and place it before the object to be cast, as follows:</a:t>
            </a:r>
            <a:endParaRPr lang="en-US" altLang="en-US" sz="2400" dirty="0">
              <a:cs typeface="Courier New" panose="02070309020205020404" pitchFamily="49" charset="0"/>
            </a:endParaRPr>
          </a:p>
          <a:p>
            <a:pPr marL="0" indent="0" defTabSz="914400">
              <a:lnSpc>
                <a:spcPct val="90000"/>
              </a:lnSpc>
              <a:spcBef>
                <a:spcPct val="0"/>
              </a:spcBef>
              <a:buClrTx/>
              <a:buSzTx/>
              <a:buFontTx/>
              <a:buNone/>
              <a:tabLst>
                <a:tab pos="57150" algn="l"/>
                <a:tab pos="285750" algn="l"/>
              </a:tabLst>
            </a:pPr>
            <a:endParaRPr lang="en-US" altLang="en-US" sz="2400" dirty="0">
              <a:cs typeface="Courier New" panose="02070309020205020404" pitchFamily="49" charset="0"/>
            </a:endParaRPr>
          </a:p>
          <a:p>
            <a:pPr marL="628650" lvl="1" indent="-171450" defTabSz="914400">
              <a:lnSpc>
                <a:spcPct val="90000"/>
              </a:lnSpc>
              <a:buNone/>
              <a:tabLst>
                <a:tab pos="57150" algn="l"/>
                <a:tab pos="285750" algn="l"/>
              </a:tabLst>
            </a:pPr>
            <a:r>
              <a:rPr lang="en-US" altLang="en-US" sz="2000" dirty="0">
                <a:solidFill>
                  <a:srgbClr val="C00000"/>
                </a:solidFill>
                <a:cs typeface="Courier New" panose="02070309020205020404" pitchFamily="49" charset="0"/>
              </a:rPr>
              <a:t>Student b = (Student)o</a:t>
            </a:r>
            <a:r>
              <a:rPr lang="en-US" altLang="en-US" sz="2000" dirty="0">
                <a:cs typeface="Courier New" panose="02070309020205020404" pitchFamily="49" charset="0"/>
              </a:rPr>
              <a:t>; // Explicit casting</a:t>
            </a:r>
            <a:endParaRPr lang="en-US" altLang="en-US" sz="2000" dirty="0">
              <a:ea typeface="Courier New" panose="02070309020205020404" pitchFamily="49"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4035" name="Rectangle 2"/>
          <p:cNvSpPr>
            <a:spLocks noGrp="1"/>
          </p:cNvSpPr>
          <p:nvPr>
            <p:ph type="title"/>
          </p:nvPr>
        </p:nvSpPr>
        <p:spPr>
          <a:xfrm>
            <a:off x="2209800" y="304800"/>
            <a:ext cx="7772400" cy="1428750"/>
          </a:xfrm>
          <a:ln/>
        </p:spPr>
        <p:txBody>
          <a:bodyPr vert="horz" wrap="square" lIns="92075" tIns="46038" rIns="92075" bIns="46038" anchor="ctr" anchorCtr="0"/>
          <a:p>
            <a:r>
              <a:rPr lang="en-US" altLang="en-US" dirty="0"/>
              <a:t>Casting from</a:t>
            </a:r>
            <a:br>
              <a:rPr lang="en-US" altLang="en-US" dirty="0"/>
            </a:br>
            <a:r>
              <a:rPr lang="en-US" altLang="en-US" dirty="0"/>
              <a:t>Superclass to Subclass</a:t>
            </a:r>
            <a:endParaRPr lang="en-US" altLang="en-US" dirty="0"/>
          </a:p>
        </p:txBody>
      </p:sp>
      <p:sp>
        <p:nvSpPr>
          <p:cNvPr id="44036" name="Rectangle 3"/>
          <p:cNvSpPr>
            <a:spLocks noGrp="1"/>
          </p:cNvSpPr>
          <p:nvPr>
            <p:ph idx="1"/>
          </p:nvPr>
        </p:nvSpPr>
        <p:spPr>
          <a:xfrm>
            <a:off x="1905000" y="2057400"/>
            <a:ext cx="8458200" cy="3962400"/>
          </a:xfrm>
          <a:ln/>
        </p:spPr>
        <p:txBody>
          <a:bodyPr vert="horz" wrap="square" lIns="92075" tIns="46038" rIns="92075" bIns="46038" anchor="t" anchorCtr="0"/>
          <a:p>
            <a:pPr marL="0" indent="0">
              <a:buNone/>
            </a:pPr>
            <a:r>
              <a:rPr lang="en-US" altLang="en-US" dirty="0"/>
              <a:t>Explicit casting must be used when casting an object from a superclass to a subclass.  This type of casting may not always succeed.</a:t>
            </a:r>
            <a:endParaRPr lang="en-US" altLang="en-US" sz="3600" dirty="0"/>
          </a:p>
          <a:p>
            <a:pPr lvl="1">
              <a:spcBef>
                <a:spcPct val="100000"/>
              </a:spcBef>
              <a:buNone/>
            </a:pPr>
            <a:r>
              <a:rPr lang="en-US" altLang="en-US" sz="2400" dirty="0">
                <a:latin typeface="Courier New" panose="02070309020205020404" pitchFamily="49" charset="0"/>
              </a:rPr>
              <a:t>Apple x = (Apple)fruit;</a:t>
            </a:r>
            <a:endParaRPr lang="en-US" altLang="en-US" sz="2400" dirty="0">
              <a:latin typeface="Courier New" panose="02070309020205020404" pitchFamily="49" charset="0"/>
            </a:endParaRPr>
          </a:p>
          <a:p>
            <a:pPr lvl="1">
              <a:spcBef>
                <a:spcPct val="100000"/>
              </a:spcBef>
              <a:buNone/>
            </a:pPr>
            <a:r>
              <a:rPr lang="en-US" altLang="en-US" sz="2400" dirty="0">
                <a:latin typeface="Courier New" panose="02070309020205020404" pitchFamily="49" charset="0"/>
              </a:rPr>
              <a:t>Orange x = (Orange)fruit;</a:t>
            </a:r>
            <a:endParaRPr lang="en-US" alt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5059" name="Rectangle 2"/>
          <p:cNvSpPr>
            <a:spLocks noGrp="1"/>
          </p:cNvSpPr>
          <p:nvPr>
            <p:ph type="title"/>
          </p:nvPr>
        </p:nvSpPr>
        <p:spPr>
          <a:xfrm>
            <a:off x="2209800" y="0"/>
            <a:ext cx="7772400" cy="1447800"/>
          </a:xfrm>
          <a:ln/>
        </p:spPr>
        <p:txBody>
          <a:bodyPr vert="horz" wrap="square" lIns="92075" tIns="46038" rIns="92075" bIns="46038" anchor="ctr" anchorCtr="0"/>
          <a:p>
            <a:r>
              <a:rPr lang="en-US" altLang="en-US" dirty="0"/>
              <a:t>3</a:t>
            </a:r>
            <a:r>
              <a:rPr lang="zh-CN" altLang="en-US" dirty="0">
                <a:ea typeface="宋体" panose="02010600030101010101" pitchFamily="2" charset="-122"/>
              </a:rPr>
              <a:t>）</a:t>
            </a:r>
            <a:r>
              <a:rPr lang="en-US" altLang="en-US" dirty="0"/>
              <a:t>The </a:t>
            </a:r>
            <a:r>
              <a:rPr lang="en-US" altLang="en-US" sz="4200" dirty="0">
                <a:latin typeface="Courier New" panose="02070309020205020404" pitchFamily="49" charset="0"/>
              </a:rPr>
              <a:t>instanceof</a:t>
            </a:r>
            <a:r>
              <a:rPr lang="en-US" altLang="en-US" dirty="0"/>
              <a:t> Operator</a:t>
            </a:r>
            <a:endParaRPr lang="en-US" altLang="en-US" dirty="0"/>
          </a:p>
        </p:txBody>
      </p:sp>
      <p:sp>
        <p:nvSpPr>
          <p:cNvPr id="45060" name="Rectangle 3"/>
          <p:cNvSpPr>
            <a:spLocks noGrp="1"/>
          </p:cNvSpPr>
          <p:nvPr>
            <p:ph idx="1"/>
          </p:nvPr>
        </p:nvSpPr>
        <p:spPr>
          <a:xfrm>
            <a:off x="2133600" y="1371600"/>
            <a:ext cx="8229600" cy="990600"/>
          </a:xfrm>
          <a:ln/>
        </p:spPr>
        <p:txBody>
          <a:bodyPr vert="horz" wrap="square" lIns="92075" tIns="46038" rIns="92075" bIns="46038" anchor="t" anchorCtr="0"/>
          <a:p>
            <a:pPr marL="0" indent="0">
              <a:lnSpc>
                <a:spcPct val="105000"/>
              </a:lnSpc>
              <a:buNone/>
            </a:pPr>
            <a:r>
              <a:rPr lang="en-US" altLang="en-US" sz="2400" dirty="0"/>
              <a:t>Use the </a:t>
            </a:r>
            <a:r>
              <a:rPr lang="en-US" altLang="en-US" sz="2400" dirty="0">
                <a:solidFill>
                  <a:srgbClr val="C00000"/>
                </a:solidFill>
                <a:latin typeface="Courier New" panose="02070309020205020404" pitchFamily="49" charset="0"/>
              </a:rPr>
              <a:t>instanceof</a:t>
            </a:r>
            <a:r>
              <a:rPr lang="en-US" altLang="en-US" sz="2400" dirty="0"/>
              <a:t> operator to test whether an object is an instance of a class:</a:t>
            </a:r>
            <a:endParaRPr lang="en-US" altLang="en-US" sz="2400" dirty="0"/>
          </a:p>
        </p:txBody>
      </p:sp>
      <p:sp>
        <p:nvSpPr>
          <p:cNvPr id="45061" name="Rectangle 4"/>
          <p:cNvSpPr/>
          <p:nvPr/>
        </p:nvSpPr>
        <p:spPr>
          <a:xfrm>
            <a:off x="1828800" y="2514600"/>
            <a:ext cx="8686800" cy="2819400"/>
          </a:xfrm>
          <a:prstGeom prst="rect">
            <a:avLst/>
          </a:prstGeom>
          <a:noFill/>
          <a:ln w="9525">
            <a:noFill/>
          </a:ln>
        </p:spPr>
        <p:txBody>
          <a:bodyPr lIns="92075" tIns="46038" rIns="92075" bIns="46038"/>
          <a:p>
            <a:pPr marL="742950" lvl="1" indent="-285750">
              <a:lnSpc>
                <a:spcPct val="80000"/>
              </a:lnSpc>
              <a:spcBef>
                <a:spcPct val="20000"/>
              </a:spcBef>
              <a:buClr>
                <a:schemeClr val="tx1"/>
              </a:buClr>
            </a:pPr>
            <a:r>
              <a:rPr lang="en-US" altLang="en-US" sz="2000" b="1" dirty="0">
                <a:solidFill>
                  <a:schemeClr val="tx2"/>
                </a:solidFill>
                <a:latin typeface="Courier New" panose="02070309020205020404" pitchFamily="49" charset="0"/>
              </a:rPr>
              <a:t>Object myObject = new Circle();</a:t>
            </a:r>
            <a:endParaRPr lang="en-US" altLang="en-US" sz="2000" b="1" dirty="0">
              <a:solidFill>
                <a:schemeClr val="tx2"/>
              </a:solidFill>
              <a:latin typeface="Courier New" panose="02070309020205020404" pitchFamily="49" charset="0"/>
            </a:endParaRPr>
          </a:p>
          <a:p>
            <a:pPr marL="742950" lvl="1" indent="-285750">
              <a:lnSpc>
                <a:spcPct val="80000"/>
              </a:lnSpc>
              <a:spcBef>
                <a:spcPct val="20000"/>
              </a:spcBef>
              <a:buClr>
                <a:schemeClr val="tx1"/>
              </a:buClr>
            </a:pPr>
            <a:r>
              <a:rPr lang="en-US" altLang="en-US" sz="2000" b="1" dirty="0">
                <a:solidFill>
                  <a:schemeClr val="tx2"/>
                </a:solidFill>
                <a:latin typeface="Courier New" panose="02070309020205020404" pitchFamily="49" charset="0"/>
              </a:rPr>
              <a:t>... // Some lines of code</a:t>
            </a:r>
            <a:endParaRPr lang="en-US" altLang="en-US" sz="2000" b="1" dirty="0">
              <a:solidFill>
                <a:schemeClr val="tx2"/>
              </a:solidFill>
              <a:latin typeface="Courier New" panose="02070309020205020404" pitchFamily="49" charset="0"/>
            </a:endParaRPr>
          </a:p>
          <a:p>
            <a:pPr marL="742950" lvl="1" indent="-285750">
              <a:lnSpc>
                <a:spcPct val="80000"/>
              </a:lnSpc>
              <a:spcBef>
                <a:spcPct val="20000"/>
              </a:spcBef>
              <a:buClr>
                <a:schemeClr val="tx1"/>
              </a:buClr>
            </a:pPr>
            <a:r>
              <a:rPr lang="en-US" altLang="en-US" sz="2000" b="1" dirty="0">
                <a:solidFill>
                  <a:schemeClr val="tx2"/>
                </a:solidFill>
                <a:latin typeface="Courier New" panose="02070309020205020404" pitchFamily="49" charset="0"/>
              </a:rPr>
              <a:t>/** Perform casting if myObject is an instance of Circle */</a:t>
            </a:r>
            <a:endParaRPr lang="en-US" altLang="en-US" sz="2000" b="1" dirty="0">
              <a:solidFill>
                <a:schemeClr val="tx2"/>
              </a:solidFill>
              <a:latin typeface="Courier New" panose="02070309020205020404" pitchFamily="49" charset="0"/>
            </a:endParaRPr>
          </a:p>
          <a:p>
            <a:pPr marL="742950" lvl="1" indent="-285750">
              <a:lnSpc>
                <a:spcPct val="80000"/>
              </a:lnSpc>
              <a:spcBef>
                <a:spcPct val="20000"/>
              </a:spcBef>
              <a:buClr>
                <a:schemeClr val="tx1"/>
              </a:buClr>
            </a:pPr>
            <a:r>
              <a:rPr lang="en-US" altLang="en-US" sz="2000" b="1" dirty="0">
                <a:solidFill>
                  <a:schemeClr val="tx2"/>
                </a:solidFill>
                <a:latin typeface="Courier New" panose="02070309020205020404" pitchFamily="49" charset="0"/>
              </a:rPr>
              <a:t>if (myObject instanceof Circle) {</a:t>
            </a:r>
            <a:endParaRPr lang="en-US" altLang="en-US" sz="2000" b="1" dirty="0">
              <a:solidFill>
                <a:schemeClr val="tx2"/>
              </a:solidFill>
              <a:latin typeface="Courier New" panose="02070309020205020404" pitchFamily="49" charset="0"/>
            </a:endParaRPr>
          </a:p>
          <a:p>
            <a:pPr marL="742950" lvl="1" indent="-285750">
              <a:lnSpc>
                <a:spcPct val="80000"/>
              </a:lnSpc>
              <a:spcBef>
                <a:spcPct val="20000"/>
              </a:spcBef>
              <a:buClr>
                <a:schemeClr val="tx1"/>
              </a:buClr>
            </a:pPr>
            <a:r>
              <a:rPr lang="en-US" altLang="en-US" sz="2000" b="1" dirty="0">
                <a:solidFill>
                  <a:schemeClr val="tx2"/>
                </a:solidFill>
                <a:latin typeface="Courier New" panose="02070309020205020404" pitchFamily="49" charset="0"/>
              </a:rPr>
              <a:t>  System.out.println("The circle diameter is " + </a:t>
            </a:r>
            <a:endParaRPr lang="en-US" altLang="en-US" sz="2000" b="1" dirty="0">
              <a:solidFill>
                <a:schemeClr val="tx2"/>
              </a:solidFill>
              <a:latin typeface="Courier New" panose="02070309020205020404" pitchFamily="49" charset="0"/>
            </a:endParaRPr>
          </a:p>
          <a:p>
            <a:pPr marL="742950" lvl="1" indent="-285750">
              <a:lnSpc>
                <a:spcPct val="80000"/>
              </a:lnSpc>
              <a:spcBef>
                <a:spcPct val="20000"/>
              </a:spcBef>
              <a:buClr>
                <a:schemeClr val="tx1"/>
              </a:buClr>
            </a:pPr>
            <a:r>
              <a:rPr lang="en-US" altLang="en-US" sz="2000" b="1" dirty="0">
                <a:solidFill>
                  <a:schemeClr val="tx2"/>
                </a:solidFill>
                <a:latin typeface="Courier New" panose="02070309020205020404" pitchFamily="49" charset="0"/>
              </a:rPr>
              <a:t>    ((Circle)myObject).getDiameter());</a:t>
            </a:r>
            <a:endParaRPr lang="en-US" altLang="en-US" sz="2000" b="1" dirty="0">
              <a:solidFill>
                <a:schemeClr val="tx2"/>
              </a:solidFill>
              <a:latin typeface="Courier New" panose="02070309020205020404" pitchFamily="49" charset="0"/>
            </a:endParaRPr>
          </a:p>
          <a:p>
            <a:pPr marL="742950" lvl="1" indent="-285750">
              <a:lnSpc>
                <a:spcPct val="80000"/>
              </a:lnSpc>
              <a:spcBef>
                <a:spcPct val="20000"/>
              </a:spcBef>
              <a:buClr>
                <a:schemeClr val="tx1"/>
              </a:buClr>
            </a:pPr>
            <a:r>
              <a:rPr lang="en-US" altLang="en-US" sz="2000" b="1" dirty="0">
                <a:solidFill>
                  <a:schemeClr val="tx2"/>
                </a:solidFill>
                <a:latin typeface="Courier New" panose="02070309020205020404" pitchFamily="49" charset="0"/>
              </a:rPr>
              <a:t>  ...</a:t>
            </a:r>
            <a:endParaRPr lang="en-US" altLang="en-US" sz="2000" b="1" dirty="0">
              <a:solidFill>
                <a:schemeClr val="tx2"/>
              </a:solidFill>
              <a:latin typeface="Courier New" panose="02070309020205020404" pitchFamily="49" charset="0"/>
            </a:endParaRPr>
          </a:p>
          <a:p>
            <a:pPr marL="742950" lvl="1" indent="-285750">
              <a:lnSpc>
                <a:spcPct val="80000"/>
              </a:lnSpc>
              <a:spcBef>
                <a:spcPct val="20000"/>
              </a:spcBef>
              <a:buClr>
                <a:schemeClr val="tx1"/>
              </a:buClr>
            </a:pPr>
            <a:r>
              <a:rPr lang="en-US" altLang="en-US" sz="2000" b="1" dirty="0">
                <a:solidFill>
                  <a:schemeClr val="tx2"/>
                </a:solidFill>
                <a:latin typeface="Courier New" panose="02070309020205020404" pitchFamily="49" charset="0"/>
              </a:rPr>
              <a:t>}</a:t>
            </a:r>
            <a:endParaRPr lang="en-US" altLang="en-US" sz="2000" b="1" dirty="0">
              <a:solidFill>
                <a:schemeClr val="tx2"/>
              </a:solidFill>
              <a:latin typeface="Courier New" panose="020703090202050204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608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6083" name="Rectangle 2"/>
          <p:cNvSpPr>
            <a:spLocks noGrp="1"/>
          </p:cNvSpPr>
          <p:nvPr>
            <p:ph type="title"/>
          </p:nvPr>
        </p:nvSpPr>
        <p:spPr>
          <a:xfrm>
            <a:off x="2209800" y="228600"/>
            <a:ext cx="7772400" cy="457200"/>
          </a:xfrm>
          <a:ln/>
        </p:spPr>
        <p:txBody>
          <a:bodyPr vert="horz" wrap="square" lIns="92075" tIns="46038" rIns="92075" bIns="46038" anchor="ctr" anchorCtr="0"/>
          <a:p>
            <a:r>
              <a:rPr lang="en-US" altLang="en-US" dirty="0"/>
              <a:t>TIP</a:t>
            </a:r>
            <a:endParaRPr lang="en-US" altLang="en-US" dirty="0"/>
          </a:p>
        </p:txBody>
      </p:sp>
      <p:sp>
        <p:nvSpPr>
          <p:cNvPr id="46084" name="Rectangle 3"/>
          <p:cNvSpPr>
            <a:spLocks noGrp="1"/>
          </p:cNvSpPr>
          <p:nvPr>
            <p:ph idx="1"/>
          </p:nvPr>
        </p:nvSpPr>
        <p:spPr>
          <a:xfrm>
            <a:off x="1905000" y="1066800"/>
            <a:ext cx="8534400" cy="4724400"/>
          </a:xfrm>
          <a:ln/>
        </p:spPr>
        <p:txBody>
          <a:bodyPr vert="horz" wrap="square" lIns="92075" tIns="46038" rIns="92075" bIns="46038" anchor="t" anchorCtr="0"/>
          <a:p>
            <a:pPr marL="0" indent="0">
              <a:lnSpc>
                <a:spcPct val="90000"/>
              </a:lnSpc>
              <a:buNone/>
            </a:pPr>
            <a:r>
              <a:rPr lang="en-US" altLang="en-US" sz="3600" dirty="0">
                <a:cs typeface="Times New Roman" panose="02020603050405020304" pitchFamily="18" charset="0"/>
              </a:rPr>
              <a:t>To help understand casting, you may also consider the analogy of fruit, apple, and orange with the Fruit class as the superclass for Apple and Orange. An apple is a fruit, so you can always safely assign an instance of Apple to a variable for Fruit. However, a fruit is not necessarily an apple, so you have to use explicit casting to assign an instance of Fruit to a variable of Apple. </a:t>
            </a:r>
            <a:endParaRPr lang="en-US" altLang="en-US" sz="3600" dirty="0">
              <a:ea typeface="Times New Roman" panose="02020603050405020304" pitchFamily="18"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7106"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7107" name="Rectangle 2"/>
          <p:cNvSpPr>
            <a:spLocks noGrp="1"/>
          </p:cNvSpPr>
          <p:nvPr>
            <p:ph type="title"/>
          </p:nvPr>
        </p:nvSpPr>
        <p:spPr>
          <a:xfrm>
            <a:off x="2438400" y="381000"/>
            <a:ext cx="7772400" cy="1371600"/>
          </a:xfrm>
          <a:ln/>
        </p:spPr>
        <p:txBody>
          <a:bodyPr vert="horz" wrap="square" lIns="92075" tIns="46038" rIns="92075" bIns="46038" anchor="ctr" anchorCtr="0"/>
          <a:p>
            <a:r>
              <a:rPr lang="en-US" altLang="en-US" dirty="0"/>
              <a:t>Example: </a:t>
            </a:r>
            <a:r>
              <a:rPr lang="en-US" altLang="en-US" dirty="0">
                <a:latin typeface="Times" charset="0"/>
              </a:rPr>
              <a:t>Demonstrating Polymorphism and Casting</a:t>
            </a:r>
            <a:endParaRPr lang="en-US" altLang="en-US" dirty="0">
              <a:latin typeface="Times" charset="0"/>
            </a:endParaRPr>
          </a:p>
        </p:txBody>
      </p:sp>
      <p:sp>
        <p:nvSpPr>
          <p:cNvPr id="47108" name="Rectangle 3"/>
          <p:cNvSpPr>
            <a:spLocks noGrp="1"/>
          </p:cNvSpPr>
          <p:nvPr>
            <p:ph idx="1"/>
          </p:nvPr>
        </p:nvSpPr>
        <p:spPr>
          <a:xfrm>
            <a:off x="1752600" y="1981200"/>
            <a:ext cx="8686800" cy="3429000"/>
          </a:xfrm>
          <a:ln/>
        </p:spPr>
        <p:txBody>
          <a:bodyPr vert="horz" wrap="square" lIns="92075" tIns="46038" rIns="92075" bIns="46038" anchor="t" anchorCtr="0"/>
          <a:p>
            <a:pPr marL="0" indent="0">
              <a:buNone/>
            </a:pPr>
            <a:r>
              <a:rPr lang="en-US" altLang="en-US" sz="3400" dirty="0"/>
              <a:t>This example creates two geometric objects: a circle, and a rectangle, invokes the displayGeometricObject method to display the objects. The displayGeometricObject displays the area and diameter if the object is a circle, and displays area if the object is a rectangle. </a:t>
            </a:r>
            <a:endParaRPr lang="en-US" altLang="en-US" sz="3400" dirty="0"/>
          </a:p>
        </p:txBody>
      </p:sp>
      <p:sp>
        <p:nvSpPr>
          <p:cNvPr id="333828" name="AutoShape 4">
            <a:hlinkClick r:id="" action="ppaction://noaction" highlightClick="1"/>
          </p:cNvPr>
          <p:cNvSpPr>
            <a:spLocks noChangeArrowheads="1"/>
          </p:cNvSpPr>
          <p:nvPr/>
        </p:nvSpPr>
        <p:spPr bwMode="auto">
          <a:xfrm>
            <a:off x="3657600" y="5562600"/>
            <a:ext cx="3886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1" action="ppaction://program"/>
              </a:rPr>
              <a:t>CastingDemo</a:t>
            </a:r>
            <a:endParaRPr kumimoji="0" lang="en-US" altLang="zh-CN" sz="24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47110" name="AutoShape 5">
            <a:hlinkClick r:id="rId2" action="ppaction://program"/>
          </p:cNvPr>
          <p:cNvSpPr/>
          <p:nvPr/>
        </p:nvSpPr>
        <p:spPr>
          <a:xfrm>
            <a:off x="7772400" y="5562600"/>
            <a:ext cx="1600200" cy="533400"/>
          </a:xfrm>
          <a:prstGeom prst="actionButtonBlank">
            <a:avLst/>
          </a:prstGeom>
          <a:solidFill>
            <a:srgbClr val="38A1BA"/>
          </a:solidFill>
          <a:ln w="19050">
            <a:noFill/>
          </a:ln>
          <a:effectLst>
            <a:prstShdw prst="shdw17" dist="17961" dir="2699999">
              <a:srgbClr val="226170"/>
            </a:prstShdw>
          </a:effectLst>
        </p:spPr>
        <p:txBody>
          <a:bodyPr wrap="none" anchor="ctr" anchorCtr="0"/>
          <a:p>
            <a:pPr algn="ctr"/>
            <a:r>
              <a:rPr lang="en-US" altLang="en-US" dirty="0">
                <a:latin typeface="Book Antiqua" panose="02040602050305030304" pitchFamily="18" charset="0"/>
              </a:rPr>
              <a:t>Run</a:t>
            </a:r>
            <a:endParaRPr lang="en-US" altLang="en-US" dirty="0">
              <a:latin typeface="Times New Roman" panose="02020603050405020304" pitchFamily="18" charset="0"/>
            </a:endParaRPr>
          </a:p>
        </p:txBody>
      </p:sp>
      <p:sp>
        <p:nvSpPr>
          <p:cNvPr id="47111" name="AutoShape 6">
            <a:hlinkClick r:id="rId3"/>
          </p:cNvPr>
          <p:cNvSpPr/>
          <p:nvPr/>
        </p:nvSpPr>
        <p:spPr>
          <a:xfrm>
            <a:off x="3124200" y="55626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8131" name="Rectangle 2"/>
          <p:cNvSpPr>
            <a:spLocks noGrp="1"/>
          </p:cNvSpPr>
          <p:nvPr>
            <p:ph type="title"/>
          </p:nvPr>
        </p:nvSpPr>
        <p:spPr>
          <a:xfrm>
            <a:off x="2209800" y="228600"/>
            <a:ext cx="7772400" cy="685800"/>
          </a:xfrm>
          <a:ln/>
        </p:spPr>
        <p:txBody>
          <a:bodyPr vert="horz" wrap="square" lIns="92075" tIns="46038" rIns="92075" bIns="46038" anchor="ctr" anchorCtr="0"/>
          <a:p>
            <a:r>
              <a:rPr lang="en-US" altLang="en-US" dirty="0"/>
              <a:t>4</a:t>
            </a:r>
            <a:r>
              <a:rPr lang="zh-CN" altLang="en-US" dirty="0">
                <a:ea typeface="宋体" panose="02010600030101010101" pitchFamily="2" charset="-122"/>
              </a:rPr>
              <a:t>）</a:t>
            </a:r>
            <a:r>
              <a:rPr lang="en-US" altLang="en-US" dirty="0"/>
              <a:t>The   </a:t>
            </a:r>
            <a:r>
              <a:rPr lang="en-US" altLang="en-US" sz="4200" dirty="0">
                <a:latin typeface="Courier New" panose="02070309020205020404" pitchFamily="49" charset="0"/>
              </a:rPr>
              <a:t>equals </a:t>
            </a:r>
            <a:r>
              <a:rPr lang="en-US" altLang="en-US" dirty="0"/>
              <a:t>Method</a:t>
            </a:r>
            <a:endParaRPr lang="en-US" altLang="en-US" dirty="0"/>
          </a:p>
        </p:txBody>
      </p:sp>
      <p:sp>
        <p:nvSpPr>
          <p:cNvPr id="48132" name="Rectangle 3"/>
          <p:cNvSpPr>
            <a:spLocks noGrp="1"/>
          </p:cNvSpPr>
          <p:nvPr>
            <p:ph idx="1"/>
          </p:nvPr>
        </p:nvSpPr>
        <p:spPr>
          <a:xfrm>
            <a:off x="1828800" y="1066800"/>
            <a:ext cx="8610600" cy="1524000"/>
          </a:xfrm>
          <a:ln/>
        </p:spPr>
        <p:txBody>
          <a:bodyPr vert="horz" wrap="square" lIns="92075" tIns="46038" rIns="92075" bIns="46038" anchor="t" anchorCtr="0"/>
          <a:p>
            <a:pPr marL="0" indent="0">
              <a:spcBef>
                <a:spcPct val="75000"/>
              </a:spcBef>
              <a:buNone/>
            </a:pPr>
            <a:r>
              <a:rPr lang="en-US" altLang="en-US" sz="2800" dirty="0"/>
              <a:t>The </a:t>
            </a:r>
            <a:r>
              <a:rPr lang="en-US" altLang="en-US" sz="2800" dirty="0">
                <a:latin typeface="Courier New" panose="02070309020205020404" pitchFamily="49" charset="0"/>
              </a:rPr>
              <a:t>equals()</a:t>
            </a:r>
            <a:r>
              <a:rPr lang="en-US" altLang="en-US" sz="2800" dirty="0"/>
              <a:t> method compares the</a:t>
            </a:r>
            <a:br>
              <a:rPr lang="en-US" altLang="en-US" sz="2800" dirty="0"/>
            </a:br>
            <a:r>
              <a:rPr lang="en-US" altLang="en-US" sz="2800" dirty="0"/>
              <a:t>contents of two objects. </a:t>
            </a:r>
            <a:r>
              <a:rPr lang="en-US" altLang="en-US" sz="2800" dirty="0">
                <a:cs typeface="Times New Roman" panose="02020603050405020304" pitchFamily="18" charset="0"/>
              </a:rPr>
              <a:t>The default implementation of the equals method in the Object class is as follows:</a:t>
            </a:r>
            <a:endParaRPr lang="en-US" altLang="en-US" sz="2800" dirty="0">
              <a:ea typeface="Times New Roman" panose="02020603050405020304" pitchFamily="18" charset="0"/>
            </a:endParaRPr>
          </a:p>
        </p:txBody>
      </p:sp>
      <p:sp>
        <p:nvSpPr>
          <p:cNvPr id="48133" name="Rectangle 4"/>
          <p:cNvSpPr/>
          <p:nvPr/>
        </p:nvSpPr>
        <p:spPr>
          <a:xfrm>
            <a:off x="2667000" y="2590800"/>
            <a:ext cx="6629400" cy="1447800"/>
          </a:xfrm>
          <a:prstGeom prst="rect">
            <a:avLst/>
          </a:prstGeom>
          <a:noFill/>
          <a:ln w="9525">
            <a:noFill/>
          </a:ln>
        </p:spPr>
        <p:txBody>
          <a:bodyPr lIns="92075" tIns="46038" rIns="92075" bIns="46038"/>
          <a:p>
            <a:pPr>
              <a:spcBef>
                <a:spcPct val="75000"/>
              </a:spcBef>
              <a:buClr>
                <a:schemeClr val="tx2"/>
              </a:buClr>
              <a:buSzPct val="75000"/>
              <a:buFont typeface="Monotype Sorts" pitchFamily="2" charset="2"/>
            </a:pPr>
            <a:r>
              <a:rPr lang="en-US" altLang="en-US" dirty="0">
                <a:latin typeface="Courier New" panose="02070309020205020404" pitchFamily="49" charset="0"/>
                <a:cs typeface="Times New Roman" panose="02020603050405020304" pitchFamily="18" charset="0"/>
              </a:rPr>
              <a:t>public boolean equals(Object obj) {</a:t>
            </a:r>
            <a:endParaRPr lang="en-US" altLang="en-US" dirty="0">
              <a:latin typeface="Courier New" panose="02070309020205020404" pitchFamily="49" charset="0"/>
              <a:cs typeface="Times New Roman" panose="02020603050405020304" pitchFamily="18" charset="0"/>
            </a:endParaRPr>
          </a:p>
          <a:p>
            <a:pPr>
              <a:lnSpc>
                <a:spcPct val="0"/>
              </a:lnSpc>
              <a:spcBef>
                <a:spcPct val="75000"/>
              </a:spcBef>
              <a:buClr>
                <a:schemeClr val="tx2"/>
              </a:buClr>
              <a:buSzPct val="75000"/>
              <a:buFont typeface="Monotype Sorts" pitchFamily="2" charset="2"/>
            </a:pPr>
            <a:r>
              <a:rPr lang="en-US" altLang="en-US" dirty="0">
                <a:latin typeface="Courier New" panose="02070309020205020404" pitchFamily="49" charset="0"/>
                <a:cs typeface="Times New Roman" panose="02020603050405020304" pitchFamily="18" charset="0"/>
              </a:rPr>
              <a:t>  return this == obj;</a:t>
            </a:r>
            <a:endParaRPr lang="en-US" altLang="en-US" dirty="0">
              <a:latin typeface="Courier New" panose="02070309020205020404" pitchFamily="49" charset="0"/>
              <a:cs typeface="Times New Roman" panose="02020603050405020304" pitchFamily="18" charset="0"/>
            </a:endParaRPr>
          </a:p>
          <a:p>
            <a:pPr>
              <a:lnSpc>
                <a:spcPct val="0"/>
              </a:lnSpc>
              <a:spcBef>
                <a:spcPct val="75000"/>
              </a:spcBef>
              <a:buClr>
                <a:schemeClr val="tx2"/>
              </a:buClr>
              <a:buSzPct val="75000"/>
              <a:buFont typeface="Monotype Sorts" pitchFamily="2" charset="2"/>
            </a:pPr>
            <a:r>
              <a:rPr lang="en-US" altLang="en-US" dirty="0">
                <a:latin typeface="Courier New" panose="02070309020205020404" pitchFamily="49" charset="0"/>
                <a:cs typeface="Times New Roman" panose="02020603050405020304" pitchFamily="18" charset="0"/>
              </a:rPr>
              <a:t>}</a:t>
            </a:r>
            <a:endParaRPr lang="en-US" altLang="en-US" dirty="0">
              <a:latin typeface="Courier New" panose="02070309020205020404" pitchFamily="49" charset="0"/>
              <a:ea typeface="Times New Roman" panose="02020603050405020304" pitchFamily="18" charset="0"/>
            </a:endParaRPr>
          </a:p>
        </p:txBody>
      </p:sp>
      <p:sp>
        <p:nvSpPr>
          <p:cNvPr id="48134" name="Rectangle 6"/>
          <p:cNvSpPr/>
          <p:nvPr/>
        </p:nvSpPr>
        <p:spPr>
          <a:xfrm>
            <a:off x="1981200" y="3886200"/>
            <a:ext cx="2743200" cy="1828800"/>
          </a:xfrm>
          <a:prstGeom prst="rect">
            <a:avLst/>
          </a:prstGeom>
          <a:noFill/>
          <a:ln w="9525">
            <a:noFill/>
          </a:ln>
        </p:spPr>
        <p:txBody>
          <a:bodyPr lIns="92075" tIns="46038" rIns="92075" bIns="46038"/>
          <a:p>
            <a:pPr>
              <a:buClr>
                <a:schemeClr val="tx2"/>
              </a:buClr>
              <a:buSzPct val="75000"/>
              <a:buFont typeface="Monotype Sorts" pitchFamily="2" charset="2"/>
            </a:pPr>
            <a:r>
              <a:rPr lang="en-US" altLang="en-US" sz="2000" dirty="0">
                <a:solidFill>
                  <a:schemeClr val="tx2"/>
                </a:solidFill>
                <a:latin typeface="Courier New" panose="02070309020205020404" pitchFamily="49" charset="0"/>
                <a:cs typeface="Courier New" panose="02070309020205020404" pitchFamily="49" charset="0"/>
              </a:rPr>
              <a:t>For example, the equals method is overridden in the Circle class.</a:t>
            </a:r>
            <a:endParaRPr lang="en-US" altLang="en-US" sz="2000" dirty="0">
              <a:solidFill>
                <a:schemeClr val="tx2"/>
              </a:solidFill>
              <a:latin typeface="Courier New" panose="02070309020205020404" pitchFamily="49" charset="0"/>
              <a:ea typeface="Courier New" panose="02070309020205020404" pitchFamily="49" charset="0"/>
            </a:endParaRPr>
          </a:p>
        </p:txBody>
      </p:sp>
      <p:sp>
        <p:nvSpPr>
          <p:cNvPr id="48135" name="Rectangle 7"/>
          <p:cNvSpPr/>
          <p:nvPr/>
        </p:nvSpPr>
        <p:spPr>
          <a:xfrm>
            <a:off x="4953000" y="3810000"/>
            <a:ext cx="5334000" cy="2590800"/>
          </a:xfrm>
          <a:prstGeom prst="rect">
            <a:avLst/>
          </a:prstGeom>
          <a:noFill/>
          <a:ln w="9525">
            <a:noFill/>
          </a:ln>
        </p:spPr>
        <p:txBody>
          <a:bodyPr lIns="92075" tIns="46038" rIns="92075" bIns="46038"/>
          <a:p>
            <a:pPr>
              <a:buClr>
                <a:schemeClr val="tx2"/>
              </a:buClr>
              <a:buSzPct val="75000"/>
              <a:buFont typeface="Monotype Sorts" pitchFamily="2" charset="2"/>
            </a:pPr>
            <a:r>
              <a:rPr lang="en-US" altLang="en-US" sz="1600" b="1" dirty="0">
                <a:solidFill>
                  <a:schemeClr val="tx2"/>
                </a:solidFill>
                <a:latin typeface="Courier New" panose="02070309020205020404" pitchFamily="49" charset="0"/>
                <a:cs typeface="Courier New" panose="02070309020205020404" pitchFamily="49" charset="0"/>
              </a:rPr>
              <a:t>public boolean equals(Object o) {</a:t>
            </a:r>
            <a:endParaRPr lang="en-US" altLang="en-US" sz="1600" b="1" dirty="0">
              <a:solidFill>
                <a:schemeClr val="tx2"/>
              </a:solidFill>
              <a:latin typeface="Courier New" panose="02070309020205020404" pitchFamily="49" charset="0"/>
              <a:cs typeface="Times New Roman" panose="02020603050405020304" pitchFamily="18" charset="0"/>
            </a:endParaRPr>
          </a:p>
          <a:p>
            <a:pPr>
              <a:buClr>
                <a:schemeClr val="tx2"/>
              </a:buClr>
              <a:buSzPct val="75000"/>
              <a:buFont typeface="Monotype Sorts" pitchFamily="2" charset="2"/>
            </a:pPr>
            <a:r>
              <a:rPr lang="en-US" altLang="en-US" sz="1600" b="1" dirty="0">
                <a:solidFill>
                  <a:schemeClr val="tx2"/>
                </a:solidFill>
                <a:latin typeface="Courier New" panose="02070309020205020404" pitchFamily="49" charset="0"/>
                <a:cs typeface="Courier New" panose="02070309020205020404" pitchFamily="49" charset="0"/>
              </a:rPr>
              <a:t>  if (o instanceof Circle) {</a:t>
            </a:r>
            <a:endParaRPr lang="en-US" altLang="en-US" sz="1600" b="1" dirty="0">
              <a:solidFill>
                <a:schemeClr val="tx2"/>
              </a:solidFill>
              <a:latin typeface="Courier New" panose="02070309020205020404" pitchFamily="49" charset="0"/>
              <a:cs typeface="Times New Roman" panose="02020603050405020304" pitchFamily="18" charset="0"/>
            </a:endParaRPr>
          </a:p>
          <a:p>
            <a:pPr>
              <a:buClr>
                <a:schemeClr val="tx2"/>
              </a:buClr>
              <a:buSzPct val="75000"/>
              <a:buFont typeface="Monotype Sorts" pitchFamily="2" charset="2"/>
            </a:pPr>
            <a:r>
              <a:rPr lang="en-US" altLang="en-US" sz="1600" b="1" dirty="0">
                <a:solidFill>
                  <a:schemeClr val="tx2"/>
                </a:solidFill>
                <a:latin typeface="Courier New" panose="02070309020205020404" pitchFamily="49" charset="0"/>
                <a:cs typeface="Courier New" panose="02070309020205020404" pitchFamily="49" charset="0"/>
              </a:rPr>
              <a:t>    return radius == ((Circle)o).radius;</a:t>
            </a:r>
            <a:endParaRPr lang="en-US" altLang="en-US" sz="1600" b="1" dirty="0">
              <a:solidFill>
                <a:schemeClr val="tx2"/>
              </a:solidFill>
              <a:latin typeface="Courier New" panose="02070309020205020404" pitchFamily="49" charset="0"/>
              <a:cs typeface="Times New Roman" panose="02020603050405020304" pitchFamily="18" charset="0"/>
            </a:endParaRPr>
          </a:p>
          <a:p>
            <a:pPr>
              <a:buClr>
                <a:schemeClr val="tx2"/>
              </a:buClr>
              <a:buSzPct val="75000"/>
              <a:buFont typeface="Monotype Sorts" pitchFamily="2" charset="2"/>
            </a:pPr>
            <a:r>
              <a:rPr lang="en-US" altLang="en-US" sz="1600" b="1" dirty="0">
                <a:solidFill>
                  <a:schemeClr val="tx2"/>
                </a:solidFill>
                <a:latin typeface="Courier New" panose="02070309020205020404" pitchFamily="49" charset="0"/>
                <a:cs typeface="Courier New" panose="02070309020205020404" pitchFamily="49" charset="0"/>
              </a:rPr>
              <a:t>  }</a:t>
            </a:r>
            <a:endParaRPr lang="en-US" altLang="en-US" sz="1600" b="1" dirty="0">
              <a:solidFill>
                <a:schemeClr val="tx2"/>
              </a:solidFill>
              <a:latin typeface="Courier New" panose="02070309020205020404" pitchFamily="49" charset="0"/>
              <a:cs typeface="Times New Roman" panose="02020603050405020304" pitchFamily="18" charset="0"/>
            </a:endParaRPr>
          </a:p>
          <a:p>
            <a:pPr>
              <a:buClr>
                <a:schemeClr val="tx2"/>
              </a:buClr>
              <a:buSzPct val="75000"/>
              <a:buFont typeface="Monotype Sorts" pitchFamily="2" charset="2"/>
            </a:pPr>
            <a:r>
              <a:rPr lang="en-US" altLang="en-US" sz="1600" b="1" dirty="0">
                <a:solidFill>
                  <a:schemeClr val="tx2"/>
                </a:solidFill>
                <a:latin typeface="Courier New" panose="02070309020205020404" pitchFamily="49" charset="0"/>
                <a:cs typeface="Courier New" panose="02070309020205020404" pitchFamily="49" charset="0"/>
              </a:rPr>
              <a:t>  else</a:t>
            </a:r>
            <a:endParaRPr lang="en-US" altLang="en-US" sz="1600" b="1" dirty="0">
              <a:solidFill>
                <a:schemeClr val="tx2"/>
              </a:solidFill>
              <a:latin typeface="Courier New" panose="02070309020205020404" pitchFamily="49" charset="0"/>
              <a:cs typeface="Times New Roman" panose="02020603050405020304" pitchFamily="18" charset="0"/>
            </a:endParaRPr>
          </a:p>
          <a:p>
            <a:pPr>
              <a:buClr>
                <a:schemeClr val="tx2"/>
              </a:buClr>
              <a:buSzPct val="75000"/>
              <a:buFont typeface="Monotype Sorts" pitchFamily="2" charset="2"/>
            </a:pPr>
            <a:r>
              <a:rPr lang="en-US" altLang="en-US" sz="1600" b="1" dirty="0">
                <a:solidFill>
                  <a:schemeClr val="tx2"/>
                </a:solidFill>
                <a:latin typeface="Courier New" panose="02070309020205020404" pitchFamily="49" charset="0"/>
                <a:cs typeface="Courier New" panose="02070309020205020404" pitchFamily="49" charset="0"/>
              </a:rPr>
              <a:t>    return false;</a:t>
            </a:r>
            <a:endParaRPr lang="en-US" altLang="en-US" sz="1600" b="1" dirty="0">
              <a:solidFill>
                <a:schemeClr val="tx2"/>
              </a:solidFill>
              <a:latin typeface="Courier New" panose="02070309020205020404" pitchFamily="49" charset="0"/>
              <a:cs typeface="Times New Roman" panose="02020603050405020304" pitchFamily="18" charset="0"/>
            </a:endParaRPr>
          </a:p>
          <a:p>
            <a:pPr>
              <a:buClr>
                <a:schemeClr val="tx2"/>
              </a:buClr>
              <a:buSzPct val="75000"/>
              <a:buFont typeface="Monotype Sorts" pitchFamily="2" charset="2"/>
            </a:pPr>
            <a:r>
              <a:rPr lang="en-US" altLang="en-US" sz="1600" b="1" dirty="0">
                <a:solidFill>
                  <a:schemeClr val="tx2"/>
                </a:solidFill>
                <a:latin typeface="Courier New" panose="02070309020205020404" pitchFamily="49" charset="0"/>
                <a:cs typeface="Times New Roman" panose="02020603050405020304" pitchFamily="18" charset="0"/>
              </a:rPr>
              <a:t>}</a:t>
            </a:r>
            <a:r>
              <a:rPr lang="en-US" altLang="en-US" sz="1500" b="1" dirty="0">
                <a:solidFill>
                  <a:schemeClr val="tx2"/>
                </a:solidFill>
                <a:latin typeface="Courier New" panose="02070309020205020404" pitchFamily="49" charset="0"/>
                <a:cs typeface="Courier New" panose="02070309020205020404" pitchFamily="49" charset="0"/>
              </a:rPr>
              <a:t> </a:t>
            </a:r>
            <a:endParaRPr lang="en-US" altLang="en-US" sz="1500" b="1" dirty="0">
              <a:solidFill>
                <a:schemeClr val="tx2"/>
              </a:solidFill>
              <a:latin typeface="Courier New" panose="02070309020205020404" pitchFamily="49" charset="0"/>
              <a:ea typeface="Courier New" panose="02070309020205020404"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9154"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49155" name="Rectangle 2"/>
          <p:cNvSpPr>
            <a:spLocks noGrp="1"/>
          </p:cNvSpPr>
          <p:nvPr>
            <p:ph type="title"/>
          </p:nvPr>
        </p:nvSpPr>
        <p:spPr>
          <a:xfrm>
            <a:off x="2209800" y="228600"/>
            <a:ext cx="7772400" cy="685800"/>
          </a:xfrm>
          <a:ln/>
        </p:spPr>
        <p:txBody>
          <a:bodyPr vert="horz" wrap="square" lIns="92075" tIns="46038" rIns="92075" bIns="46038" anchor="ctr" anchorCtr="0"/>
          <a:p>
            <a:r>
              <a:rPr lang="en-US" altLang="en-US" dirty="0"/>
              <a:t>NOTE</a:t>
            </a:r>
            <a:endParaRPr lang="en-US" altLang="en-US" dirty="0"/>
          </a:p>
        </p:txBody>
      </p:sp>
      <p:sp>
        <p:nvSpPr>
          <p:cNvPr id="49156" name="Text Box 3"/>
          <p:cNvSpPr txBox="1"/>
          <p:nvPr/>
        </p:nvSpPr>
        <p:spPr>
          <a:xfrm>
            <a:off x="1676400" y="838200"/>
            <a:ext cx="8991600" cy="5631180"/>
          </a:xfrm>
          <a:prstGeom prst="rect">
            <a:avLst/>
          </a:prstGeom>
          <a:noFill/>
          <a:ln w="12700">
            <a:noFill/>
          </a:ln>
        </p:spPr>
        <p:txBody>
          <a:bodyPr>
            <a:spAutoFit/>
          </a:bodyPr>
          <a:p>
            <a:pPr>
              <a:spcBef>
                <a:spcPct val="50000"/>
              </a:spcBef>
            </a:pPr>
            <a:r>
              <a:rPr lang="en-US" altLang="en-US" sz="3600" dirty="0">
                <a:latin typeface="Times New Roman" panose="02020603050405020304" pitchFamily="18" charset="0"/>
                <a:cs typeface="Times New Roman" panose="02020603050405020304" pitchFamily="18" charset="0"/>
              </a:rPr>
              <a:t>The == comparison operator is used for comparing two primitive data type values or for determining whether two objects have the same references. The equals method is intended to test whether two objects have the same contents, provided that the method is modified in the defining class of the objects. The == operator is stronger than the equals method, in that the == operator checks whether the two reference variables refer to the same object.</a:t>
            </a:r>
            <a:endParaRPr lang="en-US" altLang="en-US" sz="3600" dirty="0">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7"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6148" name="Rectangle 2"/>
          <p:cNvSpPr>
            <a:spLocks noGrp="1"/>
          </p:cNvSpPr>
          <p:nvPr>
            <p:ph type="title"/>
          </p:nvPr>
        </p:nvSpPr>
        <p:spPr>
          <a:xfrm>
            <a:off x="2209800" y="152400"/>
            <a:ext cx="7772400" cy="762000"/>
          </a:xfrm>
          <a:ln/>
        </p:spPr>
        <p:txBody>
          <a:bodyPr vert="horz" wrap="square" lIns="92075" tIns="46038" rIns="92075" bIns="46038" anchor="ctr" anchorCtr="0"/>
          <a:p>
            <a:r>
              <a:rPr lang="en-US" altLang="en-US" dirty="0"/>
              <a:t>4</a:t>
            </a:r>
            <a:r>
              <a:rPr lang="en-US" altLang="zh-CN" dirty="0">
                <a:ea typeface="宋体" panose="02010600030101010101" pitchFamily="2" charset="-122"/>
              </a:rPr>
              <a:t>. </a:t>
            </a:r>
            <a:r>
              <a:rPr lang="en-US" altLang="en-US" dirty="0"/>
              <a:t>The </a:t>
            </a:r>
            <a:r>
              <a:rPr lang="en-US" altLang="en-US" u="sng" dirty="0"/>
              <a:t>ArrayList</a:t>
            </a:r>
            <a:r>
              <a:rPr lang="en-US" altLang="en-US" dirty="0"/>
              <a:t> Class</a:t>
            </a:r>
            <a:endParaRPr lang="en-US" altLang="en-US" dirty="0"/>
          </a:p>
        </p:txBody>
      </p:sp>
      <p:sp>
        <p:nvSpPr>
          <p:cNvPr id="6149" name="Rectangle 3"/>
          <p:cNvSpPr>
            <a:spLocks noGrp="1"/>
          </p:cNvSpPr>
          <p:nvPr>
            <p:ph idx="1"/>
          </p:nvPr>
        </p:nvSpPr>
        <p:spPr>
          <a:xfrm>
            <a:off x="1752600" y="990600"/>
            <a:ext cx="8610600" cy="1219200"/>
          </a:xfrm>
          <a:ln/>
        </p:spPr>
        <p:txBody>
          <a:bodyPr vert="horz" wrap="square" lIns="92075" tIns="46038" rIns="92075" bIns="46038" anchor="t" anchorCtr="0"/>
          <a:p>
            <a:pPr marL="0" indent="0">
              <a:spcAft>
                <a:spcPts val="1200"/>
              </a:spcAft>
              <a:buNone/>
            </a:pPr>
            <a:r>
              <a:rPr lang="en-US" altLang="en-US" sz="2400" dirty="0"/>
              <a:t>You can create an array to store objects. But the array’s size is fixed once the array is created. Java provides the ArrayList class that can be used to store an unlimited number of objects. </a:t>
            </a:r>
            <a:endParaRPr lang="en-US" altLang="en-US" sz="2400" dirty="0"/>
          </a:p>
        </p:txBody>
      </p:sp>
      <p:sp>
        <p:nvSpPr>
          <p:cNvPr id="6150" name="Rectangle 5"/>
          <p:cNvSpPr/>
          <p:nvPr/>
        </p:nvSpPr>
        <p:spPr>
          <a:xfrm>
            <a:off x="3167063" y="3062288"/>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6151" name="Rectangle 7"/>
          <p:cNvSpPr/>
          <p:nvPr/>
        </p:nvSpPr>
        <p:spPr>
          <a:xfrm>
            <a:off x="1524000" y="2032000"/>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6152" name="Rectangle 9"/>
          <p:cNvSpPr/>
          <p:nvPr/>
        </p:nvSpPr>
        <p:spPr>
          <a:xfrm>
            <a:off x="1524000" y="1984375"/>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graphicFrame>
        <p:nvGraphicFramePr>
          <p:cNvPr id="6146" name="Object 8"/>
          <p:cNvGraphicFramePr>
            <a:graphicFrameLocks noChangeAspect="1"/>
          </p:cNvGraphicFramePr>
          <p:nvPr/>
        </p:nvGraphicFramePr>
        <p:xfrm>
          <a:off x="2667000" y="2214563"/>
          <a:ext cx="7391400" cy="4206875"/>
        </p:xfrm>
        <a:graphic>
          <a:graphicData uri="http://schemas.openxmlformats.org/presentationml/2006/ole">
            <mc:AlternateContent xmlns:mc="http://schemas.openxmlformats.org/markup-compatibility/2006">
              <mc:Choice xmlns:v="urn:schemas-microsoft-com:vml" Requires="v">
                <p:oleObj spid="_x0000_s3079" name="" r:id="rId1" imgW="4267200" imgH="2425700" progId="Word.Picture.8">
                  <p:embed/>
                </p:oleObj>
              </mc:Choice>
              <mc:Fallback>
                <p:oleObj name="" r:id="rId1" imgW="4267200" imgH="2425700" progId="Word.Picture.8">
                  <p:embed/>
                  <p:pic>
                    <p:nvPicPr>
                      <p:cNvPr id="0" name="图片 3078"/>
                      <p:cNvPicPr/>
                      <p:nvPr/>
                    </p:nvPicPr>
                    <p:blipFill>
                      <a:blip r:embed="rId2"/>
                      <a:stretch>
                        <a:fillRect/>
                      </a:stretch>
                    </p:blipFill>
                    <p:spPr>
                      <a:xfrm>
                        <a:off x="2667000" y="2214563"/>
                        <a:ext cx="7391400" cy="4206875"/>
                      </a:xfrm>
                      <a:prstGeom prst="rect">
                        <a:avLst/>
                      </a:prstGeom>
                      <a:noFill/>
                      <a:ln w="38100">
                        <a:noFill/>
                        <a:miter/>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50179" name="Rectangle 2"/>
          <p:cNvSpPr>
            <a:spLocks noGrp="1"/>
          </p:cNvSpPr>
          <p:nvPr>
            <p:ph type="title"/>
          </p:nvPr>
        </p:nvSpPr>
        <p:spPr>
          <a:xfrm>
            <a:off x="2209800" y="152400"/>
            <a:ext cx="7772400" cy="762000"/>
          </a:xfrm>
          <a:ln/>
        </p:spPr>
        <p:txBody>
          <a:bodyPr vert="horz" wrap="square" lIns="92075" tIns="46038" rIns="92075" bIns="46038" anchor="ctr" anchorCtr="0"/>
          <a:p>
            <a:r>
              <a:rPr lang="en-US" altLang="en-US" dirty="0"/>
              <a:t>Generic Type </a:t>
            </a:r>
            <a:endParaRPr lang="en-US" altLang="en-US" dirty="0"/>
          </a:p>
        </p:txBody>
      </p:sp>
      <p:sp>
        <p:nvSpPr>
          <p:cNvPr id="50180" name="Rectangle 3"/>
          <p:cNvSpPr>
            <a:spLocks noGrp="1"/>
          </p:cNvSpPr>
          <p:nvPr>
            <p:ph idx="1"/>
          </p:nvPr>
        </p:nvSpPr>
        <p:spPr>
          <a:xfrm>
            <a:off x="1676400" y="990600"/>
            <a:ext cx="8839200" cy="2971800"/>
          </a:xfrm>
          <a:ln/>
        </p:spPr>
        <p:txBody>
          <a:bodyPr vert="horz" wrap="square" lIns="92075" tIns="46038" rIns="92075" bIns="46038" anchor="t" anchorCtr="0"/>
          <a:p>
            <a:pPr marL="0" indent="0">
              <a:spcBef>
                <a:spcPct val="40000"/>
              </a:spcBef>
              <a:spcAft>
                <a:spcPts val="1200"/>
              </a:spcAft>
              <a:buNone/>
            </a:pPr>
            <a:r>
              <a:rPr lang="en-US" altLang="en-US" dirty="0">
                <a:solidFill>
                  <a:srgbClr val="C00000"/>
                </a:solidFill>
              </a:rPr>
              <a:t>ArrayList is known as a generic class with a generic type E. </a:t>
            </a:r>
            <a:r>
              <a:rPr lang="en-US" altLang="en-US" dirty="0"/>
              <a:t>You can specify a concrete type to replace E when creating an ArrayList. For example, the following statement creates an ArrayList and assigns its reference to variable cities. This ArrayList object can be used to store strings.</a:t>
            </a:r>
            <a:endParaRPr lang="en-US" altLang="en-US" dirty="0"/>
          </a:p>
        </p:txBody>
      </p:sp>
      <p:sp>
        <p:nvSpPr>
          <p:cNvPr id="50181" name="Rectangle 4"/>
          <p:cNvSpPr/>
          <p:nvPr/>
        </p:nvSpPr>
        <p:spPr>
          <a:xfrm>
            <a:off x="3167063" y="3062288"/>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50182" name="Rectangle 5"/>
          <p:cNvSpPr/>
          <p:nvPr/>
        </p:nvSpPr>
        <p:spPr>
          <a:xfrm>
            <a:off x="1524000" y="2032000"/>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363527" name="AutoShape 7">
            <a:hlinkClick r:id="" action="ppaction://noaction" highlightClick="1"/>
          </p:cNvPr>
          <p:cNvSpPr>
            <a:spLocks noChangeArrowheads="1"/>
          </p:cNvSpPr>
          <p:nvPr/>
        </p:nvSpPr>
        <p:spPr bwMode="auto">
          <a:xfrm>
            <a:off x="3276600" y="5943600"/>
            <a:ext cx="3733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1" action="ppaction://program"/>
              </a:rPr>
              <a:t>TestArrayList</a:t>
            </a:r>
            <a:endParaRPr kumimoji="0" lang="en-US" altLang="zh-CN" sz="24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50184" name="AutoShape 8">
            <a:hlinkClick r:id="rId2" action="ppaction://program"/>
          </p:cNvPr>
          <p:cNvSpPr/>
          <p:nvPr/>
        </p:nvSpPr>
        <p:spPr>
          <a:xfrm>
            <a:off x="7391400" y="5943600"/>
            <a:ext cx="3276600" cy="533400"/>
          </a:xfrm>
          <a:prstGeom prst="actionButtonBlank">
            <a:avLst/>
          </a:prstGeom>
          <a:solidFill>
            <a:srgbClr val="38A1BA"/>
          </a:solidFill>
          <a:ln w="19050">
            <a:noFill/>
          </a:ln>
          <a:effectLst>
            <a:prstShdw prst="shdw17" dist="17961" dir="2699999">
              <a:srgbClr val="226170"/>
            </a:prstShdw>
          </a:effectLst>
        </p:spPr>
        <p:txBody>
          <a:bodyPr wrap="none" anchor="ctr" anchorCtr="0"/>
          <a:p>
            <a:pPr algn="ctr"/>
            <a:r>
              <a:rPr lang="en-US" altLang="en-US" dirty="0">
                <a:latin typeface="Book Antiqua" panose="02040602050305030304" pitchFamily="18" charset="0"/>
              </a:rPr>
              <a:t>Run</a:t>
            </a:r>
            <a:endParaRPr lang="en-US" altLang="en-US" dirty="0">
              <a:latin typeface="Times New Roman" panose="02020603050405020304" pitchFamily="18" charset="0"/>
            </a:endParaRPr>
          </a:p>
        </p:txBody>
      </p:sp>
      <p:sp>
        <p:nvSpPr>
          <p:cNvPr id="50185" name="Rectangle 9"/>
          <p:cNvSpPr/>
          <p:nvPr/>
        </p:nvSpPr>
        <p:spPr>
          <a:xfrm>
            <a:off x="1524000" y="4038600"/>
            <a:ext cx="8839200" cy="685800"/>
          </a:xfrm>
          <a:prstGeom prst="rect">
            <a:avLst/>
          </a:prstGeom>
          <a:noFill/>
          <a:ln w="9525">
            <a:noFill/>
          </a:ln>
        </p:spPr>
        <p:txBody>
          <a:bodyPr lIns="92075" tIns="46038" rIns="92075" bIns="46038"/>
          <a:p>
            <a:pPr>
              <a:spcBef>
                <a:spcPct val="40000"/>
              </a:spcBef>
              <a:spcAft>
                <a:spcPts val="1200"/>
              </a:spcAft>
              <a:buClr>
                <a:schemeClr val="tx2"/>
              </a:buClr>
              <a:buSzPct val="75000"/>
              <a:buFont typeface="Monotype Sorts" pitchFamily="2" charset="2"/>
            </a:pPr>
            <a:r>
              <a:rPr lang="en-US" altLang="en-US" sz="3200" dirty="0">
                <a:solidFill>
                  <a:schemeClr val="tx2"/>
                </a:solidFill>
                <a:latin typeface="Times New Roman" panose="02020603050405020304" pitchFamily="18" charset="0"/>
              </a:rPr>
              <a:t>ArrayList&lt;String&gt; cities = </a:t>
            </a:r>
            <a:r>
              <a:rPr lang="en-US" altLang="en-US" sz="3200" b="1" dirty="0">
                <a:solidFill>
                  <a:schemeClr val="tx2"/>
                </a:solidFill>
                <a:latin typeface="Times New Roman" panose="02020603050405020304" pitchFamily="18" charset="0"/>
              </a:rPr>
              <a:t>new</a:t>
            </a:r>
            <a:r>
              <a:rPr lang="en-US" altLang="en-US" sz="3200" dirty="0">
                <a:solidFill>
                  <a:schemeClr val="tx2"/>
                </a:solidFill>
                <a:latin typeface="Times New Roman" panose="02020603050405020304" pitchFamily="18" charset="0"/>
              </a:rPr>
              <a:t> ArrayList&lt;String&gt;();</a:t>
            </a:r>
            <a:endParaRPr lang="en-US" altLang="en-US" sz="3200" dirty="0">
              <a:solidFill>
                <a:schemeClr val="tx2"/>
              </a:solidFill>
              <a:latin typeface="Times New Roman" panose="02020603050405020304" pitchFamily="18" charset="0"/>
            </a:endParaRPr>
          </a:p>
        </p:txBody>
      </p:sp>
      <p:sp>
        <p:nvSpPr>
          <p:cNvPr id="50186" name="AutoShape 10">
            <a:hlinkClick r:id="rId3"/>
          </p:cNvPr>
          <p:cNvSpPr/>
          <p:nvPr/>
        </p:nvSpPr>
        <p:spPr>
          <a:xfrm>
            <a:off x="2743200" y="59436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
        <p:nvSpPr>
          <p:cNvPr id="50187" name="Rectangle 11"/>
          <p:cNvSpPr/>
          <p:nvPr/>
        </p:nvSpPr>
        <p:spPr>
          <a:xfrm>
            <a:off x="1524000" y="5029200"/>
            <a:ext cx="8839200" cy="609600"/>
          </a:xfrm>
          <a:prstGeom prst="rect">
            <a:avLst/>
          </a:prstGeom>
          <a:noFill/>
          <a:ln w="9525">
            <a:noFill/>
          </a:ln>
        </p:spPr>
        <p:txBody>
          <a:bodyPr lIns="92075" tIns="46038" rIns="92075" bIns="46038"/>
          <a:p>
            <a:pPr>
              <a:spcBef>
                <a:spcPct val="40000"/>
              </a:spcBef>
              <a:spcAft>
                <a:spcPts val="1200"/>
              </a:spcAft>
              <a:buClr>
                <a:schemeClr val="tx2"/>
              </a:buClr>
              <a:buSzPct val="75000"/>
              <a:buFont typeface="Monotype Sorts" pitchFamily="2" charset="2"/>
            </a:pPr>
            <a:r>
              <a:rPr lang="en-US" altLang="en-US" sz="3200" dirty="0">
                <a:solidFill>
                  <a:schemeClr val="tx2"/>
                </a:solidFill>
                <a:latin typeface="Times New Roman" panose="02020603050405020304" pitchFamily="18" charset="0"/>
              </a:rPr>
              <a:t>ArrayList&lt;String&gt; cities = </a:t>
            </a:r>
            <a:r>
              <a:rPr lang="en-US" altLang="en-US" sz="3200" b="1" dirty="0">
                <a:solidFill>
                  <a:schemeClr val="tx2"/>
                </a:solidFill>
                <a:latin typeface="Times New Roman" panose="02020603050405020304" pitchFamily="18" charset="0"/>
              </a:rPr>
              <a:t>new</a:t>
            </a:r>
            <a:r>
              <a:rPr lang="en-US" altLang="en-US" sz="3200" dirty="0">
                <a:solidFill>
                  <a:schemeClr val="tx2"/>
                </a:solidFill>
                <a:latin typeface="Times New Roman" panose="02020603050405020304" pitchFamily="18" charset="0"/>
              </a:rPr>
              <a:t> ArrayList&lt;&gt;();</a:t>
            </a:r>
            <a:endParaRPr lang="en-US" altLang="en-US" sz="3200" dirty="0">
              <a:solidFill>
                <a:schemeClr val="tx2"/>
              </a:solidFill>
              <a:latin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1"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7172" name="Rectangle 2"/>
          <p:cNvSpPr>
            <a:spLocks noGrp="1"/>
          </p:cNvSpPr>
          <p:nvPr>
            <p:ph type="title"/>
          </p:nvPr>
        </p:nvSpPr>
        <p:spPr>
          <a:xfrm>
            <a:off x="1828800" y="457200"/>
            <a:ext cx="8610600" cy="685800"/>
          </a:xfrm>
          <a:ln/>
        </p:spPr>
        <p:txBody>
          <a:bodyPr vert="horz" wrap="square" lIns="92075" tIns="46038" rIns="92075" bIns="46038" anchor="ctr" anchorCtr="0"/>
          <a:p>
            <a:r>
              <a:rPr lang="en-US" altLang="en-US" sz="4000" dirty="0"/>
              <a:t>Differences and Similarities between Arrays and ArrayList</a:t>
            </a:r>
            <a:endParaRPr lang="en-US" altLang="en-US" sz="4000" dirty="0"/>
          </a:p>
        </p:txBody>
      </p:sp>
      <p:sp>
        <p:nvSpPr>
          <p:cNvPr id="7173" name="Rectangle 4"/>
          <p:cNvSpPr/>
          <p:nvPr/>
        </p:nvSpPr>
        <p:spPr>
          <a:xfrm>
            <a:off x="3167063" y="3062288"/>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7174" name="Rectangle 5"/>
          <p:cNvSpPr/>
          <p:nvPr/>
        </p:nvSpPr>
        <p:spPr>
          <a:xfrm>
            <a:off x="1524000" y="2032000"/>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7175" name="Rectangle 6"/>
          <p:cNvSpPr/>
          <p:nvPr/>
        </p:nvSpPr>
        <p:spPr>
          <a:xfrm>
            <a:off x="1524000" y="2408238"/>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7176" name="Rectangle 10"/>
          <p:cNvSpPr/>
          <p:nvPr/>
        </p:nvSpPr>
        <p:spPr>
          <a:xfrm>
            <a:off x="1524000" y="2408238"/>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7177" name="Rectangle 12"/>
          <p:cNvSpPr/>
          <p:nvPr/>
        </p:nvSpPr>
        <p:spPr>
          <a:xfrm>
            <a:off x="1524000" y="2217738"/>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graphicFrame>
        <p:nvGraphicFramePr>
          <p:cNvPr id="7170" name="Object 11"/>
          <p:cNvGraphicFramePr>
            <a:graphicFrameLocks noChangeAspect="1"/>
          </p:cNvGraphicFramePr>
          <p:nvPr/>
        </p:nvGraphicFramePr>
        <p:xfrm>
          <a:off x="1676400" y="1676400"/>
          <a:ext cx="8915400" cy="3128963"/>
        </p:xfrm>
        <a:graphic>
          <a:graphicData uri="http://schemas.openxmlformats.org/presentationml/2006/ole">
            <mc:AlternateContent xmlns:mc="http://schemas.openxmlformats.org/markup-compatibility/2006">
              <mc:Choice xmlns:v="urn:schemas-microsoft-com:vml" Requires="v">
                <p:oleObj spid="_x0000_s3080" name="" r:id="rId1" imgW="5600700" imgH="1968500" progId="Word.Picture.8">
                  <p:embed/>
                </p:oleObj>
              </mc:Choice>
              <mc:Fallback>
                <p:oleObj name="" r:id="rId1" imgW="5600700" imgH="1968500" progId="Word.Picture.8">
                  <p:embed/>
                  <p:pic>
                    <p:nvPicPr>
                      <p:cNvPr id="0" name="图片 3079"/>
                      <p:cNvPicPr/>
                      <p:nvPr/>
                    </p:nvPicPr>
                    <p:blipFill>
                      <a:blip r:embed="rId2"/>
                      <a:stretch>
                        <a:fillRect/>
                      </a:stretch>
                    </p:blipFill>
                    <p:spPr>
                      <a:xfrm>
                        <a:off x="1676400" y="1676400"/>
                        <a:ext cx="8915400" cy="3128963"/>
                      </a:xfrm>
                      <a:prstGeom prst="rect">
                        <a:avLst/>
                      </a:prstGeom>
                      <a:noFill/>
                      <a:ln w="38100">
                        <a:noFill/>
                        <a:miter/>
                      </a:ln>
                    </p:spPr>
                  </p:pic>
                </p:oleObj>
              </mc:Fallback>
            </mc:AlternateContent>
          </a:graphicData>
        </a:graphic>
      </p:graphicFrame>
      <p:sp>
        <p:nvSpPr>
          <p:cNvPr id="7178" name="Rectangle 13"/>
          <p:cNvSpPr/>
          <p:nvPr/>
        </p:nvSpPr>
        <p:spPr>
          <a:xfrm>
            <a:off x="5941060" y="-384175"/>
            <a:ext cx="309880" cy="768350"/>
          </a:xfrm>
          <a:prstGeom prst="rect">
            <a:avLst/>
          </a:prstGeom>
          <a:noFill/>
          <a:ln w="12700">
            <a:noFill/>
          </a:ln>
        </p:spPr>
        <p:txBody>
          <a:bodyPr wrap="none" anchor="ctr" anchorCtr="0">
            <a:spAutoFit/>
          </a:bodyPr>
          <a:p>
            <a:pPr algn="ctr" defTabSz="914400">
              <a:tabLst>
                <a:tab pos="2286000" algn="l"/>
                <a:tab pos="3943350" algn="l"/>
              </a:tabLst>
            </a:pPr>
            <a:endParaRPr lang="en-US" altLang="en-US" sz="4400" dirty="0">
              <a:solidFill>
                <a:schemeClr val="tx2"/>
              </a:solidFill>
              <a:latin typeface="Times New Roman" panose="02020603050405020304" pitchFamily="18" charset="0"/>
            </a:endParaRPr>
          </a:p>
        </p:txBody>
      </p:sp>
      <p:sp>
        <p:nvSpPr>
          <p:cNvPr id="7179" name="Rectangle 14"/>
          <p:cNvSpPr/>
          <p:nvPr/>
        </p:nvSpPr>
        <p:spPr>
          <a:xfrm>
            <a:off x="5941060" y="-384175"/>
            <a:ext cx="309880" cy="768350"/>
          </a:xfrm>
          <a:prstGeom prst="rect">
            <a:avLst/>
          </a:prstGeom>
          <a:noFill/>
          <a:ln w="12700">
            <a:noFill/>
          </a:ln>
        </p:spPr>
        <p:txBody>
          <a:bodyPr wrap="none" anchor="ctr" anchorCtr="0">
            <a:spAutoFit/>
          </a:bodyPr>
          <a:p>
            <a:pPr algn="ctr" defTabSz="914400">
              <a:tabLst>
                <a:tab pos="2286000" algn="l"/>
                <a:tab pos="3943350" algn="l"/>
              </a:tabLst>
            </a:pPr>
            <a:endParaRPr lang="en-US" altLang="en-US" sz="4400" dirty="0">
              <a:solidFill>
                <a:schemeClr val="tx2"/>
              </a:solidFill>
              <a:latin typeface="Times New Roman" panose="02020603050405020304" pitchFamily="18" charset="0"/>
            </a:endParaRPr>
          </a:p>
        </p:txBody>
      </p:sp>
      <p:sp>
        <p:nvSpPr>
          <p:cNvPr id="7180" name="Rectangle 15"/>
          <p:cNvSpPr/>
          <p:nvPr/>
        </p:nvSpPr>
        <p:spPr>
          <a:xfrm>
            <a:off x="5941060" y="-384175"/>
            <a:ext cx="309880" cy="768350"/>
          </a:xfrm>
          <a:prstGeom prst="rect">
            <a:avLst/>
          </a:prstGeom>
          <a:noFill/>
          <a:ln w="12700">
            <a:noFill/>
          </a:ln>
        </p:spPr>
        <p:txBody>
          <a:bodyPr wrap="none" anchor="ctr" anchorCtr="0">
            <a:spAutoFit/>
          </a:bodyPr>
          <a:p>
            <a:pPr algn="ctr" defTabSz="914400">
              <a:tabLst>
                <a:tab pos="2286000" algn="l"/>
                <a:tab pos="3943350" algn="l"/>
              </a:tabLst>
            </a:pPr>
            <a:endParaRPr lang="en-US" altLang="en-US" sz="4400" dirty="0">
              <a:solidFill>
                <a:schemeClr val="tx2"/>
              </a:solidFill>
              <a:latin typeface="Times New Roman" panose="02020603050405020304" pitchFamily="18" charset="0"/>
            </a:endParaRPr>
          </a:p>
        </p:txBody>
      </p:sp>
      <p:sp>
        <p:nvSpPr>
          <p:cNvPr id="391185" name="AutoShape 17">
            <a:hlinkClick r:id="" action="ppaction://noaction" highlightClick="1"/>
          </p:cNvPr>
          <p:cNvSpPr>
            <a:spLocks noChangeArrowheads="1"/>
          </p:cNvSpPr>
          <p:nvPr/>
        </p:nvSpPr>
        <p:spPr bwMode="auto">
          <a:xfrm>
            <a:off x="2971800" y="5715000"/>
            <a:ext cx="3733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3" action="ppaction://program"/>
              </a:rPr>
              <a:t>DistinctNumbers</a:t>
            </a:r>
            <a:endParaRPr kumimoji="0" lang="en-US" altLang="zh-CN" sz="24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7182" name="AutoShape 18">
            <a:hlinkClick r:id="rId4" action="ppaction://program"/>
          </p:cNvPr>
          <p:cNvSpPr/>
          <p:nvPr/>
        </p:nvSpPr>
        <p:spPr>
          <a:xfrm>
            <a:off x="7086600" y="5715000"/>
            <a:ext cx="3276600" cy="533400"/>
          </a:xfrm>
          <a:prstGeom prst="actionButtonBlank">
            <a:avLst/>
          </a:prstGeom>
          <a:solidFill>
            <a:srgbClr val="38A1BA"/>
          </a:solidFill>
          <a:ln w="19050">
            <a:noFill/>
          </a:ln>
          <a:effectLst>
            <a:prstShdw prst="shdw17" dist="17961" dir="2699999">
              <a:srgbClr val="226170"/>
            </a:prstShdw>
          </a:effectLst>
        </p:spPr>
        <p:txBody>
          <a:bodyPr wrap="none" anchor="ctr" anchorCtr="0"/>
          <a:p>
            <a:pPr algn="ctr"/>
            <a:r>
              <a:rPr lang="en-US" altLang="en-US" dirty="0">
                <a:latin typeface="Book Antiqua" panose="02040602050305030304" pitchFamily="18" charset="0"/>
              </a:rPr>
              <a:t>Run</a:t>
            </a:r>
            <a:endParaRPr lang="en-US" altLang="en-US" dirty="0">
              <a:latin typeface="Times New Roman" panose="02020603050405020304" pitchFamily="18" charset="0"/>
            </a:endParaRPr>
          </a:p>
        </p:txBody>
      </p:sp>
      <p:sp>
        <p:nvSpPr>
          <p:cNvPr id="7183" name="AutoShape 19">
            <a:hlinkClick r:id="rId5"/>
          </p:cNvPr>
          <p:cNvSpPr/>
          <p:nvPr/>
        </p:nvSpPr>
        <p:spPr>
          <a:xfrm>
            <a:off x="2438400" y="57150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51203" name="Rectangle 2"/>
          <p:cNvSpPr>
            <a:spLocks noGrp="1"/>
          </p:cNvSpPr>
          <p:nvPr>
            <p:ph type="title"/>
          </p:nvPr>
        </p:nvSpPr>
        <p:spPr>
          <a:xfrm>
            <a:off x="2209800" y="152400"/>
            <a:ext cx="7772400" cy="762000"/>
          </a:xfrm>
          <a:ln/>
        </p:spPr>
        <p:txBody>
          <a:bodyPr vert="horz" wrap="square" lIns="92075" tIns="46038" rIns="92075" bIns="46038" anchor="ctr" anchorCtr="0"/>
          <a:p>
            <a:r>
              <a:rPr lang="en-US" altLang="en-US" dirty="0"/>
              <a:t>Array Lists from/to Arrays</a:t>
            </a:r>
            <a:endParaRPr lang="en-US" altLang="en-US" dirty="0"/>
          </a:p>
        </p:txBody>
      </p:sp>
      <p:sp>
        <p:nvSpPr>
          <p:cNvPr id="51204" name="Rectangle 3"/>
          <p:cNvSpPr>
            <a:spLocks noGrp="1"/>
          </p:cNvSpPr>
          <p:nvPr>
            <p:ph idx="1"/>
          </p:nvPr>
        </p:nvSpPr>
        <p:spPr>
          <a:xfrm>
            <a:off x="1676400" y="990600"/>
            <a:ext cx="8839200" cy="2514600"/>
          </a:xfrm>
          <a:ln/>
        </p:spPr>
        <p:txBody>
          <a:bodyPr vert="horz" wrap="square" lIns="92075" tIns="46038" rIns="92075" bIns="46038" anchor="t" anchorCtr="0"/>
          <a:p>
            <a:pPr marL="0" indent="0">
              <a:spcBef>
                <a:spcPct val="40000"/>
              </a:spcBef>
              <a:spcAft>
                <a:spcPts val="1200"/>
              </a:spcAft>
              <a:buNone/>
            </a:pPr>
            <a:r>
              <a:rPr lang="en-US" altLang="en-US" dirty="0"/>
              <a:t>Creating an ArrayList from an array of objects:</a:t>
            </a:r>
            <a:endParaRPr lang="en-US" altLang="en-US" dirty="0"/>
          </a:p>
          <a:p>
            <a:pPr marL="0" indent="0">
              <a:buNone/>
            </a:pPr>
            <a:r>
              <a:rPr lang="en-US" altLang="en-US" dirty="0"/>
              <a:t> </a:t>
            </a:r>
            <a:r>
              <a:rPr lang="en-US" altLang="en-US" sz="2800" dirty="0"/>
              <a:t>String[] array = {</a:t>
            </a:r>
            <a:r>
              <a:rPr lang="en-US" altLang="en-US" sz="2800" b="1" dirty="0"/>
              <a:t>"red"</a:t>
            </a:r>
            <a:r>
              <a:rPr lang="en-US" altLang="en-US" sz="2800" dirty="0"/>
              <a:t>, </a:t>
            </a:r>
            <a:r>
              <a:rPr lang="en-US" altLang="en-US" sz="2800" b="1" dirty="0"/>
              <a:t>"green", "blue"</a:t>
            </a:r>
            <a:r>
              <a:rPr lang="en-US" altLang="en-US" sz="2800" dirty="0"/>
              <a:t>};</a:t>
            </a:r>
            <a:endParaRPr lang="en-US" altLang="en-US" sz="2800" dirty="0"/>
          </a:p>
          <a:p>
            <a:pPr marL="0" indent="0">
              <a:buNone/>
            </a:pPr>
            <a:r>
              <a:rPr lang="en-US" altLang="en-US" sz="2800" dirty="0"/>
              <a:t>    </a:t>
            </a:r>
            <a:r>
              <a:rPr lang="en-US" altLang="en-US" sz="2400" dirty="0"/>
              <a:t>ArrayList&lt;String&gt; list = </a:t>
            </a:r>
            <a:r>
              <a:rPr lang="en-US" altLang="en-US" sz="2400" b="1" dirty="0"/>
              <a:t>new</a:t>
            </a:r>
            <a:r>
              <a:rPr lang="en-US" altLang="en-US" sz="2400" dirty="0"/>
              <a:t> ArrayList&lt;&gt;(</a:t>
            </a:r>
            <a:r>
              <a:rPr lang="en-US" altLang="en-US" sz="2400" dirty="0">
                <a:solidFill>
                  <a:srgbClr val="C00000"/>
                </a:solidFill>
              </a:rPr>
              <a:t>Arrays.asList(array</a:t>
            </a:r>
            <a:r>
              <a:rPr lang="en-US" altLang="en-US" sz="2400" dirty="0"/>
              <a:t>));</a:t>
            </a:r>
            <a:endParaRPr lang="en-US" altLang="en-US" sz="2800" dirty="0"/>
          </a:p>
        </p:txBody>
      </p:sp>
      <p:sp>
        <p:nvSpPr>
          <p:cNvPr id="51205" name="Rectangle 4"/>
          <p:cNvSpPr/>
          <p:nvPr/>
        </p:nvSpPr>
        <p:spPr>
          <a:xfrm>
            <a:off x="3167063" y="3062288"/>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51206" name="Rectangle 5"/>
          <p:cNvSpPr/>
          <p:nvPr/>
        </p:nvSpPr>
        <p:spPr>
          <a:xfrm>
            <a:off x="1524000" y="2032000"/>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51207" name="Rectangle 3"/>
          <p:cNvSpPr txBox="1"/>
          <p:nvPr/>
        </p:nvSpPr>
        <p:spPr>
          <a:xfrm>
            <a:off x="1676400" y="3733800"/>
            <a:ext cx="8839200" cy="2514600"/>
          </a:xfrm>
          <a:prstGeom prst="rect">
            <a:avLst/>
          </a:prstGeom>
          <a:noFill/>
          <a:ln w="9525">
            <a:noFill/>
          </a:ln>
        </p:spPr>
        <p:txBody>
          <a:bodyPr lIns="92075" tIns="46038" rIns="92075" bIns="46038"/>
          <a:p>
            <a:pPr>
              <a:spcBef>
                <a:spcPct val="40000"/>
              </a:spcBef>
              <a:spcAft>
                <a:spcPts val="1200"/>
              </a:spcAft>
              <a:buClr>
                <a:schemeClr val="tx2"/>
              </a:buClr>
              <a:buSzPct val="75000"/>
              <a:buFont typeface="Monotype Sorts" pitchFamily="2" charset="2"/>
            </a:pPr>
            <a:r>
              <a:rPr lang="en-US" altLang="en-US" sz="3200" dirty="0">
                <a:latin typeface="Times New Roman" panose="02020603050405020304" pitchFamily="18" charset="0"/>
              </a:rPr>
              <a:t>Creating an array of objects from an ArrayList:</a:t>
            </a:r>
            <a:endParaRPr lang="en-US" altLang="en-US" sz="3200" dirty="0">
              <a:latin typeface="Times New Roman" panose="02020603050405020304" pitchFamily="18" charset="0"/>
            </a:endParaRPr>
          </a:p>
          <a:p>
            <a:pPr>
              <a:spcBef>
                <a:spcPct val="20000"/>
              </a:spcBef>
              <a:buClr>
                <a:schemeClr val="tx2"/>
              </a:buClr>
              <a:buSzPct val="75000"/>
              <a:buFont typeface="Monotype Sorts" pitchFamily="2" charset="2"/>
            </a:pPr>
            <a:r>
              <a:rPr lang="en-US" altLang="en-US" sz="3200" dirty="0">
                <a:latin typeface="Times New Roman" panose="02020603050405020304" pitchFamily="18" charset="0"/>
              </a:rPr>
              <a:t>    String[] array1 = </a:t>
            </a:r>
            <a:r>
              <a:rPr lang="en-US" altLang="en-US" sz="3200" b="1" dirty="0">
                <a:latin typeface="Times New Roman" panose="02020603050405020304" pitchFamily="18" charset="0"/>
              </a:rPr>
              <a:t>new</a:t>
            </a:r>
            <a:r>
              <a:rPr lang="en-US" altLang="en-US" sz="3200" dirty="0">
                <a:latin typeface="Times New Roman" panose="02020603050405020304" pitchFamily="18" charset="0"/>
              </a:rPr>
              <a:t> String[list.size()];</a:t>
            </a:r>
            <a:endParaRPr lang="en-US" altLang="en-US" sz="3200" dirty="0">
              <a:latin typeface="Times New Roman" panose="02020603050405020304" pitchFamily="18" charset="0"/>
            </a:endParaRPr>
          </a:p>
          <a:p>
            <a:pPr>
              <a:spcBef>
                <a:spcPct val="20000"/>
              </a:spcBef>
              <a:buClr>
                <a:schemeClr val="tx2"/>
              </a:buClr>
              <a:buSzPct val="75000"/>
              <a:buFont typeface="Monotype Sorts" pitchFamily="2" charset="2"/>
            </a:pPr>
            <a:r>
              <a:rPr lang="en-US" altLang="en-US" sz="3200" dirty="0">
                <a:solidFill>
                  <a:srgbClr val="C00000"/>
                </a:solidFill>
                <a:latin typeface="Times New Roman" panose="02020603050405020304" pitchFamily="18" charset="0"/>
              </a:rPr>
              <a:t>    list.toArray(array1);</a:t>
            </a:r>
            <a:endParaRPr lang="en-US" altLang="en-US" sz="3200" dirty="0">
              <a:solidFill>
                <a:srgbClr val="C00000"/>
              </a:solidFill>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52227" name="Rectangle 2"/>
          <p:cNvSpPr>
            <a:spLocks noGrp="1"/>
          </p:cNvSpPr>
          <p:nvPr>
            <p:ph type="title"/>
          </p:nvPr>
        </p:nvSpPr>
        <p:spPr>
          <a:xfrm>
            <a:off x="2209800" y="152400"/>
            <a:ext cx="7772400" cy="762000"/>
          </a:xfrm>
          <a:ln/>
        </p:spPr>
        <p:txBody>
          <a:bodyPr vert="horz" wrap="square" lIns="92075" tIns="46038" rIns="92075" bIns="46038" anchor="ctr" anchorCtr="0"/>
          <a:p>
            <a:r>
              <a:rPr lang="en-US" altLang="en-US" dirty="0"/>
              <a:t>max and min in an Array List</a:t>
            </a:r>
            <a:endParaRPr lang="en-US" altLang="en-US" dirty="0"/>
          </a:p>
        </p:txBody>
      </p:sp>
      <p:sp>
        <p:nvSpPr>
          <p:cNvPr id="52228" name="Rectangle 3"/>
          <p:cNvSpPr>
            <a:spLocks noGrp="1"/>
          </p:cNvSpPr>
          <p:nvPr>
            <p:ph idx="1"/>
          </p:nvPr>
        </p:nvSpPr>
        <p:spPr>
          <a:xfrm>
            <a:off x="1676400" y="1143000"/>
            <a:ext cx="8839200" cy="1524000"/>
          </a:xfrm>
          <a:ln/>
        </p:spPr>
        <p:txBody>
          <a:bodyPr vert="horz" wrap="square" lIns="92075" tIns="46038" rIns="92075" bIns="46038" anchor="t" anchorCtr="0"/>
          <a:p>
            <a:pPr marL="0" indent="0">
              <a:spcBef>
                <a:spcPct val="40000"/>
              </a:spcBef>
              <a:spcAft>
                <a:spcPts val="1200"/>
              </a:spcAft>
              <a:buNone/>
            </a:pPr>
            <a:r>
              <a:rPr lang="en-US" altLang="en-US" dirty="0"/>
              <a:t>String[] array = {</a:t>
            </a:r>
            <a:r>
              <a:rPr lang="en-US" altLang="en-US" b="1" dirty="0"/>
              <a:t>"red"</a:t>
            </a:r>
            <a:r>
              <a:rPr lang="en-US" altLang="en-US" dirty="0"/>
              <a:t>, </a:t>
            </a:r>
            <a:r>
              <a:rPr lang="en-US" altLang="en-US" b="1" dirty="0"/>
              <a:t>"green", "blue"</a:t>
            </a:r>
            <a:r>
              <a:rPr lang="en-US" altLang="en-US" dirty="0"/>
              <a:t>};</a:t>
            </a:r>
            <a:endParaRPr lang="en-US" altLang="en-US" dirty="0"/>
          </a:p>
          <a:p>
            <a:pPr marL="0" indent="0">
              <a:buNone/>
            </a:pPr>
            <a:r>
              <a:rPr lang="en-US" altLang="en-US" dirty="0"/>
              <a:t>System.out.println(</a:t>
            </a:r>
            <a:r>
              <a:rPr lang="en-US" altLang="en-US" dirty="0">
                <a:solidFill>
                  <a:srgbClr val="C00000"/>
                </a:solidFill>
              </a:rPr>
              <a:t>java.util.Collections.</a:t>
            </a:r>
            <a:r>
              <a:rPr lang="en-US" altLang="en-US" dirty="0"/>
              <a:t>max(</a:t>
            </a:r>
            <a:endParaRPr lang="en-US" altLang="en-US" dirty="0"/>
          </a:p>
          <a:p>
            <a:pPr marL="0" indent="0">
              <a:buNone/>
            </a:pPr>
            <a:r>
              <a:rPr lang="en-US" altLang="en-US" dirty="0"/>
              <a:t>   new ArrayList&lt;String&gt;(Arrays.asList(array)));</a:t>
            </a:r>
            <a:endParaRPr lang="en-US" altLang="en-US" dirty="0"/>
          </a:p>
        </p:txBody>
      </p:sp>
      <p:sp>
        <p:nvSpPr>
          <p:cNvPr id="52229" name="Rectangle 4"/>
          <p:cNvSpPr/>
          <p:nvPr/>
        </p:nvSpPr>
        <p:spPr>
          <a:xfrm>
            <a:off x="3167063" y="3062288"/>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52230" name="Rectangle 5"/>
          <p:cNvSpPr/>
          <p:nvPr/>
        </p:nvSpPr>
        <p:spPr>
          <a:xfrm>
            <a:off x="1524000" y="2032000"/>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52231" name="Rectangle 3"/>
          <p:cNvSpPr txBox="1">
            <a:spLocks noChangeArrowheads="1"/>
          </p:cNvSpPr>
          <p:nvPr/>
        </p:nvSpPr>
        <p:spPr bwMode="auto">
          <a:xfrm>
            <a:off x="1676400" y="3733800"/>
            <a:ext cx="8839200" cy="2514600"/>
          </a:xfrm>
          <a:prstGeom prst="rect">
            <a:avLst/>
          </a:prstGeom>
          <a:noFill/>
          <a:ln w="9525">
            <a:noFill/>
            <a:miter lim="800000"/>
          </a:ln>
        </p:spPr>
        <p:txBody>
          <a:bodyPr lIns="92075" tIns="46038" rIns="92075" bIns="46038"/>
          <a:lstStyle/>
          <a:p>
            <a:pPr marR="0" defTabSz="914400">
              <a:spcBef>
                <a:spcPct val="40000"/>
              </a:spcBef>
              <a:spcAft>
                <a:spcPts val="1200"/>
              </a:spcAft>
              <a:buClr>
                <a:schemeClr val="tx2"/>
              </a:buClr>
              <a:buSzPct val="75000"/>
              <a:buFont typeface="Monotype Sorts" pitchFamily="2" charset="2"/>
              <a:buNone/>
              <a:defRPr/>
            </a:pPr>
            <a:r>
              <a:rPr kumimoji="0" lang="en-US" altLang="en-US" sz="3200" kern="1200" cap="none" spc="0" normalizeH="0" baseline="0" noProof="0" dirty="0">
                <a:latin typeface="Times New Roman" panose="02020603050405020304" pitchFamily="18" charset="0"/>
                <a:ea typeface="+mn-ea"/>
                <a:cs typeface="+mn-cs"/>
              </a:rPr>
              <a:t>String[] array = {</a:t>
            </a:r>
            <a:r>
              <a:rPr kumimoji="0" lang="en-US" altLang="en-US" sz="3200" b="1" kern="1200" cap="none" spc="0" normalizeH="0" baseline="0" noProof="0" dirty="0">
                <a:latin typeface="Times New Roman" panose="02020603050405020304" pitchFamily="18" charset="0"/>
                <a:ea typeface="+mn-ea"/>
                <a:cs typeface="+mn-cs"/>
              </a:rPr>
              <a:t>"red"</a:t>
            </a:r>
            <a:r>
              <a:rPr kumimoji="0" lang="en-US" altLang="en-US" sz="3200" kern="1200" cap="none" spc="0" normalizeH="0" baseline="0" noProof="0" dirty="0">
                <a:latin typeface="Times New Roman" panose="02020603050405020304" pitchFamily="18" charset="0"/>
                <a:ea typeface="+mn-ea"/>
                <a:cs typeface="+mn-cs"/>
              </a:rPr>
              <a:t>, </a:t>
            </a:r>
            <a:r>
              <a:rPr kumimoji="0" lang="en-US" altLang="en-US" sz="3200" b="1" kern="1200" cap="none" spc="0" normalizeH="0" baseline="0" noProof="0" dirty="0">
                <a:latin typeface="Times New Roman" panose="02020603050405020304" pitchFamily="18" charset="0"/>
                <a:ea typeface="+mn-ea"/>
                <a:cs typeface="+mn-cs"/>
              </a:rPr>
              <a:t>"green", "blue"</a:t>
            </a:r>
            <a:r>
              <a:rPr kumimoji="0" lang="en-US" altLang="en-US" sz="3200" kern="1200" cap="none" spc="0" normalizeH="0" baseline="0" noProof="0" dirty="0">
                <a:latin typeface="Times New Roman" panose="02020603050405020304" pitchFamily="18" charset="0"/>
                <a:ea typeface="+mn-ea"/>
                <a:cs typeface="+mn-cs"/>
              </a:rPr>
              <a:t>};</a:t>
            </a:r>
            <a:endParaRPr kumimoji="0" lang="en-US" altLang="en-US" sz="3200" kern="1200" cap="none" spc="0" normalizeH="0" baseline="0" noProof="0" dirty="0">
              <a:latin typeface="Times New Roman" panose="02020603050405020304" pitchFamily="18" charset="0"/>
              <a:ea typeface="+mn-ea"/>
              <a:cs typeface="+mn-cs"/>
            </a:endParaRPr>
          </a:p>
          <a:p>
            <a:pPr marR="0" defTabSz="914400">
              <a:spcBef>
                <a:spcPct val="20000"/>
              </a:spcBef>
              <a:buClr>
                <a:schemeClr val="tx2"/>
              </a:buClr>
              <a:buSzPct val="75000"/>
              <a:buFont typeface="Monotype Sorts" pitchFamily="2" charset="2"/>
              <a:buNone/>
              <a:defRPr/>
            </a:pPr>
            <a:r>
              <a:rPr kumimoji="0" lang="en-US" altLang="en-US" sz="3200" kern="1200" cap="none" spc="0" normalizeH="0" baseline="0" noProof="0" dirty="0" err="1">
                <a:latin typeface="Times New Roman" panose="02020603050405020304" pitchFamily="18" charset="0"/>
                <a:ea typeface="+mn-ea"/>
                <a:cs typeface="+mn-cs"/>
              </a:rPr>
              <a:t>System.out.println</a:t>
            </a:r>
            <a:r>
              <a:rPr kumimoji="0" lang="en-US" altLang="en-US" sz="3200" kern="1200" cap="none" spc="0" normalizeH="0" baseline="0" noProof="0" dirty="0">
                <a:latin typeface="Times New Roman" panose="02020603050405020304" pitchFamily="18" charset="0"/>
                <a:ea typeface="+mn-ea"/>
                <a:cs typeface="+mn-cs"/>
              </a:rPr>
              <a:t>(</a:t>
            </a:r>
            <a:r>
              <a:rPr kumimoji="0" lang="en-US" altLang="en-US" sz="3200" kern="1200" cap="none" spc="0" normalizeH="0" baseline="0" noProof="0" dirty="0" err="1">
                <a:solidFill>
                  <a:srgbClr val="C00000"/>
                </a:solidFill>
                <a:latin typeface="+mn-lt"/>
                <a:ea typeface="+mn-ea"/>
                <a:cs typeface="+mn-cs"/>
              </a:rPr>
              <a:t>java.util.Collections</a:t>
            </a:r>
            <a:r>
              <a:rPr kumimoji="0" lang="en-US" altLang="en-US" sz="3200" kern="1200" cap="none" spc="0" normalizeH="0" baseline="0" noProof="0" dirty="0" err="1">
                <a:latin typeface="Times New Roman" panose="02020603050405020304" pitchFamily="18" charset="0"/>
                <a:ea typeface="+mn-ea"/>
                <a:cs typeface="+mn-cs"/>
              </a:rPr>
              <a:t>.min</a:t>
            </a:r>
            <a:r>
              <a:rPr kumimoji="0" lang="en-US" altLang="en-US" sz="3200" kern="1200" cap="none" spc="0" normalizeH="0" baseline="0" noProof="0" dirty="0">
                <a:latin typeface="Times New Roman" panose="02020603050405020304" pitchFamily="18" charset="0"/>
                <a:ea typeface="+mn-ea"/>
                <a:cs typeface="+mn-cs"/>
              </a:rPr>
              <a:t>(</a:t>
            </a:r>
            <a:endParaRPr kumimoji="0" lang="en-US" altLang="en-US" sz="3200" kern="1200" cap="none" spc="0" normalizeH="0" baseline="0" noProof="0" dirty="0">
              <a:latin typeface="Times New Roman" panose="02020603050405020304" pitchFamily="18" charset="0"/>
              <a:ea typeface="+mn-ea"/>
              <a:cs typeface="+mn-cs"/>
            </a:endParaRPr>
          </a:p>
          <a:p>
            <a:pPr marR="0" defTabSz="914400">
              <a:spcBef>
                <a:spcPct val="20000"/>
              </a:spcBef>
              <a:buClr>
                <a:schemeClr val="tx2"/>
              </a:buClr>
              <a:buSzPct val="75000"/>
              <a:buFont typeface="Monotype Sorts" pitchFamily="2" charset="2"/>
              <a:buNone/>
              <a:defRPr/>
            </a:pPr>
            <a:r>
              <a:rPr kumimoji="0" lang="en-US" altLang="en-US" sz="3200" kern="1200" cap="none" spc="0" normalizeH="0" baseline="0" noProof="0" dirty="0">
                <a:latin typeface="Times New Roman" panose="02020603050405020304" pitchFamily="18" charset="0"/>
                <a:ea typeface="+mn-ea"/>
                <a:cs typeface="+mn-cs"/>
              </a:rPr>
              <a:t>  new </a:t>
            </a:r>
            <a:r>
              <a:rPr kumimoji="0" lang="en-US" altLang="en-US" sz="3200" kern="1200" cap="none" spc="0" normalizeH="0" baseline="0" noProof="0" dirty="0" err="1">
                <a:latin typeface="Times New Roman" panose="02020603050405020304" pitchFamily="18" charset="0"/>
                <a:ea typeface="+mn-ea"/>
                <a:cs typeface="+mn-cs"/>
              </a:rPr>
              <a:t>ArrayList</a:t>
            </a:r>
            <a:r>
              <a:rPr kumimoji="0" lang="en-US" altLang="en-US" sz="3200" kern="1200" cap="none" spc="0" normalizeH="0" baseline="0" noProof="0" dirty="0">
                <a:latin typeface="Times New Roman" panose="02020603050405020304" pitchFamily="18" charset="0"/>
                <a:ea typeface="+mn-ea"/>
                <a:cs typeface="+mn-cs"/>
              </a:rPr>
              <a:t>&lt;String&gt;(</a:t>
            </a:r>
            <a:r>
              <a:rPr kumimoji="0" lang="en-US" altLang="en-US" sz="3200" kern="1200" cap="none" spc="0" normalizeH="0" baseline="0" noProof="0" dirty="0" err="1">
                <a:latin typeface="Times New Roman" panose="02020603050405020304" pitchFamily="18" charset="0"/>
                <a:ea typeface="+mn-ea"/>
                <a:cs typeface="+mn-cs"/>
              </a:rPr>
              <a:t>Arrays.asList</a:t>
            </a:r>
            <a:r>
              <a:rPr kumimoji="0" lang="en-US" altLang="en-US" sz="3200" kern="1200" cap="none" spc="0" normalizeH="0" baseline="0" noProof="0" dirty="0">
                <a:latin typeface="Times New Roman" panose="02020603050405020304" pitchFamily="18" charset="0"/>
                <a:ea typeface="+mn-ea"/>
                <a:cs typeface="+mn-cs"/>
              </a:rPr>
              <a:t>(array)));</a:t>
            </a:r>
            <a:endParaRPr kumimoji="0" lang="en-US" altLang="en-US" sz="3200" kern="1200" cap="none" spc="0" normalizeH="0" baseline="0" noProof="0" dirty="0">
              <a:latin typeface="Times New Roman" panose="02020603050405020304" pitchFamily="18" charset="0"/>
              <a:ea typeface="+mn-ea"/>
              <a:cs typeface="+mn-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53251" name="Rectangle 2"/>
          <p:cNvSpPr>
            <a:spLocks noGrp="1"/>
          </p:cNvSpPr>
          <p:nvPr>
            <p:ph type="title"/>
          </p:nvPr>
        </p:nvSpPr>
        <p:spPr>
          <a:xfrm>
            <a:off x="2209800" y="152400"/>
            <a:ext cx="7772400" cy="762000"/>
          </a:xfrm>
          <a:ln/>
        </p:spPr>
        <p:txBody>
          <a:bodyPr vert="horz" wrap="square" lIns="92075" tIns="46038" rIns="92075" bIns="46038" anchor="ctr" anchorCtr="0"/>
          <a:p>
            <a:r>
              <a:rPr lang="en-US" altLang="en-US" dirty="0"/>
              <a:t>Shuffling an Array List</a:t>
            </a:r>
            <a:endParaRPr lang="en-US" altLang="en-US" dirty="0"/>
          </a:p>
        </p:txBody>
      </p:sp>
      <p:sp>
        <p:nvSpPr>
          <p:cNvPr id="53252" name="Rectangle 3"/>
          <p:cNvSpPr>
            <a:spLocks noGrp="1"/>
          </p:cNvSpPr>
          <p:nvPr>
            <p:ph idx="1"/>
          </p:nvPr>
        </p:nvSpPr>
        <p:spPr>
          <a:xfrm>
            <a:off x="1676400" y="1143000"/>
            <a:ext cx="8839200" cy="4343400"/>
          </a:xfrm>
          <a:ln/>
        </p:spPr>
        <p:txBody>
          <a:bodyPr vert="horz" wrap="square" lIns="92075" tIns="46038" rIns="92075" bIns="46038" anchor="t" anchorCtr="0"/>
          <a:p>
            <a:pPr marL="0" indent="0">
              <a:buNone/>
            </a:pPr>
            <a:r>
              <a:rPr lang="en-US" altLang="en-US" dirty="0"/>
              <a:t>Integer[] array = {</a:t>
            </a:r>
            <a:r>
              <a:rPr lang="en-US" altLang="en-US" b="1" dirty="0"/>
              <a:t>3</a:t>
            </a:r>
            <a:r>
              <a:rPr lang="en-US" altLang="en-US" dirty="0"/>
              <a:t>, </a:t>
            </a:r>
            <a:r>
              <a:rPr lang="en-US" altLang="en-US" b="1" dirty="0"/>
              <a:t>5</a:t>
            </a:r>
            <a:r>
              <a:rPr lang="en-US" altLang="en-US" dirty="0"/>
              <a:t>,</a:t>
            </a:r>
            <a:r>
              <a:rPr lang="en-US" altLang="en-US" b="1" dirty="0"/>
              <a:t> 95</a:t>
            </a:r>
            <a:r>
              <a:rPr lang="en-US" altLang="en-US" dirty="0"/>
              <a:t>, </a:t>
            </a:r>
            <a:r>
              <a:rPr lang="en-US" altLang="en-US" b="1" dirty="0"/>
              <a:t>4</a:t>
            </a:r>
            <a:r>
              <a:rPr lang="en-US" altLang="en-US" dirty="0"/>
              <a:t>, </a:t>
            </a:r>
            <a:r>
              <a:rPr lang="en-US" altLang="en-US" b="1" dirty="0"/>
              <a:t>15</a:t>
            </a:r>
            <a:r>
              <a:rPr lang="en-US" altLang="en-US" dirty="0"/>
              <a:t>, </a:t>
            </a:r>
            <a:r>
              <a:rPr lang="en-US" altLang="en-US" b="1" dirty="0"/>
              <a:t>34</a:t>
            </a:r>
            <a:r>
              <a:rPr lang="en-US" altLang="en-US" dirty="0"/>
              <a:t>, </a:t>
            </a:r>
            <a:r>
              <a:rPr lang="en-US" altLang="en-US" b="1" dirty="0"/>
              <a:t>3</a:t>
            </a:r>
            <a:r>
              <a:rPr lang="en-US" altLang="en-US" dirty="0"/>
              <a:t>, </a:t>
            </a:r>
            <a:r>
              <a:rPr lang="en-US" altLang="en-US" b="1" dirty="0"/>
              <a:t>6</a:t>
            </a:r>
            <a:r>
              <a:rPr lang="en-US" altLang="en-US" dirty="0"/>
              <a:t>, </a:t>
            </a:r>
            <a:r>
              <a:rPr lang="en-US" altLang="en-US" b="1" dirty="0"/>
              <a:t>5</a:t>
            </a:r>
            <a:r>
              <a:rPr lang="en-US" altLang="en-US" dirty="0"/>
              <a:t>};</a:t>
            </a:r>
            <a:endParaRPr lang="en-US" altLang="en-US" dirty="0"/>
          </a:p>
          <a:p>
            <a:pPr marL="0" indent="0">
              <a:buNone/>
            </a:pPr>
            <a:r>
              <a:rPr lang="en-US" altLang="en-US" dirty="0"/>
              <a:t>ArrayList&lt;Integer&gt; list = </a:t>
            </a:r>
            <a:r>
              <a:rPr lang="en-US" altLang="en-US" b="1" dirty="0"/>
              <a:t>new</a:t>
            </a:r>
            <a:r>
              <a:rPr lang="en-US" altLang="en-US" dirty="0"/>
              <a:t>   </a:t>
            </a:r>
            <a:endParaRPr lang="en-US" altLang="en-US" dirty="0"/>
          </a:p>
          <a:p>
            <a:pPr marL="0" indent="0">
              <a:buNone/>
            </a:pPr>
            <a:r>
              <a:rPr lang="en-US" altLang="en-US" dirty="0"/>
              <a:t>    ArrayList&lt;&gt;(Arrays.asList(array));</a:t>
            </a:r>
            <a:endParaRPr lang="en-US" altLang="en-US" dirty="0"/>
          </a:p>
          <a:p>
            <a:pPr marL="0" indent="0">
              <a:buNone/>
            </a:pPr>
            <a:r>
              <a:rPr lang="en-US" altLang="en-US" dirty="0">
                <a:solidFill>
                  <a:srgbClr val="C00000"/>
                </a:solidFill>
              </a:rPr>
              <a:t>java.util.Collections.shuffle</a:t>
            </a:r>
            <a:r>
              <a:rPr lang="en-US" altLang="en-US" dirty="0"/>
              <a:t>(list);</a:t>
            </a:r>
            <a:endParaRPr lang="en-US" altLang="en-US" dirty="0"/>
          </a:p>
          <a:p>
            <a:pPr marL="0" indent="0">
              <a:buNone/>
            </a:pPr>
            <a:r>
              <a:rPr lang="en-US" altLang="en-US" dirty="0"/>
              <a:t>System.out.println(list);</a:t>
            </a:r>
            <a:endParaRPr lang="en-US" altLang="en-US" dirty="0"/>
          </a:p>
        </p:txBody>
      </p:sp>
      <p:sp>
        <p:nvSpPr>
          <p:cNvPr id="53253" name="Rectangle 4"/>
          <p:cNvSpPr/>
          <p:nvPr/>
        </p:nvSpPr>
        <p:spPr>
          <a:xfrm>
            <a:off x="3167063" y="3062288"/>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53254" name="Rectangle 5"/>
          <p:cNvSpPr/>
          <p:nvPr/>
        </p:nvSpPr>
        <p:spPr>
          <a:xfrm>
            <a:off x="1524000" y="2032000"/>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8195"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8196" name="Rectangle 2"/>
          <p:cNvSpPr>
            <a:spLocks noGrp="1"/>
          </p:cNvSpPr>
          <p:nvPr>
            <p:ph type="title"/>
          </p:nvPr>
        </p:nvSpPr>
        <p:spPr>
          <a:xfrm>
            <a:off x="2209800" y="152400"/>
            <a:ext cx="7772400" cy="762000"/>
          </a:xfrm>
          <a:ln/>
        </p:spPr>
        <p:txBody>
          <a:bodyPr vert="horz" wrap="square" lIns="92075" tIns="46038" rIns="92075" bIns="46038" anchor="ctr" anchorCtr="0"/>
          <a:p>
            <a:r>
              <a:rPr lang="en-US" altLang="en-US" dirty="0"/>
              <a:t>The </a:t>
            </a:r>
            <a:r>
              <a:rPr lang="en-US" altLang="en-US" u="sng" dirty="0"/>
              <a:t>MyStack</a:t>
            </a:r>
            <a:r>
              <a:rPr lang="en-US" altLang="en-US" dirty="0"/>
              <a:t> Classes </a:t>
            </a:r>
            <a:endParaRPr lang="en-US" altLang="en-US" dirty="0"/>
          </a:p>
        </p:txBody>
      </p:sp>
      <p:sp>
        <p:nvSpPr>
          <p:cNvPr id="8197" name="Rectangle 3"/>
          <p:cNvSpPr>
            <a:spLocks noGrp="1"/>
          </p:cNvSpPr>
          <p:nvPr>
            <p:ph idx="1"/>
          </p:nvPr>
        </p:nvSpPr>
        <p:spPr>
          <a:xfrm>
            <a:off x="1752600" y="1143000"/>
            <a:ext cx="8610600" cy="1219200"/>
          </a:xfrm>
          <a:ln/>
        </p:spPr>
        <p:txBody>
          <a:bodyPr vert="horz" wrap="square" lIns="92075" tIns="46038" rIns="92075" bIns="46038" anchor="t" anchorCtr="0"/>
          <a:p>
            <a:pPr marL="0" indent="0">
              <a:lnSpc>
                <a:spcPct val="80000"/>
              </a:lnSpc>
              <a:spcAft>
                <a:spcPts val="1200"/>
              </a:spcAft>
              <a:buNone/>
            </a:pPr>
            <a:r>
              <a:rPr lang="en-US" altLang="en-US" sz="2400" dirty="0"/>
              <a:t>A stack to hold objects.</a:t>
            </a:r>
            <a:endParaRPr lang="en-US" altLang="en-US" sz="2400" dirty="0"/>
          </a:p>
        </p:txBody>
      </p:sp>
      <p:sp>
        <p:nvSpPr>
          <p:cNvPr id="8198" name="Rectangle 4"/>
          <p:cNvSpPr/>
          <p:nvPr/>
        </p:nvSpPr>
        <p:spPr>
          <a:xfrm>
            <a:off x="3167063" y="3062288"/>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8199" name="Rectangle 5"/>
          <p:cNvSpPr/>
          <p:nvPr/>
        </p:nvSpPr>
        <p:spPr>
          <a:xfrm>
            <a:off x="1524000" y="2032000"/>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8200" name="Rectangle 6"/>
          <p:cNvSpPr/>
          <p:nvPr/>
        </p:nvSpPr>
        <p:spPr>
          <a:xfrm>
            <a:off x="1524000" y="2408238"/>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sp>
        <p:nvSpPr>
          <p:cNvPr id="394247" name="AutoShape 7">
            <a:hlinkClick r:id="" action="ppaction://noaction" highlightClick="1"/>
          </p:cNvPr>
          <p:cNvSpPr>
            <a:spLocks noChangeArrowheads="1"/>
          </p:cNvSpPr>
          <p:nvPr/>
        </p:nvSpPr>
        <p:spPr bwMode="auto">
          <a:xfrm>
            <a:off x="7086600" y="1676400"/>
            <a:ext cx="1752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chemeClr val="accent1"/>
                </a:solidFill>
                <a:effectLst/>
                <a:uLnTx/>
                <a:uFillTx/>
                <a:latin typeface="Book Antiqua" panose="02040602050305030304" pitchFamily="18" charset="0"/>
                <a:ea typeface="宋体" panose="02010600030101010101" pitchFamily="2" charset="-122"/>
                <a:cs typeface="+mn-cs"/>
                <a:hlinkClick r:id="rId1" action="ppaction://program"/>
              </a:rPr>
              <a:t>MyStack</a:t>
            </a:r>
            <a:endParaRPr kumimoji="0" lang="en-US" altLang="zh-CN" sz="2400" b="0" i="0" u="none" strike="noStrike" kern="1200" cap="none" spc="0" normalizeH="0" baseline="0" noProof="0">
              <a:ln>
                <a:noFill/>
              </a:ln>
              <a:solidFill>
                <a:schemeClr val="accent1"/>
              </a:solidFill>
              <a:effectLst/>
              <a:uLnTx/>
              <a:uFillTx/>
              <a:latin typeface="Times New Roman" panose="02020603050405020304" pitchFamily="18" charset="0"/>
              <a:ea typeface="宋体" panose="02010600030101010101" pitchFamily="2" charset="-122"/>
              <a:cs typeface="+mn-cs"/>
            </a:endParaRPr>
          </a:p>
        </p:txBody>
      </p:sp>
      <p:sp>
        <p:nvSpPr>
          <p:cNvPr id="8202" name="Rectangle 8"/>
          <p:cNvSpPr/>
          <p:nvPr/>
        </p:nvSpPr>
        <p:spPr>
          <a:xfrm>
            <a:off x="1524000" y="2408238"/>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graphicFrame>
        <p:nvGraphicFramePr>
          <p:cNvPr id="8194" name="Object 9"/>
          <p:cNvGraphicFramePr>
            <a:graphicFrameLocks noChangeAspect="1"/>
          </p:cNvGraphicFramePr>
          <p:nvPr/>
        </p:nvGraphicFramePr>
        <p:xfrm>
          <a:off x="1752600" y="2438400"/>
          <a:ext cx="8610600" cy="3722688"/>
        </p:xfrm>
        <a:graphic>
          <a:graphicData uri="http://schemas.openxmlformats.org/presentationml/2006/ole">
            <mc:AlternateContent xmlns:mc="http://schemas.openxmlformats.org/markup-compatibility/2006">
              <mc:Choice xmlns:v="urn:schemas-microsoft-com:vml" Requires="v">
                <p:oleObj spid="_x0000_s3081" name="" r:id="rId2" imgW="3846830" imgH="1387475" progId="Word.Picture.8">
                  <p:embed/>
                </p:oleObj>
              </mc:Choice>
              <mc:Fallback>
                <p:oleObj name="" r:id="rId2" imgW="3846830" imgH="1387475" progId="Word.Picture.8">
                  <p:embed/>
                  <p:pic>
                    <p:nvPicPr>
                      <p:cNvPr id="0" name="图片 3080"/>
                      <p:cNvPicPr/>
                      <p:nvPr/>
                    </p:nvPicPr>
                    <p:blipFill>
                      <a:blip r:embed="rId3"/>
                      <a:stretch>
                        <a:fillRect/>
                      </a:stretch>
                    </p:blipFill>
                    <p:spPr>
                      <a:xfrm>
                        <a:off x="1752600" y="2438400"/>
                        <a:ext cx="8610600" cy="3722688"/>
                      </a:xfrm>
                      <a:prstGeom prst="rect">
                        <a:avLst/>
                      </a:prstGeom>
                      <a:noFill/>
                      <a:ln w="38100">
                        <a:noFill/>
                        <a:miter/>
                      </a:ln>
                    </p:spPr>
                  </p:pic>
                </p:oleObj>
              </mc:Fallback>
            </mc:AlternateContent>
          </a:graphicData>
        </a:graphic>
      </p:graphicFrame>
      <p:sp>
        <p:nvSpPr>
          <p:cNvPr id="8203" name="AutoShape 10">
            <a:hlinkClick r:id="rId4"/>
          </p:cNvPr>
          <p:cNvSpPr/>
          <p:nvPr/>
        </p:nvSpPr>
        <p:spPr>
          <a:xfrm>
            <a:off x="6477000" y="1676400"/>
            <a:ext cx="468313" cy="576263"/>
          </a:xfrm>
          <a:prstGeom prst="actionButtonDocument">
            <a:avLst/>
          </a:prstGeom>
          <a:solidFill>
            <a:srgbClr val="92D050"/>
          </a:solidFill>
          <a:ln w="9525">
            <a:noFill/>
          </a:ln>
        </p:spPr>
        <p:txBody>
          <a:bodyPr wrap="none" anchor="ctr" anchorCtr="0"/>
          <a:p>
            <a:endParaRPr lang="en-US" altLang="en-US" dirty="0">
              <a:latin typeface="Times New Roman" panose="02020603050405020304" pitchFamily="18"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9220" name="Rectangle 2"/>
          <p:cNvSpPr>
            <a:spLocks noGrp="1"/>
          </p:cNvSpPr>
          <p:nvPr>
            <p:ph type="title"/>
          </p:nvPr>
        </p:nvSpPr>
        <p:spPr>
          <a:xfrm>
            <a:off x="2209800" y="0"/>
            <a:ext cx="7772400" cy="1428750"/>
          </a:xfrm>
          <a:ln/>
        </p:spPr>
        <p:txBody>
          <a:bodyPr vert="horz" wrap="square" lIns="92075" tIns="46038" rIns="92075" bIns="46038" anchor="ctr" anchorCtr="0"/>
          <a:p>
            <a:r>
              <a:rPr lang="en-US" altLang="en-US" dirty="0"/>
              <a:t>5</a:t>
            </a:r>
            <a:r>
              <a:rPr lang="en-US" altLang="zh-CN" dirty="0">
                <a:ea typeface="宋体" panose="02010600030101010101" pitchFamily="2" charset="-122"/>
              </a:rPr>
              <a:t>. </a:t>
            </a:r>
            <a:r>
              <a:rPr lang="en-US" altLang="en-US" dirty="0"/>
              <a:t>The </a:t>
            </a:r>
            <a:r>
              <a:rPr lang="en-US" altLang="en-US" sz="4200" dirty="0">
                <a:latin typeface="Courier New" panose="02070309020205020404" pitchFamily="49" charset="0"/>
              </a:rPr>
              <a:t>protected</a:t>
            </a:r>
            <a:r>
              <a:rPr lang="en-US" altLang="en-US" dirty="0"/>
              <a:t> Modifier</a:t>
            </a:r>
            <a:endParaRPr lang="en-US" altLang="en-US" dirty="0"/>
          </a:p>
        </p:txBody>
      </p:sp>
      <p:sp>
        <p:nvSpPr>
          <p:cNvPr id="9221" name="Rectangle 3"/>
          <p:cNvSpPr>
            <a:spLocks noGrp="1"/>
          </p:cNvSpPr>
          <p:nvPr>
            <p:ph idx="1"/>
          </p:nvPr>
        </p:nvSpPr>
        <p:spPr>
          <a:xfrm>
            <a:off x="1905000" y="1295400"/>
            <a:ext cx="8305800" cy="3048000"/>
          </a:xfrm>
          <a:ln/>
        </p:spPr>
        <p:txBody>
          <a:bodyPr vert="horz" wrap="square" lIns="92075" tIns="46038" rIns="92075" bIns="46038" anchor="t" anchorCtr="0"/>
          <a:p>
            <a:pPr>
              <a:lnSpc>
                <a:spcPct val="90000"/>
              </a:lnSpc>
              <a:spcAft>
                <a:spcPts val="1200"/>
              </a:spcAft>
            </a:pPr>
            <a:r>
              <a:rPr lang="en-US" altLang="en-US" sz="3000" dirty="0"/>
              <a:t>The </a:t>
            </a:r>
            <a:r>
              <a:rPr lang="en-US" altLang="en-US" sz="3000" dirty="0">
                <a:latin typeface="Courier New" panose="02070309020205020404" pitchFamily="49" charset="0"/>
              </a:rPr>
              <a:t>protected</a:t>
            </a:r>
            <a:r>
              <a:rPr lang="en-US" altLang="en-US" sz="3000" dirty="0"/>
              <a:t> modifier can be applied on data and methods in a class. </a:t>
            </a:r>
            <a:r>
              <a:rPr lang="en-US" altLang="en-US" sz="3000" dirty="0">
                <a:solidFill>
                  <a:srgbClr val="C00000"/>
                </a:solidFill>
              </a:rPr>
              <a:t>A protected data or a protected method in a public class can be accessed by any class in the same package or its subclasses, even if the subclasses are in a different package.</a:t>
            </a:r>
            <a:r>
              <a:rPr lang="en-US" altLang="en-US" dirty="0">
                <a:solidFill>
                  <a:srgbClr val="C00000"/>
                </a:solidFill>
                <a:latin typeface="Courier" pitchFamily="49" charset="0"/>
              </a:rPr>
              <a:t> </a:t>
            </a:r>
            <a:endParaRPr lang="en-US" altLang="en-US" dirty="0">
              <a:solidFill>
                <a:srgbClr val="C00000"/>
              </a:solidFill>
              <a:latin typeface="Courier" pitchFamily="49" charset="0"/>
            </a:endParaRPr>
          </a:p>
          <a:p>
            <a:pPr>
              <a:lnSpc>
                <a:spcPct val="90000"/>
              </a:lnSpc>
              <a:spcAft>
                <a:spcPts val="1200"/>
              </a:spcAft>
            </a:pPr>
            <a:r>
              <a:rPr lang="en-US" altLang="en-US" dirty="0"/>
              <a:t>private, default, protected, public</a:t>
            </a:r>
            <a:endParaRPr lang="en-US" altLang="en-US" dirty="0"/>
          </a:p>
        </p:txBody>
      </p:sp>
      <p:sp>
        <p:nvSpPr>
          <p:cNvPr id="9222" name="Rectangle 4"/>
          <p:cNvSpPr/>
          <p:nvPr/>
        </p:nvSpPr>
        <p:spPr>
          <a:xfrm>
            <a:off x="3167063" y="3062288"/>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graphicFrame>
        <p:nvGraphicFramePr>
          <p:cNvPr id="9218" name="Object 5"/>
          <p:cNvGraphicFramePr>
            <a:graphicFrameLocks noChangeAspect="1"/>
          </p:cNvGraphicFramePr>
          <p:nvPr/>
        </p:nvGraphicFramePr>
        <p:xfrm>
          <a:off x="2209800" y="4572000"/>
          <a:ext cx="7780338" cy="1173163"/>
        </p:xfrm>
        <a:graphic>
          <a:graphicData uri="http://schemas.openxmlformats.org/presentationml/2006/ole">
            <mc:AlternateContent xmlns:mc="http://schemas.openxmlformats.org/markup-compatibility/2006">
              <mc:Choice xmlns:v="urn:schemas-microsoft-com:vml" Requires="v">
                <p:oleObj spid="_x0000_s3083" name="" r:id="rId1" imgW="4869180" imgH="735965" progId="Word.Picture.8">
                  <p:embed/>
                </p:oleObj>
              </mc:Choice>
              <mc:Fallback>
                <p:oleObj name="" r:id="rId1" imgW="4869180" imgH="735965" progId="Word.Picture.8">
                  <p:embed/>
                  <p:pic>
                    <p:nvPicPr>
                      <p:cNvPr id="0" name="图片 3082"/>
                      <p:cNvPicPr/>
                      <p:nvPr/>
                    </p:nvPicPr>
                    <p:blipFill>
                      <a:blip r:embed="rId2"/>
                      <a:stretch>
                        <a:fillRect/>
                      </a:stretch>
                    </p:blipFill>
                    <p:spPr>
                      <a:xfrm>
                        <a:off x="2209800" y="4572000"/>
                        <a:ext cx="7780338" cy="1173163"/>
                      </a:xfrm>
                      <a:prstGeom prst="rect">
                        <a:avLst/>
                      </a:prstGeom>
                      <a:noFill/>
                      <a:ln w="38100">
                        <a:noFill/>
                        <a:miter/>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10244" name="Rectangle 2"/>
          <p:cNvSpPr>
            <a:spLocks noGrp="1"/>
          </p:cNvSpPr>
          <p:nvPr>
            <p:ph type="title"/>
          </p:nvPr>
        </p:nvSpPr>
        <p:spPr>
          <a:xfrm>
            <a:off x="2209800" y="0"/>
            <a:ext cx="7772400" cy="1428750"/>
          </a:xfrm>
          <a:ln/>
        </p:spPr>
        <p:txBody>
          <a:bodyPr vert="horz" wrap="square" lIns="92075" tIns="46038" rIns="92075" bIns="46038" anchor="ctr" anchorCtr="0"/>
          <a:p>
            <a:r>
              <a:rPr lang="en-US" altLang="en-US" dirty="0"/>
              <a:t>Accessibility Summary</a:t>
            </a:r>
            <a:endParaRPr lang="en-US" altLang="en-US" dirty="0"/>
          </a:p>
        </p:txBody>
      </p:sp>
      <p:sp>
        <p:nvSpPr>
          <p:cNvPr id="10245" name="Rectangle 4"/>
          <p:cNvSpPr/>
          <p:nvPr/>
        </p:nvSpPr>
        <p:spPr>
          <a:xfrm>
            <a:off x="3167063" y="3062288"/>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10246" name="Rectangle 8"/>
          <p:cNvSpPr/>
          <p:nvPr/>
        </p:nvSpPr>
        <p:spPr>
          <a:xfrm>
            <a:off x="3771900" y="2400300"/>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graphicFrame>
        <p:nvGraphicFramePr>
          <p:cNvPr id="10242" name="Object 7"/>
          <p:cNvGraphicFramePr>
            <a:graphicFrameLocks noChangeAspect="1"/>
          </p:cNvGraphicFramePr>
          <p:nvPr/>
        </p:nvGraphicFramePr>
        <p:xfrm>
          <a:off x="1905000" y="1981200"/>
          <a:ext cx="8382000" cy="3709988"/>
        </p:xfrm>
        <a:graphic>
          <a:graphicData uri="http://schemas.openxmlformats.org/presentationml/2006/ole">
            <mc:AlternateContent xmlns:mc="http://schemas.openxmlformats.org/markup-compatibility/2006">
              <mc:Choice xmlns:v="urn:schemas-microsoft-com:vml" Requires="v">
                <p:oleObj spid="_x0000_s3082" name="" r:id="rId1" imgW="4648200" imgH="2057400" progId="Word.Picture.8">
                  <p:embed/>
                </p:oleObj>
              </mc:Choice>
              <mc:Fallback>
                <p:oleObj name="" r:id="rId1" imgW="4648200" imgH="2057400" progId="Word.Picture.8">
                  <p:embed/>
                  <p:pic>
                    <p:nvPicPr>
                      <p:cNvPr id="0" name="图片 3081"/>
                      <p:cNvPicPr/>
                      <p:nvPr/>
                    </p:nvPicPr>
                    <p:blipFill>
                      <a:blip r:embed="rId2"/>
                      <a:stretch>
                        <a:fillRect/>
                      </a:stretch>
                    </p:blipFill>
                    <p:spPr>
                      <a:xfrm>
                        <a:off x="1905000" y="1981200"/>
                        <a:ext cx="8382000" cy="3709988"/>
                      </a:xfrm>
                      <a:prstGeom prst="rect">
                        <a:avLst/>
                      </a:prstGeom>
                      <a:noFill/>
                      <a:ln w="38100">
                        <a:noFill/>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11268" name="Rectangle 2"/>
          <p:cNvSpPr>
            <a:spLocks noGrp="1"/>
          </p:cNvSpPr>
          <p:nvPr>
            <p:ph type="title"/>
          </p:nvPr>
        </p:nvSpPr>
        <p:spPr>
          <a:xfrm>
            <a:off x="2209800" y="304800"/>
            <a:ext cx="7772400" cy="742950"/>
          </a:xfrm>
          <a:ln/>
        </p:spPr>
        <p:txBody>
          <a:bodyPr vert="horz" wrap="square" lIns="92075" tIns="46038" rIns="92075" bIns="46038" anchor="ctr" anchorCtr="0"/>
          <a:p>
            <a:r>
              <a:rPr lang="en-US" altLang="en-US" dirty="0"/>
              <a:t>Visibility Modifiers </a:t>
            </a:r>
            <a:endParaRPr lang="en-US" altLang="en-US" dirty="0"/>
          </a:p>
        </p:txBody>
      </p:sp>
      <p:sp>
        <p:nvSpPr>
          <p:cNvPr id="11269" name="Rectangle 5"/>
          <p:cNvSpPr/>
          <p:nvPr/>
        </p:nvSpPr>
        <p:spPr>
          <a:xfrm>
            <a:off x="3208338" y="2686050"/>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11270" name="Rectangle 7"/>
          <p:cNvSpPr/>
          <p:nvPr/>
        </p:nvSpPr>
        <p:spPr>
          <a:xfrm>
            <a:off x="3438525" y="1914525"/>
            <a:ext cx="9144000" cy="460375"/>
          </a:xfrm>
          <a:prstGeom prst="rect">
            <a:avLst/>
          </a:prstGeom>
          <a:noFill/>
          <a:ln w="12700">
            <a:noFill/>
          </a:ln>
        </p:spPr>
        <p:txBody>
          <a:bodyPr>
            <a:spAutoFit/>
          </a:bodyPr>
          <a:p>
            <a:endParaRPr lang="en-US" altLang="en-US" dirty="0">
              <a:latin typeface="Times New Roman" panose="02020603050405020304" pitchFamily="18" charset="0"/>
            </a:endParaRPr>
          </a:p>
        </p:txBody>
      </p:sp>
      <p:sp>
        <p:nvSpPr>
          <p:cNvPr id="11271" name="Rectangle 9"/>
          <p:cNvSpPr/>
          <p:nvPr/>
        </p:nvSpPr>
        <p:spPr>
          <a:xfrm>
            <a:off x="1524000" y="1682750"/>
            <a:ext cx="309880" cy="460375"/>
          </a:xfrm>
          <a:prstGeom prst="rect">
            <a:avLst/>
          </a:prstGeom>
          <a:noFill/>
          <a:ln w="12700">
            <a:noFill/>
          </a:ln>
        </p:spPr>
        <p:txBody>
          <a:bodyPr wrap="none" anchor="ctr" anchorCtr="0">
            <a:spAutoFit/>
          </a:bodyPr>
          <a:p>
            <a:endParaRPr lang="en-US" altLang="en-US" dirty="0">
              <a:latin typeface="Times New Roman" panose="02020603050405020304" pitchFamily="18" charset="0"/>
            </a:endParaRPr>
          </a:p>
        </p:txBody>
      </p:sp>
      <p:graphicFrame>
        <p:nvGraphicFramePr>
          <p:cNvPr id="11266" name="Object 8"/>
          <p:cNvGraphicFramePr>
            <a:graphicFrameLocks noChangeAspect="1"/>
          </p:cNvGraphicFramePr>
          <p:nvPr/>
        </p:nvGraphicFramePr>
        <p:xfrm>
          <a:off x="1524000" y="1219200"/>
          <a:ext cx="8839200" cy="5040313"/>
        </p:xfrm>
        <a:graphic>
          <a:graphicData uri="http://schemas.openxmlformats.org/presentationml/2006/ole">
            <mc:AlternateContent xmlns:mc="http://schemas.openxmlformats.org/markup-compatibility/2006">
              <mc:Choice xmlns:v="urn:schemas-microsoft-com:vml" Requires="v">
                <p:oleObj spid="_x0000_s3084" name="" r:id="rId1" imgW="5321935" imgH="3026410" progId="Word.Picture.8">
                  <p:embed/>
                </p:oleObj>
              </mc:Choice>
              <mc:Fallback>
                <p:oleObj name="" r:id="rId1" imgW="5321935" imgH="3026410" progId="Word.Picture.8">
                  <p:embed/>
                  <p:pic>
                    <p:nvPicPr>
                      <p:cNvPr id="0" name="图片 3083"/>
                      <p:cNvPicPr/>
                      <p:nvPr/>
                    </p:nvPicPr>
                    <p:blipFill>
                      <a:blip r:embed="rId2"/>
                      <a:stretch>
                        <a:fillRect/>
                      </a:stretch>
                    </p:blipFill>
                    <p:spPr>
                      <a:xfrm>
                        <a:off x="1524000" y="1219200"/>
                        <a:ext cx="8839200" cy="5040313"/>
                      </a:xfrm>
                      <a:prstGeom prst="rect">
                        <a:avLst/>
                      </a:prstGeom>
                      <a:noFill/>
                      <a:ln w="38100">
                        <a:noFill/>
                        <a:miter/>
                      </a:ln>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54275" name="Rectangle 2"/>
          <p:cNvSpPr>
            <a:spLocks noGrp="1"/>
          </p:cNvSpPr>
          <p:nvPr>
            <p:ph type="title"/>
          </p:nvPr>
        </p:nvSpPr>
        <p:spPr>
          <a:xfrm>
            <a:off x="1752600" y="228600"/>
            <a:ext cx="8610600" cy="685800"/>
          </a:xfrm>
          <a:ln/>
        </p:spPr>
        <p:txBody>
          <a:bodyPr vert="horz" wrap="square" lIns="92075" tIns="46038" rIns="92075" bIns="46038" anchor="ctr" anchorCtr="0"/>
          <a:p>
            <a:r>
              <a:rPr lang="en-US" altLang="en-US" sz="3600" dirty="0"/>
              <a:t>A Subclass Cannot Weaken the Accessibility</a:t>
            </a:r>
            <a:endParaRPr lang="en-US" altLang="en-US" sz="3600" dirty="0"/>
          </a:p>
        </p:txBody>
      </p:sp>
      <p:sp>
        <p:nvSpPr>
          <p:cNvPr id="54276" name="Text Box 3"/>
          <p:cNvSpPr txBox="1"/>
          <p:nvPr/>
        </p:nvSpPr>
        <p:spPr>
          <a:xfrm>
            <a:off x="2057400" y="1295400"/>
            <a:ext cx="8077200" cy="4523105"/>
          </a:xfrm>
          <a:prstGeom prst="rect">
            <a:avLst/>
          </a:prstGeom>
          <a:noFill/>
          <a:ln w="12700">
            <a:noFill/>
          </a:ln>
        </p:spPr>
        <p:txBody>
          <a:bodyPr>
            <a:spAutoFit/>
          </a:bodyPr>
          <a:p>
            <a:pPr>
              <a:spcBef>
                <a:spcPct val="50000"/>
              </a:spcBef>
            </a:pPr>
            <a:r>
              <a:rPr lang="en-US" altLang="en-US" sz="3600" dirty="0">
                <a:solidFill>
                  <a:srgbClr val="C00000"/>
                </a:solidFill>
                <a:latin typeface="Times New Roman" panose="02020603050405020304" pitchFamily="18" charset="0"/>
                <a:cs typeface="Times New Roman" panose="02020603050405020304" pitchFamily="18" charset="0"/>
              </a:rPr>
              <a:t>A subclass may override a protected method in its superclass and change its visibility to public. </a:t>
            </a:r>
            <a:r>
              <a:rPr lang="en-US" altLang="en-US" sz="3600" dirty="0">
                <a:latin typeface="Times New Roman" panose="02020603050405020304" pitchFamily="18" charset="0"/>
                <a:cs typeface="Times New Roman" panose="02020603050405020304" pitchFamily="18" charset="0"/>
              </a:rPr>
              <a:t>However, a subclass cannot weaken the accessibility of a method defined in the superclass. For example, if a method is defined as public in the superclass, it must be defined as public in the subclass. </a:t>
            </a:r>
            <a:endParaRPr lang="en-US" altLang="en-US" sz="36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55299" name="Rectangle 2"/>
          <p:cNvSpPr>
            <a:spLocks noGrp="1"/>
          </p:cNvSpPr>
          <p:nvPr>
            <p:ph type="title"/>
          </p:nvPr>
        </p:nvSpPr>
        <p:spPr>
          <a:xfrm>
            <a:off x="2209800" y="228600"/>
            <a:ext cx="7772400" cy="685800"/>
          </a:xfrm>
          <a:ln/>
        </p:spPr>
        <p:txBody>
          <a:bodyPr vert="horz" wrap="square" lIns="92075" tIns="46038" rIns="92075" bIns="46038" anchor="ctr" anchorCtr="0"/>
          <a:p>
            <a:r>
              <a:rPr lang="en-US" altLang="en-US" dirty="0"/>
              <a:t>NOTE</a:t>
            </a:r>
            <a:endParaRPr lang="en-US" altLang="en-US" dirty="0"/>
          </a:p>
        </p:txBody>
      </p:sp>
      <p:sp>
        <p:nvSpPr>
          <p:cNvPr id="55300" name="Text Box 3"/>
          <p:cNvSpPr txBox="1"/>
          <p:nvPr/>
        </p:nvSpPr>
        <p:spPr>
          <a:xfrm>
            <a:off x="2057400" y="1295400"/>
            <a:ext cx="8077200" cy="2861310"/>
          </a:xfrm>
          <a:prstGeom prst="rect">
            <a:avLst/>
          </a:prstGeom>
          <a:noFill/>
          <a:ln w="12700">
            <a:noFill/>
          </a:ln>
        </p:spPr>
        <p:txBody>
          <a:bodyPr>
            <a:spAutoFit/>
          </a:bodyPr>
          <a:p>
            <a:pPr>
              <a:spcBef>
                <a:spcPct val="50000"/>
              </a:spcBef>
            </a:pPr>
            <a:r>
              <a:rPr lang="en-US" altLang="en-US" sz="3600" dirty="0">
                <a:latin typeface="Times New Roman" panose="02020603050405020304" pitchFamily="18" charset="0"/>
                <a:cs typeface="Times New Roman" panose="02020603050405020304" pitchFamily="18" charset="0"/>
              </a:rPr>
              <a:t>The modifiers are used on classes and class members (data and methods), except that the </a:t>
            </a:r>
            <a:r>
              <a:rPr lang="en-US" altLang="en-US" sz="3600" b="1" u="sng" dirty="0">
                <a:solidFill>
                  <a:srgbClr val="C00000"/>
                </a:solidFill>
                <a:latin typeface="Times New Roman" panose="02020603050405020304" pitchFamily="18" charset="0"/>
                <a:cs typeface="Times New Roman" panose="02020603050405020304" pitchFamily="18" charset="0"/>
              </a:rPr>
              <a:t>final</a:t>
            </a:r>
            <a:r>
              <a:rPr lang="en-US" altLang="en-US" sz="3600" dirty="0">
                <a:latin typeface="Times New Roman" panose="02020603050405020304" pitchFamily="18" charset="0"/>
                <a:cs typeface="Times New Roman" panose="02020603050405020304" pitchFamily="18" charset="0"/>
              </a:rPr>
              <a:t> modifier can also be used on </a:t>
            </a:r>
            <a:r>
              <a:rPr lang="en-US" altLang="en-US" sz="3600" u="sng" dirty="0">
                <a:latin typeface="Times New Roman" panose="02020603050405020304" pitchFamily="18" charset="0"/>
                <a:cs typeface="Times New Roman" panose="02020603050405020304" pitchFamily="18" charset="0"/>
              </a:rPr>
              <a:t>local variables in a method</a:t>
            </a:r>
            <a:r>
              <a:rPr lang="en-US" altLang="en-US" sz="3600" dirty="0">
                <a:latin typeface="Times New Roman" panose="02020603050405020304" pitchFamily="18" charset="0"/>
                <a:cs typeface="Times New Roman" panose="02020603050405020304" pitchFamily="18" charset="0"/>
              </a:rPr>
              <a:t>. A final local variable is a constant inside a method.</a:t>
            </a:r>
            <a:endParaRPr lang="en-US" altLang="en-US" sz="36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Slide Number Placeholder 4"/>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en-US" sz="1400" dirty="0">
                <a:ea typeface="宋体" panose="02010600030101010101" pitchFamily="2" charset="-122"/>
              </a:rPr>
            </a:fld>
            <a:endParaRPr lang="en-US" altLang="en-US" sz="1400" dirty="0">
              <a:ea typeface="宋体" panose="02010600030101010101" pitchFamily="2" charset="-122"/>
            </a:endParaRPr>
          </a:p>
        </p:txBody>
      </p:sp>
      <p:sp>
        <p:nvSpPr>
          <p:cNvPr id="56323" name="Rectangle 2"/>
          <p:cNvSpPr>
            <a:spLocks noGrp="1"/>
          </p:cNvSpPr>
          <p:nvPr>
            <p:ph type="title"/>
          </p:nvPr>
        </p:nvSpPr>
        <p:spPr>
          <a:xfrm>
            <a:off x="2209800" y="0"/>
            <a:ext cx="7772400" cy="1428750"/>
          </a:xfrm>
          <a:ln/>
        </p:spPr>
        <p:txBody>
          <a:bodyPr vert="horz" wrap="square" lIns="92075" tIns="46038" rIns="92075" bIns="46038" anchor="ctr" anchorCtr="0"/>
          <a:p>
            <a:r>
              <a:rPr lang="en-US" altLang="en-US" dirty="0"/>
              <a:t>The </a:t>
            </a:r>
            <a:r>
              <a:rPr lang="en-US" altLang="en-US" sz="4200" dirty="0">
                <a:latin typeface="Courier New" panose="02070309020205020404" pitchFamily="49" charset="0"/>
              </a:rPr>
              <a:t>final</a:t>
            </a:r>
            <a:r>
              <a:rPr lang="en-US" altLang="en-US" dirty="0"/>
              <a:t> Modifier</a:t>
            </a:r>
            <a:endParaRPr lang="en-US" altLang="en-US" dirty="0"/>
          </a:p>
        </p:txBody>
      </p:sp>
      <p:sp>
        <p:nvSpPr>
          <p:cNvPr id="56324" name="Rectangle 3"/>
          <p:cNvSpPr>
            <a:spLocks noGrp="1"/>
          </p:cNvSpPr>
          <p:nvPr>
            <p:ph idx="1"/>
          </p:nvPr>
        </p:nvSpPr>
        <p:spPr>
          <a:xfrm>
            <a:off x="2209800" y="1371600"/>
            <a:ext cx="7772400" cy="4133850"/>
          </a:xfrm>
          <a:ln/>
        </p:spPr>
        <p:txBody>
          <a:bodyPr vert="horz" wrap="square" lIns="92075" tIns="46038" rIns="92075" bIns="46038" anchor="t" anchorCtr="0"/>
          <a:p>
            <a:pPr>
              <a:lnSpc>
                <a:spcPct val="90000"/>
              </a:lnSpc>
            </a:pPr>
            <a:r>
              <a:rPr lang="en-US" altLang="en-US" sz="2600" dirty="0"/>
              <a:t>The </a:t>
            </a:r>
            <a:r>
              <a:rPr lang="en-US" altLang="en-US" sz="2600" dirty="0">
                <a:latin typeface="Courier New" panose="02070309020205020404" pitchFamily="49" charset="0"/>
              </a:rPr>
              <a:t>final</a:t>
            </a:r>
            <a:r>
              <a:rPr lang="en-US" altLang="en-US" sz="2800" dirty="0"/>
              <a:t> class cannot be extended:</a:t>
            </a:r>
            <a:endParaRPr lang="en-US" altLang="en-US" sz="2800" dirty="0"/>
          </a:p>
          <a:p>
            <a:pPr>
              <a:lnSpc>
                <a:spcPct val="90000"/>
              </a:lnSpc>
              <a:buNone/>
            </a:pPr>
            <a:r>
              <a:rPr lang="en-US" altLang="en-US" sz="2400" dirty="0">
                <a:solidFill>
                  <a:schemeClr val="tx2"/>
                </a:solidFill>
              </a:rPr>
              <a:t>       </a:t>
            </a:r>
            <a:r>
              <a:rPr lang="en-US" altLang="en-US" sz="2200" dirty="0">
                <a:solidFill>
                  <a:schemeClr val="tx2"/>
                </a:solidFill>
                <a:latin typeface="Courier New" panose="02070309020205020404" pitchFamily="49" charset="0"/>
              </a:rPr>
              <a:t>final class Math {</a:t>
            </a:r>
            <a:endParaRPr lang="en-US" altLang="en-US" sz="2200" dirty="0">
              <a:solidFill>
                <a:schemeClr val="tx2"/>
              </a:solidFill>
              <a:latin typeface="Courier New" panose="02070309020205020404" pitchFamily="49" charset="0"/>
            </a:endParaRPr>
          </a:p>
          <a:p>
            <a:pPr>
              <a:lnSpc>
                <a:spcPct val="90000"/>
              </a:lnSpc>
              <a:buNone/>
            </a:pPr>
            <a:r>
              <a:rPr lang="en-US" altLang="en-US" sz="2200" dirty="0">
                <a:solidFill>
                  <a:schemeClr val="tx2"/>
                </a:solidFill>
                <a:latin typeface="Courier New" panose="02070309020205020404" pitchFamily="49" charset="0"/>
              </a:rPr>
              <a:t>     ...</a:t>
            </a:r>
            <a:endParaRPr lang="en-US" altLang="en-US" sz="2200" dirty="0">
              <a:solidFill>
                <a:schemeClr val="tx2"/>
              </a:solidFill>
              <a:latin typeface="Courier New" panose="02070309020205020404" pitchFamily="49" charset="0"/>
            </a:endParaRPr>
          </a:p>
          <a:p>
            <a:pPr>
              <a:lnSpc>
                <a:spcPct val="90000"/>
              </a:lnSpc>
              <a:buNone/>
            </a:pPr>
            <a:r>
              <a:rPr lang="en-US" altLang="en-US" sz="2200" dirty="0">
                <a:solidFill>
                  <a:schemeClr val="tx2"/>
                </a:solidFill>
                <a:latin typeface="Courier New" panose="02070309020205020404" pitchFamily="49" charset="0"/>
              </a:rPr>
              <a:t>   }</a:t>
            </a:r>
            <a:endParaRPr lang="en-US" altLang="en-US" sz="2800" dirty="0">
              <a:solidFill>
                <a:schemeClr val="tx2"/>
              </a:solidFill>
            </a:endParaRPr>
          </a:p>
          <a:p>
            <a:pPr>
              <a:lnSpc>
                <a:spcPct val="90000"/>
              </a:lnSpc>
              <a:spcBef>
                <a:spcPct val="100000"/>
              </a:spcBef>
            </a:pPr>
            <a:r>
              <a:rPr lang="en-US" altLang="en-US" sz="2600" dirty="0"/>
              <a:t>The </a:t>
            </a:r>
            <a:r>
              <a:rPr lang="en-US" altLang="en-US" sz="2600" dirty="0">
                <a:latin typeface="Courier New" panose="02070309020205020404" pitchFamily="49" charset="0"/>
              </a:rPr>
              <a:t>final</a:t>
            </a:r>
            <a:r>
              <a:rPr lang="en-US" altLang="en-US" sz="2800" dirty="0"/>
              <a:t> variable is a constant:</a:t>
            </a:r>
            <a:endParaRPr lang="en-US" altLang="en-US" sz="2800" dirty="0"/>
          </a:p>
          <a:p>
            <a:pPr>
              <a:lnSpc>
                <a:spcPct val="90000"/>
              </a:lnSpc>
              <a:buNone/>
            </a:pPr>
            <a:r>
              <a:rPr lang="en-US" altLang="en-US" sz="2400" dirty="0"/>
              <a:t>       </a:t>
            </a:r>
            <a:r>
              <a:rPr lang="en-US" altLang="en-US" sz="2200" dirty="0">
                <a:solidFill>
                  <a:schemeClr val="tx2"/>
                </a:solidFill>
                <a:latin typeface="Courier New" panose="02070309020205020404" pitchFamily="49" charset="0"/>
              </a:rPr>
              <a:t>final static double PI = 3.14159;</a:t>
            </a:r>
            <a:endParaRPr lang="en-US" altLang="en-US" sz="2800" dirty="0">
              <a:solidFill>
                <a:schemeClr val="tx2"/>
              </a:solidFill>
            </a:endParaRPr>
          </a:p>
          <a:p>
            <a:pPr>
              <a:lnSpc>
                <a:spcPct val="90000"/>
              </a:lnSpc>
              <a:spcBef>
                <a:spcPct val="100000"/>
              </a:spcBef>
            </a:pPr>
            <a:r>
              <a:rPr lang="en-US" altLang="en-US" sz="2600" dirty="0"/>
              <a:t>The </a:t>
            </a:r>
            <a:r>
              <a:rPr lang="en-US" altLang="en-US" sz="2600" dirty="0">
                <a:latin typeface="Courier New" panose="02070309020205020404" pitchFamily="49" charset="0"/>
              </a:rPr>
              <a:t>final</a:t>
            </a:r>
            <a:r>
              <a:rPr lang="en-US" altLang="en-US" sz="2800" dirty="0"/>
              <a:t> method cannot be</a:t>
            </a:r>
            <a:br>
              <a:rPr lang="en-US" altLang="en-US" sz="2800" dirty="0"/>
            </a:br>
            <a:r>
              <a:rPr lang="en-US" altLang="en-US" sz="2800" dirty="0"/>
              <a:t>overridden by its subclasses.</a:t>
            </a:r>
            <a:endParaRPr lang="en-US" altLang="en-US"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itle 1"/>
          <p:cNvSpPr>
            <a:spLocks noGrp="1"/>
          </p:cNvSpPr>
          <p:nvPr>
            <p:ph type="title"/>
          </p:nvPr>
        </p:nvSpPr>
        <p:spPr>
          <a:ln/>
        </p:spPr>
        <p:txBody>
          <a:bodyPr vert="horz" wrap="square" lIns="92075" tIns="46038" rIns="92075" bIns="46038" anchor="ctr" anchorCtr="0"/>
          <a:p>
            <a:r>
              <a:rPr lang="en-US" altLang="zh-CN" dirty="0">
                <a:ea typeface="宋体" panose="02010600030101010101" pitchFamily="2" charset="-122"/>
              </a:rPr>
              <a:t>Summay</a:t>
            </a:r>
            <a:endParaRPr lang="zh-CN" altLang="en-US" dirty="0">
              <a:ea typeface="宋体" panose="02010600030101010101" pitchFamily="2" charset="-122"/>
            </a:endParaRPr>
          </a:p>
        </p:txBody>
      </p:sp>
      <p:sp>
        <p:nvSpPr>
          <p:cNvPr id="57347" name="Content Placeholder 2"/>
          <p:cNvSpPr>
            <a:spLocks noGrp="1"/>
          </p:cNvSpPr>
          <p:nvPr>
            <p:ph idx="1"/>
          </p:nvPr>
        </p:nvSpPr>
        <p:spPr>
          <a:ln/>
        </p:spPr>
        <p:txBody>
          <a:bodyPr vert="horz" wrap="square" lIns="92075" tIns="46038" rIns="92075" bIns="46038" anchor="t" anchorCtr="0"/>
          <a:p>
            <a:r>
              <a:rPr lang="en-US" altLang="en-US" dirty="0"/>
              <a:t>Superclasses and Subclasses</a:t>
            </a:r>
            <a:endParaRPr lang="en-US" altLang="en-US" dirty="0"/>
          </a:p>
          <a:p>
            <a:r>
              <a:rPr lang="en-US" altLang="en-US" dirty="0"/>
              <a:t>The </a:t>
            </a:r>
            <a:r>
              <a:rPr lang="en-US" altLang="en-US" u="sng" dirty="0"/>
              <a:t>Object</a:t>
            </a:r>
            <a:r>
              <a:rPr lang="en-US" altLang="en-US" dirty="0"/>
              <a:t> Class and Its Methods</a:t>
            </a:r>
            <a:endParaRPr lang="en-US" altLang="en-US" dirty="0"/>
          </a:p>
          <a:p>
            <a:r>
              <a:rPr lang="en-US" altLang="en-US" dirty="0"/>
              <a:t>Polymorphism, Dynamic Binding and Generic Programming</a:t>
            </a:r>
            <a:endParaRPr lang="en-US" altLang="en-US" dirty="0"/>
          </a:p>
          <a:p>
            <a:r>
              <a:rPr lang="en-US" altLang="en-US" dirty="0"/>
              <a:t>The </a:t>
            </a:r>
            <a:r>
              <a:rPr lang="en-US" altLang="en-US" u="sng" dirty="0"/>
              <a:t>ArrayList</a:t>
            </a:r>
            <a:r>
              <a:rPr lang="en-US" altLang="en-US" dirty="0"/>
              <a:t> Class</a:t>
            </a:r>
            <a:endParaRPr lang="en-US" altLang="en-US" dirty="0"/>
          </a:p>
          <a:p>
            <a:r>
              <a:rPr lang="en-US" altLang="en-US" dirty="0"/>
              <a:t>The </a:t>
            </a:r>
            <a:r>
              <a:rPr lang="en-US" altLang="en-US" dirty="0">
                <a:latin typeface="Courier New" panose="02070309020205020404" pitchFamily="49" charset="0"/>
              </a:rPr>
              <a:t>protected</a:t>
            </a:r>
            <a:r>
              <a:rPr lang="en-US" altLang="en-US" dirty="0"/>
              <a:t> / </a:t>
            </a:r>
            <a:r>
              <a:rPr lang="en-US" altLang="en-US" dirty="0">
                <a:latin typeface="Courier New" panose="02070309020205020404" pitchFamily="49" charset="0"/>
              </a:rPr>
              <a:t>final</a:t>
            </a:r>
            <a:r>
              <a:rPr lang="en-US" altLang="en-US" dirty="0"/>
              <a:t> Modifier</a:t>
            </a:r>
            <a:endParaRPr lang="en-US" altLang="en-US" dirty="0"/>
          </a:p>
          <a:p>
            <a:endParaRPr lang="en-US" altLang="en-US" dirty="0"/>
          </a:p>
          <a:p>
            <a:endParaRPr lang="zh-CN" altLang="en-US" dirty="0">
              <a:ea typeface="宋体" panose="02010600030101010101" pitchFamily="2" charset="-122"/>
            </a:endParaRPr>
          </a:p>
        </p:txBody>
      </p:sp>
      <p:sp>
        <p:nvSpPr>
          <p:cNvPr id="57348" name="Slide Number Placeholder 3"/>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Title 1"/>
          <p:cNvSpPr>
            <a:spLocks noGrp="1"/>
          </p:cNvSpPr>
          <p:nvPr>
            <p:ph type="title"/>
          </p:nvPr>
        </p:nvSpPr>
        <p:spPr>
          <a:xfrm>
            <a:off x="2133600" y="304800"/>
            <a:ext cx="7772400" cy="1143000"/>
          </a:xfrm>
          <a:ln/>
        </p:spPr>
        <p:txBody>
          <a:bodyPr vert="horz" wrap="square" lIns="92075" tIns="46038" rIns="92075" bIns="46038" anchor="ctr" anchorCtr="0"/>
          <a:p>
            <a:r>
              <a:rPr lang="en-US" altLang="zh-CN" dirty="0">
                <a:ea typeface="宋体" panose="02010600030101010101" pitchFamily="2" charset="-122"/>
              </a:rPr>
              <a:t>Ex.</a:t>
            </a:r>
            <a:endParaRPr lang="zh-CN" altLang="en-US" dirty="0">
              <a:ea typeface="宋体" panose="02010600030101010101" pitchFamily="2" charset="-122"/>
            </a:endParaRPr>
          </a:p>
        </p:txBody>
      </p:sp>
      <p:sp>
        <p:nvSpPr>
          <p:cNvPr id="58371" name="Content Placeholder 2"/>
          <p:cNvSpPr>
            <a:spLocks noGrp="1"/>
          </p:cNvSpPr>
          <p:nvPr>
            <p:ph idx="1"/>
          </p:nvPr>
        </p:nvSpPr>
        <p:spPr>
          <a:xfrm>
            <a:off x="2133600" y="1600200"/>
            <a:ext cx="7772400" cy="4114800"/>
          </a:xfrm>
          <a:ln/>
        </p:spPr>
        <p:txBody>
          <a:bodyPr vert="horz" wrap="square" lIns="92075" tIns="46038" rIns="92075" bIns="46038" anchor="t" anchorCtr="0"/>
          <a:p>
            <a:r>
              <a:rPr lang="en-US" altLang="zh-CN" dirty="0">
                <a:ea typeface="宋体" panose="02010600030101010101" pitchFamily="2" charset="-122"/>
              </a:rPr>
              <a:t>P380  11.2   11.8</a:t>
            </a:r>
            <a:endParaRPr lang="en-US" altLang="zh-CN" dirty="0">
              <a:ea typeface="宋体" panose="02010600030101010101" pitchFamily="2" charset="-122"/>
            </a:endParaRPr>
          </a:p>
          <a:p>
            <a:pPr>
              <a:buNone/>
            </a:pPr>
            <a:endParaRPr lang="zh-CN" altLang="en-US" dirty="0">
              <a:ea typeface="宋体" panose="02010600030101010101" pitchFamily="2" charset="-122"/>
            </a:endParaRPr>
          </a:p>
        </p:txBody>
      </p:sp>
      <p:sp>
        <p:nvSpPr>
          <p:cNvPr id="58372" name="Slide Number Placeholder 3"/>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itle 1"/>
          <p:cNvSpPr>
            <a:spLocks noGrp="1"/>
          </p:cNvSpPr>
          <p:nvPr>
            <p:ph type="title"/>
          </p:nvPr>
        </p:nvSpPr>
        <p:spPr>
          <a:ln/>
        </p:spPr>
        <p:txBody>
          <a:bodyPr vert="horz" wrap="square" lIns="92075" tIns="46038" rIns="92075" bIns="46038" anchor="ctr" anchorCtr="0"/>
          <a:p>
            <a:pPr algn="l"/>
            <a:r>
              <a:rPr lang="en-US" altLang="zh-CN" sz="4000" dirty="0">
                <a:ea typeface="宋体" panose="02010600030101010101" pitchFamily="2" charset="-122"/>
              </a:rPr>
              <a:t>Ex. 11.2</a:t>
            </a:r>
            <a:endParaRPr lang="zh-CN" altLang="en-US" sz="4000" dirty="0">
              <a:ea typeface="宋体" panose="02010600030101010101" pitchFamily="2" charset="-122"/>
            </a:endParaRPr>
          </a:p>
        </p:txBody>
      </p:sp>
      <p:sp>
        <p:nvSpPr>
          <p:cNvPr id="59395" name="Slide Number Placeholder 3"/>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pic>
        <p:nvPicPr>
          <p:cNvPr id="59396" name="Picture 3"/>
          <p:cNvPicPr>
            <a:picLocks noChangeAspect="1"/>
          </p:cNvPicPr>
          <p:nvPr/>
        </p:nvPicPr>
        <p:blipFill>
          <a:blip r:embed="rId1"/>
          <a:stretch>
            <a:fillRect/>
          </a:stretch>
        </p:blipFill>
        <p:spPr>
          <a:xfrm>
            <a:off x="4038600" y="152400"/>
            <a:ext cx="5486400" cy="6319838"/>
          </a:xfrm>
          <a:prstGeom prst="rect">
            <a:avLst/>
          </a:prstGeom>
          <a:noFill/>
          <a:ln w="12700">
            <a:noFill/>
          </a:ln>
        </p:spPr>
      </p:pic>
      <p:pic>
        <p:nvPicPr>
          <p:cNvPr id="59397" name="Picture 5"/>
          <p:cNvPicPr>
            <a:picLocks noChangeAspect="1"/>
          </p:cNvPicPr>
          <p:nvPr/>
        </p:nvPicPr>
        <p:blipFill>
          <a:blip r:embed="rId2"/>
          <a:stretch>
            <a:fillRect/>
          </a:stretch>
        </p:blipFill>
        <p:spPr>
          <a:xfrm>
            <a:off x="1828800" y="5029200"/>
            <a:ext cx="2317750" cy="1143000"/>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fade">
                                      <p:cBhvr>
                                        <p:cTn id="7" dur="2000"/>
                                        <p:tgtEl>
                                          <p:spTgt spid="59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Title 1"/>
          <p:cNvSpPr>
            <a:spLocks noGrp="1"/>
          </p:cNvSpPr>
          <p:nvPr>
            <p:ph type="title"/>
          </p:nvPr>
        </p:nvSpPr>
        <p:spPr>
          <a:ln/>
        </p:spPr>
        <p:txBody>
          <a:bodyPr vert="horz" wrap="square" lIns="92075" tIns="46038" rIns="92075" bIns="46038" anchor="ctr" anchorCtr="0"/>
          <a:p>
            <a:pPr algn="l"/>
            <a:r>
              <a:rPr lang="en-US" altLang="zh-CN" dirty="0">
                <a:ea typeface="宋体" panose="02010600030101010101" pitchFamily="2" charset="-122"/>
              </a:rPr>
              <a:t>Ex. 11.8– (9.7)</a:t>
            </a:r>
            <a:endParaRPr lang="zh-CN" altLang="en-US" dirty="0">
              <a:ea typeface="宋体" panose="02010600030101010101" pitchFamily="2" charset="-122"/>
            </a:endParaRPr>
          </a:p>
        </p:txBody>
      </p:sp>
      <p:sp>
        <p:nvSpPr>
          <p:cNvPr id="60419" name="Slide Number Placeholder 3"/>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pic>
        <p:nvPicPr>
          <p:cNvPr id="60420" name="Picture 3"/>
          <p:cNvPicPr>
            <a:picLocks noChangeAspect="1"/>
          </p:cNvPicPr>
          <p:nvPr/>
        </p:nvPicPr>
        <p:blipFill>
          <a:blip r:embed="rId1"/>
          <a:stretch>
            <a:fillRect/>
          </a:stretch>
        </p:blipFill>
        <p:spPr>
          <a:xfrm>
            <a:off x="1371600" y="990600"/>
            <a:ext cx="9450388" cy="4876800"/>
          </a:xfrm>
          <a:prstGeom prst="rect">
            <a:avLst/>
          </a:prstGeom>
          <a:noFill/>
          <a:ln w="12700">
            <a:noFill/>
          </a:ln>
        </p:spPr>
      </p:pic>
      <p:pic>
        <p:nvPicPr>
          <p:cNvPr id="5" name="Picture 2"/>
          <p:cNvPicPr>
            <a:picLocks noChangeAspect="1"/>
          </p:cNvPicPr>
          <p:nvPr/>
        </p:nvPicPr>
        <p:blipFill>
          <a:blip r:embed="rId2"/>
          <a:stretch>
            <a:fillRect/>
          </a:stretch>
        </p:blipFill>
        <p:spPr>
          <a:xfrm>
            <a:off x="5614988" y="4800600"/>
            <a:ext cx="5053012" cy="1524000"/>
          </a:xfrm>
          <a:prstGeom prst="rect">
            <a:avLst/>
          </a:prstGeom>
          <a:noFill/>
          <a:ln w="12700">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itle 1"/>
          <p:cNvSpPr>
            <a:spLocks noGrp="1"/>
          </p:cNvSpPr>
          <p:nvPr>
            <p:ph type="title"/>
          </p:nvPr>
        </p:nvSpPr>
        <p:spPr>
          <a:ln/>
        </p:spPr>
        <p:txBody>
          <a:bodyPr vert="horz" wrap="square" lIns="92075" tIns="46038" rIns="92075" bIns="46038" anchor="ctr" anchorCtr="0"/>
          <a:p>
            <a:pPr>
              <a:buNone/>
            </a:pPr>
            <a:endParaRPr lang="zh-CN" altLang="en-US" dirty="0"/>
          </a:p>
        </p:txBody>
      </p:sp>
      <p:sp>
        <p:nvSpPr>
          <p:cNvPr id="61443" name="Slide Number Placeholder 3"/>
          <p:cNvSpPr txBox="1">
            <a:spLocks noGrp="1"/>
          </p:cNvSpPr>
          <p:nvPr>
            <p:ph type="sldNum" sz="quarter" idx="11"/>
          </p:nvPr>
        </p:nvSpPr>
        <p:spPr>
          <a:ln/>
        </p:spPr>
        <p:txBody>
          <a:bodyPr wrap="none" lIns="92075" tIns="46038" rIns="92075" bIns="46038" anchor="ctr" anchorCtr="0"/>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mn-ea"/>
                <a:cs typeface="+mn-cs"/>
              </a:defRPr>
            </a:lvl5pPr>
          </a:lstStyle>
          <a:p>
            <a:pPr lvl="0" algn="r">
              <a:buNone/>
            </a:pPr>
            <a:fld id="{9A0DB2DC-4C9A-4742-B13C-FB6460FD3503}" type="slidenum">
              <a:rPr lang="en-US" altLang="zh-CN" sz="1400" dirty="0">
                <a:ea typeface="宋体" panose="02010600030101010101" pitchFamily="2" charset="-122"/>
              </a:rPr>
            </a:fld>
            <a:endParaRPr lang="en-US" altLang="zh-CN" sz="1400" dirty="0">
              <a:ea typeface="宋体" panose="02010600030101010101" pitchFamily="2" charset="-122"/>
            </a:endParaRPr>
          </a:p>
        </p:txBody>
      </p:sp>
    </p:spTree>
  </p:cSld>
  <p:clrMapOvr>
    <a:masterClrMapping/>
  </p:clrMapOvr>
</p:sld>
</file>

<file path=ppt/tags/tag1.xml><?xml version="1.0" encoding="utf-8"?>
<p:tagLst xmlns:p="http://schemas.openxmlformats.org/presentationml/2006/main">
  <p:tag name="commondata" val="eyJoZGlkIjoiY2FhNmQyYjNkMDFiY2FmMDczNTk4YjM0MWQxMmRiY2IifQ=="/>
</p:tagLst>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0</TotalTime>
  <Words>20743</Words>
  <Application>WPS 演示</Application>
  <PresentationFormat>On-screen Show (4:3)</PresentationFormat>
  <Paragraphs>834</Paragraphs>
  <Slides>58</Slides>
  <Notes>1</Notes>
  <HiddenSlides>7</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12</vt:i4>
      </vt:variant>
      <vt:variant>
        <vt:lpstr>幻灯片标题</vt:lpstr>
      </vt:variant>
      <vt:variant>
        <vt:i4>58</vt:i4>
      </vt:variant>
    </vt:vector>
  </HeadingPairs>
  <TitlesOfParts>
    <vt:vector size="85" baseType="lpstr">
      <vt:lpstr>Arial</vt:lpstr>
      <vt:lpstr>宋体</vt:lpstr>
      <vt:lpstr>Wingdings</vt:lpstr>
      <vt:lpstr>Times New Roman</vt:lpstr>
      <vt:lpstr>Monotype Sorts</vt:lpstr>
      <vt:lpstr>Wingdings</vt:lpstr>
      <vt:lpstr>Book Antiqua</vt:lpstr>
      <vt:lpstr>Courier New</vt:lpstr>
      <vt:lpstr>Forte</vt:lpstr>
      <vt:lpstr>Courier</vt:lpstr>
      <vt:lpstr>Times</vt:lpstr>
      <vt:lpstr>微软雅黑</vt:lpstr>
      <vt:lpstr>Arial Unicode MS</vt:lpstr>
      <vt:lpstr>Calibri</vt:lpstr>
      <vt:lpstr>International</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Objects and Classes</dc:title>
  <dc:creator>Y. Daniel Liang</dc:creator>
  <cp:lastModifiedBy>王亮明</cp:lastModifiedBy>
  <cp:revision>293</cp:revision>
  <dcterms:created xsi:type="dcterms:W3CDTF">1995-06-10T17:31:50Z</dcterms:created>
  <dcterms:modified xsi:type="dcterms:W3CDTF">2023-09-27T10:37:23Z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7D92E95FAA2E4A38AB341D168F2CA27B_12</vt:lpwstr>
  </property>
  <property fmtid="{D5CDD505-2E9C-101B-9397-08002B2CF9AE}" pid="3" name="KSOProductBuildVer">
    <vt:lpwstr>2052-12.1.0.15374</vt:lpwstr>
  </property>
</Properties>
</file>